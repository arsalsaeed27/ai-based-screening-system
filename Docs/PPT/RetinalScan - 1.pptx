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67" r:id="rId5"/>
    <p:sldId id="259" r:id="rId6"/>
    <p:sldId id="268" r:id="rId7"/>
    <p:sldId id="265" r:id="rId8"/>
    <p:sldId id="269" r:id="rId9"/>
    <p:sldId id="266" r:id="rId10"/>
    <p:sldId id="263" r:id="rId11"/>
    <p:sldId id="260" r:id="rId12"/>
    <p:sldId id="261" r:id="rId13"/>
    <p:sldId id="262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A34A"/>
    <a:srgbClr val="028090"/>
    <a:srgbClr val="025A66"/>
    <a:srgbClr val="0B1F3A"/>
    <a:srgbClr val="C0E8DF"/>
    <a:srgbClr val="03AEC5"/>
    <a:srgbClr val="98C6E9"/>
    <a:srgbClr val="AEE2FF"/>
    <a:srgbClr val="AED1FF"/>
    <a:srgbClr val="B1C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528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532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1ED37-2797-7F06-4DCA-3E717F0C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F9339-EC83-1B0C-33B6-0EAE00E16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82793-AE3C-D2AA-C15E-2071B0107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22DC6-79DA-6454-D49D-8B8721C1E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07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FB14-2615-8F8A-705D-9A3C9428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62DAC-01D0-BA67-1545-8CA5E9333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753E5-78B7-05E5-C68E-FBE2EE463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55287-CC15-C217-3591-DB762F2C5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51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10000"/>
                <a:lumOff val="90000"/>
              </a:schemeClr>
            </a:gs>
            <a:gs pos="96000">
              <a:srgbClr val="025A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RetinalScan AI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Retinal Disease Screening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 · Hypertensive Retinopathy · Glaucoma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3008189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3008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of 5 Complete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Arsal Saeed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Mashal Areej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0" y="1280160"/>
            <a:ext cx="3017520" cy="3017520"/>
          </a:xfrm>
          <a:prstGeom prst="ellipse">
            <a:avLst/>
          </a:prstGeom>
          <a:solidFill>
            <a:srgbClr val="132D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9235440" y="1828800"/>
            <a:ext cx="1920240" cy="19202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9646920" y="224028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9829800" y="24231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" y="503652"/>
            <a:ext cx="474025" cy="47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25880" y="8046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chosen for maximum result at minimum cost — total recurring cost: $0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325880" y="1325880"/>
            <a:ext cx="9419844" cy="658368"/>
          </a:xfrm>
          <a:prstGeom prst="roundRect">
            <a:avLst>
              <a:gd name="adj" fmla="val 7778"/>
            </a:avLst>
          </a:prstGeom>
          <a:solidFill>
            <a:srgbClr val="F0F7FF"/>
          </a:solidFill>
          <a:ln/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453896" y="1408176"/>
            <a:ext cx="584680" cy="52669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273" y="1474101"/>
            <a:ext cx="361926" cy="3619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0" y="14173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937760" y="14173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NumPy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413862" y="1417320"/>
            <a:ext cx="373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border crop · CLAHE contrast · resize 224×224 · normalization · augmentation on train set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325880" y="2240280"/>
            <a:ext cx="9419844" cy="658368"/>
          </a:xfrm>
          <a:prstGeom prst="roundRect">
            <a:avLst>
              <a:gd name="adj" fmla="val 7778"/>
            </a:avLst>
          </a:prstGeom>
          <a:solidFill>
            <a:srgbClr val="EFF9F7"/>
          </a:solidFill>
          <a:ln/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9"/>
          <p:cNvSpPr/>
          <p:nvPr/>
        </p:nvSpPr>
        <p:spPr>
          <a:xfrm>
            <a:off x="1453896" y="2322576"/>
            <a:ext cx="584680" cy="52669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751" y="2358979"/>
            <a:ext cx="420970" cy="42097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86000" y="23317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937760" y="23317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(from scratch)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384937" y="2322576"/>
            <a:ext cx="32842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5-block CNN for diabetic retinopathy · Custom U-Net for glaucoma segmentation · zero pretrained weights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325880" y="3154680"/>
            <a:ext cx="9419844" cy="658368"/>
          </a:xfrm>
          <a:prstGeom prst="roundRect">
            <a:avLst>
              <a:gd name="adj" fmla="val 7778"/>
            </a:avLst>
          </a:prstGeom>
          <a:solidFill>
            <a:srgbClr val="F0F7FF"/>
          </a:solidFill>
          <a:ln/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4"/>
          <p:cNvSpPr/>
          <p:nvPr/>
        </p:nvSpPr>
        <p:spPr>
          <a:xfrm>
            <a:off x="1453896" y="3236976"/>
            <a:ext cx="584680" cy="52669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0083" y="3298636"/>
            <a:ext cx="420970" cy="42097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86000" y="32461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export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937760" y="32461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opset 18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11474" y="3246120"/>
            <a:ext cx="373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self-contained portable file · runs anywhere 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325880" y="4069080"/>
            <a:ext cx="9419844" cy="658368"/>
          </a:xfrm>
          <a:prstGeom prst="roundRect">
            <a:avLst>
              <a:gd name="adj" fmla="val 7778"/>
            </a:avLst>
          </a:prstGeom>
          <a:solidFill>
            <a:srgbClr val="EFF9F7"/>
          </a:solidFill>
          <a:ln/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19"/>
          <p:cNvSpPr/>
          <p:nvPr/>
        </p:nvSpPr>
        <p:spPr>
          <a:xfrm>
            <a:off x="1453896" y="4151376"/>
            <a:ext cx="584680" cy="52669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5273" y="4243549"/>
            <a:ext cx="365027" cy="3650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0" y="41605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937760" y="41605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onnxruntime-node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384937" y="4142232"/>
            <a:ext cx="336078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inference · no GPU at clinic · Multer for uploads · Sharp for server-side image preprocessing · Local clinics can use easily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1325880" y="4983480"/>
            <a:ext cx="9419844" cy="658368"/>
          </a:xfrm>
          <a:prstGeom prst="roundRect">
            <a:avLst>
              <a:gd name="adj" fmla="val 7778"/>
            </a:avLst>
          </a:prstGeom>
          <a:solidFill>
            <a:srgbClr val="F0F7FF"/>
          </a:solidFill>
          <a:ln/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4"/>
          <p:cNvSpPr/>
          <p:nvPr/>
        </p:nvSpPr>
        <p:spPr>
          <a:xfrm>
            <a:off x="1453896" y="5065776"/>
            <a:ext cx="584680" cy="52669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5751" y="5118638"/>
            <a:ext cx="420970" cy="42097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286000" y="50749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4937760" y="50749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 · CSS · JavaScript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7413862" y="5065776"/>
            <a:ext cx="31562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UI · jsPDF for structured A4 report · works in any browser · no framework, no install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1325880" y="5897880"/>
            <a:ext cx="9419844" cy="658368"/>
          </a:xfrm>
          <a:prstGeom prst="roundRect">
            <a:avLst>
              <a:gd name="adj" fmla="val 7778"/>
            </a:avLst>
          </a:prstGeom>
          <a:solidFill>
            <a:srgbClr val="EFF9F7"/>
          </a:solidFill>
          <a:ln/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29"/>
          <p:cNvSpPr/>
          <p:nvPr/>
        </p:nvSpPr>
        <p:spPr>
          <a:xfrm>
            <a:off x="1453896" y="5980176"/>
            <a:ext cx="584680" cy="52669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6069" y="6017625"/>
            <a:ext cx="420970" cy="42097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2286000" y="59893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compute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4937760" y="5989320"/>
            <a:ext cx="22737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ColabT4 GPU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7430135" y="5989320"/>
            <a:ext cx="373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every 5 epochs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28"/>
          <p:cNvSpPr/>
          <p:nvPr/>
        </p:nvSpPr>
        <p:spPr>
          <a:xfrm>
            <a:off x="8048752" y="3714781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F0F7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" y="503652"/>
            <a:ext cx="474025" cy="47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built so far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25880" y="870997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below is written, tested, and working end to end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1-3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2112" y="1922557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EFF9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7" name="Shape 4"/>
          <p:cNvSpPr/>
          <p:nvPr/>
        </p:nvSpPr>
        <p:spPr>
          <a:xfrm>
            <a:off x="806704" y="2087149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56" y="2187001"/>
            <a:ext cx="513527" cy="5135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7952" y="2059717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647952" y="2398045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06704" y="2763805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94,000 fundus images merged from APTOS,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EyePACS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REFUGE· OpenCV preprocessing · CLAHE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45432" y="1922557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EFF9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9"/>
          <p:cNvSpPr/>
          <p:nvPr/>
        </p:nvSpPr>
        <p:spPr>
          <a:xfrm>
            <a:off x="4510024" y="2087149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876" y="2187001"/>
            <a:ext cx="513527" cy="5135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51272" y="2059717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model (CNN)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351272" y="2398045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 parameters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510024" y="2763805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5-block CNN from scratch in PyTorch · No pretrained weights · 75.29% val accuracy on APTOS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48752" y="1922557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EFF9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19" name="Shape 14"/>
          <p:cNvSpPr/>
          <p:nvPr/>
        </p:nvSpPr>
        <p:spPr>
          <a:xfrm>
            <a:off x="8213344" y="3872546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3196" y="3972398"/>
            <a:ext cx="513527" cy="51352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54592" y="384511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054592" y="4183442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opset</a:t>
            </a: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18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8213344" y="4549202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self-contained file · no external data · confirmed loads in Node.js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2112" y="3714781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F0F7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19"/>
          <p:cNvSpPr/>
          <p:nvPr/>
        </p:nvSpPr>
        <p:spPr>
          <a:xfrm>
            <a:off x="806704" y="3879373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556" y="3979225"/>
            <a:ext cx="513527" cy="513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7952" y="3851941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backend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47952" y="4190269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onnxruntime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806704" y="4556029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image uploads · preprocesses with Sharp · runs ONNX inference · returns JSON prediction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345432" y="3714781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F0F7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4"/>
          <p:cNvSpPr/>
          <p:nvPr/>
        </p:nvSpPr>
        <p:spPr>
          <a:xfrm>
            <a:off x="4510024" y="3879373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9876" y="3979225"/>
            <a:ext cx="513527" cy="51352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51272" y="3851941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UI &amp; PDF report export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351272" y="4190269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HTML/CSS/JS + </a:t>
            </a:r>
            <a:r>
              <a:rPr lang="en-US" sz="105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10024" y="4667856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form · drag-and-drop upload · diagnosis hero · risk meter · probability table · Structured A4 report</a:t>
            </a:r>
            <a:endParaRPr lang="en-US" sz="1050" dirty="0"/>
          </a:p>
          <a:p>
            <a:pPr marL="0" indent="0">
              <a:buNone/>
            </a:pPr>
            <a:endParaRPr lang="en-US" sz="10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FED69D1F-90B0-BC99-189A-80D095EB0A67}"/>
              </a:ext>
            </a:extLst>
          </p:cNvPr>
          <p:cNvSpPr/>
          <p:nvPr/>
        </p:nvSpPr>
        <p:spPr>
          <a:xfrm>
            <a:off x="8268208" y="2098976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9537B62F-880A-C3FF-F5A2-C3632A0857D7}"/>
              </a:ext>
            </a:extLst>
          </p:cNvPr>
          <p:cNvSpPr/>
          <p:nvPr/>
        </p:nvSpPr>
        <p:spPr>
          <a:xfrm>
            <a:off x="9109456" y="207154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Glaucoma model (U-Net)</a:t>
            </a:r>
            <a:endParaRPr lang="en-US" sz="14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B8D719D5-FCA9-C450-DB79-877AEAFF88AD}"/>
              </a:ext>
            </a:extLst>
          </p:cNvPr>
          <p:cNvSpPr/>
          <p:nvPr/>
        </p:nvSpPr>
        <p:spPr>
          <a:xfrm>
            <a:off x="9109456" y="2409872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REFUGE</a:t>
            </a:r>
            <a:endParaRPr lang="en-US" sz="105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1ED7F3B2-E2CE-EE5C-667D-7238EA60FE6B}"/>
              </a:ext>
            </a:extLst>
          </p:cNvPr>
          <p:cNvSpPr/>
          <p:nvPr/>
        </p:nvSpPr>
        <p:spPr>
          <a:xfrm>
            <a:off x="8268208" y="2775632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trained 50 epochs · Dice Disk Acc. 93.91% · Dice Cup Acc. 83.43% · Average CDR error ~ 0.24</a:t>
            </a:r>
            <a:endParaRPr lang="en-US" sz="1050" dirty="0"/>
          </a:p>
        </p:txBody>
      </p:sp>
      <p:pic>
        <p:nvPicPr>
          <p:cNvPr id="49" name="Image 4" descr="preencoded.png">
            <a:extLst>
              <a:ext uri="{FF2B5EF4-FFF2-40B4-BE49-F238E27FC236}">
                <a16:creationId xmlns:a16="http://schemas.microsoft.com/office/drawing/2014/main" id="{F6EFB84B-58C0-E266-884D-B517CFBF0D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0318" y="2210961"/>
            <a:ext cx="501394" cy="501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DF1EE-8E29-A7E1-E43F-4C95003F0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7B3F38-E0A3-BC09-4F50-D59CBB120754}"/>
              </a:ext>
            </a:extLst>
          </p:cNvPr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A047259-5A71-260B-441F-23BD6C493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" y="503652"/>
            <a:ext cx="474025" cy="4740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1CE3E06-9CE0-0F5E-CB48-AEB1BACC4460}"/>
              </a:ext>
            </a:extLst>
          </p:cNvPr>
          <p:cNvSpPr/>
          <p:nvPr/>
        </p:nvSpPr>
        <p:spPr>
          <a:xfrm>
            <a:off x="1325880" y="4023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built so far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B694784-3F20-1858-5787-F0A9EB9DA264}"/>
              </a:ext>
            </a:extLst>
          </p:cNvPr>
          <p:cNvSpPr/>
          <p:nvPr/>
        </p:nvSpPr>
        <p:spPr>
          <a:xfrm>
            <a:off x="1325880" y="870997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below is written, tested, and working end to end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1-3</a:t>
            </a:r>
            <a:endParaRPr lang="en-US" sz="13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0A5418E-47EB-F85B-BDD1-56FEBDB2F086}"/>
              </a:ext>
            </a:extLst>
          </p:cNvPr>
          <p:cNvSpPr/>
          <p:nvPr/>
        </p:nvSpPr>
        <p:spPr>
          <a:xfrm>
            <a:off x="651443" y="2615184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EFF9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D3ACA11-7C28-1146-8C00-504B7D8FEC29}"/>
              </a:ext>
            </a:extLst>
          </p:cNvPr>
          <p:cNvSpPr/>
          <p:nvPr/>
        </p:nvSpPr>
        <p:spPr>
          <a:xfrm>
            <a:off x="806704" y="2779776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3FFF399-4DCC-AF22-BF8E-193E6FB6A672}"/>
              </a:ext>
            </a:extLst>
          </p:cNvPr>
          <p:cNvSpPr/>
          <p:nvPr/>
        </p:nvSpPr>
        <p:spPr>
          <a:xfrm>
            <a:off x="1647952" y="275234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Model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A9BED55-B730-9E52-4549-9FB58D68EC77}"/>
              </a:ext>
            </a:extLst>
          </p:cNvPr>
          <p:cNvSpPr/>
          <p:nvPr/>
        </p:nvSpPr>
        <p:spPr>
          <a:xfrm>
            <a:off x="1657283" y="3090672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RetinalCNN</a:t>
            </a:r>
            <a:endParaRPr lang="en-US" sz="10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5B9EC20-7AA1-631E-9F2B-455426D34DFB}"/>
              </a:ext>
            </a:extLst>
          </p:cNvPr>
          <p:cNvSpPr/>
          <p:nvPr/>
        </p:nvSpPr>
        <p:spPr>
          <a:xfrm>
            <a:off x="806704" y="3456432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2000 images merged from two datasets · OpenCV preprocessing · CLAHE · 5 conv blocks</a:t>
            </a:r>
            <a:endParaRPr lang="en-US" sz="105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71CD1D28-DB7D-46FD-BB4B-B3F44B8623C6}"/>
              </a:ext>
            </a:extLst>
          </p:cNvPr>
          <p:cNvSpPr/>
          <p:nvPr/>
        </p:nvSpPr>
        <p:spPr>
          <a:xfrm>
            <a:off x="4345432" y="2615184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EFF9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6312441-E224-5F0C-B599-A709B0EE3E90}"/>
              </a:ext>
            </a:extLst>
          </p:cNvPr>
          <p:cNvSpPr/>
          <p:nvPr/>
        </p:nvSpPr>
        <p:spPr>
          <a:xfrm>
            <a:off x="4510024" y="2779776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44B077FA-6AFD-23A8-9D02-A4BA82D5D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553" y="2863852"/>
            <a:ext cx="513527" cy="513527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BE4AE7DD-6D09-7339-D15E-F1612C5A025E}"/>
              </a:ext>
            </a:extLst>
          </p:cNvPr>
          <p:cNvSpPr/>
          <p:nvPr/>
        </p:nvSpPr>
        <p:spPr>
          <a:xfrm>
            <a:off x="5351272" y="275234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Gate</a:t>
            </a:r>
            <a:endParaRPr lang="en-US" sz="1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41B61C4-7330-6512-7F1D-3D3427AE216C}"/>
              </a:ext>
            </a:extLst>
          </p:cNvPr>
          <p:cNvSpPr/>
          <p:nvPr/>
        </p:nvSpPr>
        <p:spPr>
          <a:xfrm>
            <a:off x="5351272" y="3090672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6635E58-DCCC-3DD1-565B-80E8601BD8CD}"/>
              </a:ext>
            </a:extLst>
          </p:cNvPr>
          <p:cNvSpPr/>
          <p:nvPr/>
        </p:nvSpPr>
        <p:spPr>
          <a:xfrm>
            <a:off x="4510024" y="3456432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non-fundus images· Blur Detection · Circular retina detection</a:t>
            </a:r>
            <a:endParaRPr lang="en-US" sz="105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C7020C27-58F4-59BA-C51B-13A1BD2F08EB}"/>
              </a:ext>
            </a:extLst>
          </p:cNvPr>
          <p:cNvSpPr/>
          <p:nvPr/>
        </p:nvSpPr>
        <p:spPr>
          <a:xfrm>
            <a:off x="8048752" y="2615184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EFF9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4F5B8079-4040-15C4-53D0-E8FEBB720F20}"/>
              </a:ext>
            </a:extLst>
          </p:cNvPr>
          <p:cNvSpPr/>
          <p:nvPr/>
        </p:nvSpPr>
        <p:spPr>
          <a:xfrm>
            <a:off x="8268208" y="2791603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B93538DE-449D-36FA-A7A0-AA80DD5F1C7D}"/>
              </a:ext>
            </a:extLst>
          </p:cNvPr>
          <p:cNvSpPr/>
          <p:nvPr/>
        </p:nvSpPr>
        <p:spPr>
          <a:xfrm>
            <a:off x="9109456" y="2764171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1A53B272-5426-4AD8-B32F-EA7106F5DE7B}"/>
              </a:ext>
            </a:extLst>
          </p:cNvPr>
          <p:cNvSpPr/>
          <p:nvPr/>
        </p:nvSpPr>
        <p:spPr>
          <a:xfrm>
            <a:off x="9109456" y="3102499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microservice</a:t>
            </a:r>
            <a:endParaRPr lang="en-US" sz="105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9F66DB1E-E05E-0FF1-1DC7-D9C1C63A2673}"/>
              </a:ext>
            </a:extLst>
          </p:cNvPr>
          <p:cNvSpPr/>
          <p:nvPr/>
        </p:nvSpPr>
        <p:spPr>
          <a:xfrm>
            <a:off x="8268208" y="3468259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alongside Express · For DR only · Generates a heatmap of model detection</a:t>
            </a:r>
            <a:endParaRPr lang="en-US" sz="1050" dirty="0"/>
          </a:p>
        </p:txBody>
      </p:sp>
      <p:pic>
        <p:nvPicPr>
          <p:cNvPr id="49" name="Image 4" descr="preencoded.png">
            <a:extLst>
              <a:ext uri="{FF2B5EF4-FFF2-40B4-BE49-F238E27FC236}">
                <a16:creationId xmlns:a16="http://schemas.microsoft.com/office/drawing/2014/main" id="{565F3919-4B48-BAB2-906B-8C4091549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134" y="2892493"/>
            <a:ext cx="501394" cy="501394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B5D29B6F-569D-8B7C-A2C0-FF45A06ADB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2077" y="2880900"/>
            <a:ext cx="513527" cy="513527"/>
          </a:xfrm>
          <a:prstGeom prst="rect">
            <a:avLst/>
          </a:prstGeom>
        </p:spPr>
      </p:pic>
      <p:sp>
        <p:nvSpPr>
          <p:cNvPr id="38" name="Text 10">
            <a:extLst>
              <a:ext uri="{FF2B5EF4-FFF2-40B4-BE49-F238E27FC236}">
                <a16:creationId xmlns:a16="http://schemas.microsoft.com/office/drawing/2014/main" id="{6C4E8B75-E7DA-A39F-57E2-E65248A20893}"/>
              </a:ext>
            </a:extLst>
          </p:cNvPr>
          <p:cNvSpPr/>
          <p:nvPr/>
        </p:nvSpPr>
        <p:spPr>
          <a:xfrm>
            <a:off x="9109456" y="2764171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82500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4392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3" y="443927"/>
            <a:ext cx="415828" cy="4158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 and results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24561" y="1468715"/>
            <a:ext cx="5003800" cy="4670333"/>
          </a:xfrm>
          <a:prstGeom prst="roundRect">
            <a:avLst>
              <a:gd name="adj" fmla="val 1607"/>
            </a:avLst>
          </a:prstGeom>
          <a:solidFill>
            <a:srgbClr val="F0F7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7" name="Text 4"/>
          <p:cNvSpPr/>
          <p:nvPr/>
        </p:nvSpPr>
        <p:spPr>
          <a:xfrm>
            <a:off x="1031974" y="1523016"/>
            <a:ext cx="466455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Model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31974" y="1852219"/>
            <a:ext cx="4664559" cy="18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· from scratch · PyTorch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31974" y="2155832"/>
            <a:ext cx="1568988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841753" y="2152335"/>
            <a:ext cx="3010761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conv blocks · BatchNorm · ReLU · MaxPool · 1.7M parameters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31974" y="2589975"/>
            <a:ext cx="4664559" cy="45719"/>
          </a:xfrm>
          <a:prstGeom prst="rect">
            <a:avLst/>
          </a:prstGeom>
          <a:solidFill>
            <a:srgbClr val="D8E8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1031974" y="2678539"/>
            <a:ext cx="1568988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841752" y="2679012"/>
            <a:ext cx="3010761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APTOS 2019 + EyePACS · 91,630 total images merged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31973" y="3103876"/>
            <a:ext cx="4664559" cy="45719"/>
          </a:xfrm>
          <a:prstGeom prst="rect">
            <a:avLst/>
          </a:prstGeom>
          <a:solidFill>
            <a:srgbClr val="D8E8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1031974" y="3197452"/>
            <a:ext cx="1568988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841752" y="3178495"/>
            <a:ext cx="2956562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Applied,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weighted by frequency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31974" y="3629184"/>
            <a:ext cx="4664559" cy="45719"/>
          </a:xfrm>
          <a:prstGeom prst="rect">
            <a:avLst/>
          </a:prstGeom>
          <a:solidFill>
            <a:srgbClr val="D8E8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1031974" y="3706815"/>
            <a:ext cx="1568988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841753" y="3726119"/>
            <a:ext cx="2899767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· learning rate 0.001 · scheduler on plateau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31974" y="4143640"/>
            <a:ext cx="4664559" cy="45719"/>
          </a:xfrm>
          <a:prstGeom prst="rect">
            <a:avLst/>
          </a:prstGeom>
          <a:solidFill>
            <a:srgbClr val="D8E8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1031973" y="4238273"/>
            <a:ext cx="1568988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accuracy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841750" y="4225602"/>
            <a:ext cx="3010761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75.29%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31974" y="4640695"/>
            <a:ext cx="4664559" cy="45719"/>
          </a:xfrm>
          <a:prstGeom prst="rect">
            <a:avLst/>
          </a:prstGeom>
          <a:solidFill>
            <a:srgbClr val="D8E8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1031973" y="4738376"/>
            <a:ext cx="1568988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trend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2841754" y="4736319"/>
            <a:ext cx="2854780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1.5987 → 1.125 across 30 epochs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31972" y="5169308"/>
            <a:ext cx="4664559" cy="45719"/>
          </a:xfrm>
          <a:prstGeom prst="rect">
            <a:avLst/>
          </a:prstGeom>
          <a:solidFill>
            <a:srgbClr val="D8E8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1031972" y="5257405"/>
            <a:ext cx="1568988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841753" y="5257404"/>
            <a:ext cx="3010761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· opset 18 · single file · deployed in backend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31971" y="5646570"/>
            <a:ext cx="4664559" cy="45719"/>
          </a:xfrm>
          <a:prstGeom prst="rect">
            <a:avLst/>
          </a:prstGeom>
          <a:solidFill>
            <a:srgbClr val="D8E8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7"/>
          <p:cNvSpPr/>
          <p:nvPr/>
        </p:nvSpPr>
        <p:spPr>
          <a:xfrm>
            <a:off x="1031971" y="5728461"/>
            <a:ext cx="1568988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2841753" y="5717069"/>
            <a:ext cx="2807933" cy="38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for now · can be improved in the future with more data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263639" y="1462961"/>
            <a:ext cx="5003800" cy="4677967"/>
          </a:xfrm>
          <a:prstGeom prst="roundRect">
            <a:avLst>
              <a:gd name="adj" fmla="val 1607"/>
            </a:avLst>
          </a:prstGeom>
          <a:solidFill>
            <a:srgbClr val="EFF9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Text 30"/>
          <p:cNvSpPr/>
          <p:nvPr/>
        </p:nvSpPr>
        <p:spPr>
          <a:xfrm>
            <a:off x="6365240" y="1634817"/>
            <a:ext cx="502920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Glaucoma Segmentation Model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6365240" y="1895422"/>
            <a:ext cx="502920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U-Net · from scratch · PyTorch · </a:t>
            </a:r>
            <a:endParaRPr lang="en-US" sz="1100" b="1" i="1" dirty="0"/>
          </a:p>
        </p:txBody>
      </p:sp>
      <p:sp>
        <p:nvSpPr>
          <p:cNvPr id="35" name="Text 32"/>
          <p:cNvSpPr/>
          <p:nvPr/>
        </p:nvSpPr>
        <p:spPr>
          <a:xfrm>
            <a:off x="6405880" y="2293031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8285481" y="2170506"/>
            <a:ext cx="2776220" cy="27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· skip connections · 2-channel mask output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397142" y="2819005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8285481" y="2760357"/>
            <a:ext cx="2874546" cy="16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ORIGA + REFUGE + G1020 · ~2,870 fundus images with masks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6397140" y="3348425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8285481" y="3253778"/>
            <a:ext cx="2874546" cy="271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optic disc and cup segmentation masks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6397140" y="3867698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 calculation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8275320" y="3765264"/>
            <a:ext cx="2992119" cy="290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area ÷ Disc area → glaucoma risk classification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6397140" y="4273603"/>
            <a:ext cx="1737360" cy="253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Accuracy</a:t>
            </a:r>
            <a:endParaRPr lang="en-US" sz="1150" b="1" dirty="0"/>
          </a:p>
        </p:txBody>
      </p:sp>
      <p:sp>
        <p:nvSpPr>
          <p:cNvPr id="48" name="Text 45"/>
          <p:cNvSpPr/>
          <p:nvPr/>
        </p:nvSpPr>
        <p:spPr>
          <a:xfrm>
            <a:off x="8275320" y="4365390"/>
            <a:ext cx="32461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6397140" y="4876594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Trend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8268001" y="4709784"/>
            <a:ext cx="2734056" cy="38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0.589 → 0.1236 across 50 epochs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6397140" y="5388872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8275320" y="5223183"/>
            <a:ext cx="2664968" cy="38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as DR model</a:t>
            </a:r>
            <a:endParaRPr lang="en-US" sz="1150" dirty="0"/>
          </a:p>
        </p:txBody>
      </p:sp>
      <p:sp>
        <p:nvSpPr>
          <p:cNvPr id="56" name="Text 53"/>
          <p:cNvSpPr/>
          <p:nvPr/>
        </p:nvSpPr>
        <p:spPr>
          <a:xfrm>
            <a:off x="6405880" y="5869042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8268001" y="5690708"/>
            <a:ext cx="2793698" cy="408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for now · can be improved in the future with more data</a:t>
            </a:r>
            <a:endParaRPr lang="en-US" sz="115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BA1D5448-F74D-065F-8545-31D6B1E28D2E}"/>
              </a:ext>
            </a:extLst>
          </p:cNvPr>
          <p:cNvSpPr/>
          <p:nvPr/>
        </p:nvSpPr>
        <p:spPr>
          <a:xfrm>
            <a:off x="6397142" y="2589975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Shape 11">
            <a:extLst>
              <a:ext uri="{FF2B5EF4-FFF2-40B4-BE49-F238E27FC236}">
                <a16:creationId xmlns:a16="http://schemas.microsoft.com/office/drawing/2014/main" id="{3744396E-9CE0-7054-0E6F-7473A4661114}"/>
              </a:ext>
            </a:extLst>
          </p:cNvPr>
          <p:cNvSpPr/>
          <p:nvPr/>
        </p:nvSpPr>
        <p:spPr>
          <a:xfrm>
            <a:off x="6397141" y="3081016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A05A33D0-CDC5-F756-6A2F-6AD6B6FD80F8}"/>
              </a:ext>
            </a:extLst>
          </p:cNvPr>
          <p:cNvSpPr/>
          <p:nvPr/>
        </p:nvSpPr>
        <p:spPr>
          <a:xfrm>
            <a:off x="6397142" y="3629184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492FD7EA-D4B3-B5D4-B61C-A955FC4A2B61}"/>
              </a:ext>
            </a:extLst>
          </p:cNvPr>
          <p:cNvSpPr/>
          <p:nvPr/>
        </p:nvSpPr>
        <p:spPr>
          <a:xfrm>
            <a:off x="6397140" y="4134141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FB7C1AB0-E3AD-F4A7-714D-F04B9FF4AB3D}"/>
              </a:ext>
            </a:extLst>
          </p:cNvPr>
          <p:cNvSpPr/>
          <p:nvPr/>
        </p:nvSpPr>
        <p:spPr>
          <a:xfrm>
            <a:off x="6397142" y="4620700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3" name="Shape 11">
            <a:extLst>
              <a:ext uri="{FF2B5EF4-FFF2-40B4-BE49-F238E27FC236}">
                <a16:creationId xmlns:a16="http://schemas.microsoft.com/office/drawing/2014/main" id="{7B8B780F-A072-71FC-FE89-80E44DDB61BB}"/>
              </a:ext>
            </a:extLst>
          </p:cNvPr>
          <p:cNvSpPr/>
          <p:nvPr/>
        </p:nvSpPr>
        <p:spPr>
          <a:xfrm>
            <a:off x="6397142" y="5155519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1D0A039C-31C2-3E9D-D6C4-F8DD7A5502BF}"/>
              </a:ext>
            </a:extLst>
          </p:cNvPr>
          <p:cNvSpPr/>
          <p:nvPr/>
        </p:nvSpPr>
        <p:spPr>
          <a:xfrm>
            <a:off x="6397142" y="5621932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DF6B-ACFA-D065-D548-5A590212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E0AF84-CDFE-EA79-916D-2162C534797F}"/>
              </a:ext>
            </a:extLst>
          </p:cNvPr>
          <p:cNvSpPr/>
          <p:nvPr/>
        </p:nvSpPr>
        <p:spPr>
          <a:xfrm>
            <a:off x="502920" y="324392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40DB9FA-2232-E3CD-8C6D-E9869F72A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3" y="443927"/>
            <a:ext cx="415828" cy="41582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113BA50-577F-F303-9E7D-CC36DCE5188F}"/>
              </a:ext>
            </a:extLst>
          </p:cNvPr>
          <p:cNvSpPr/>
          <p:nvPr/>
        </p:nvSpPr>
        <p:spPr>
          <a:xfrm>
            <a:off x="1325880" y="4023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 and results</a:t>
            </a:r>
            <a:endParaRPr lang="en-US" sz="2800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24436472-77B6-1367-634C-68760DDD2E03}"/>
              </a:ext>
            </a:extLst>
          </p:cNvPr>
          <p:cNvSpPr/>
          <p:nvPr/>
        </p:nvSpPr>
        <p:spPr>
          <a:xfrm>
            <a:off x="3594100" y="1435129"/>
            <a:ext cx="5003800" cy="4677967"/>
          </a:xfrm>
          <a:prstGeom prst="roundRect">
            <a:avLst>
              <a:gd name="adj" fmla="val 1607"/>
            </a:avLst>
          </a:prstGeom>
          <a:solidFill>
            <a:srgbClr val="EFF9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469064F-AE23-E176-65CF-5985C55BAD89}"/>
              </a:ext>
            </a:extLst>
          </p:cNvPr>
          <p:cNvSpPr/>
          <p:nvPr/>
        </p:nvSpPr>
        <p:spPr>
          <a:xfrm>
            <a:off x="3695701" y="1480571"/>
            <a:ext cx="5029200" cy="23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Hypertensive Retinopathy Model</a:t>
            </a:r>
            <a:endParaRPr lang="en-US" sz="165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C9BE0C47-685C-A1F5-51B2-0BAC3482E32A}"/>
              </a:ext>
            </a:extLst>
          </p:cNvPr>
          <p:cNvSpPr/>
          <p:nvPr/>
        </p:nvSpPr>
        <p:spPr>
          <a:xfrm>
            <a:off x="3695701" y="1764641"/>
            <a:ext cx="5029200" cy="204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· from scratch ·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b="1" i="1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023BE959-9850-3DE5-6D7B-81421319D662}"/>
              </a:ext>
            </a:extLst>
          </p:cNvPr>
          <p:cNvSpPr/>
          <p:nvPr/>
        </p:nvSpPr>
        <p:spPr>
          <a:xfrm>
            <a:off x="3736341" y="2199446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66F04258-FDEB-7847-A629-B55352C78B3B}"/>
              </a:ext>
            </a:extLst>
          </p:cNvPr>
          <p:cNvSpPr/>
          <p:nvPr/>
        </p:nvSpPr>
        <p:spPr>
          <a:xfrm>
            <a:off x="5615942" y="2076921"/>
            <a:ext cx="2776220" cy="27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retinalCNN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reused · 5 Conv Blocks</a:t>
            </a:r>
            <a:endParaRPr lang="en-US" sz="115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22E9BCC2-AC6F-FF7D-C88D-5F8732C0852B}"/>
              </a:ext>
            </a:extLst>
          </p:cNvPr>
          <p:cNvSpPr/>
          <p:nvPr/>
        </p:nvSpPr>
        <p:spPr>
          <a:xfrm>
            <a:off x="3727603" y="2725420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15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D6E6132B-1B30-4FED-CA55-9F8BA588B99A}"/>
              </a:ext>
            </a:extLst>
          </p:cNvPr>
          <p:cNvSpPr/>
          <p:nvPr/>
        </p:nvSpPr>
        <p:spPr>
          <a:xfrm>
            <a:off x="5615942" y="2666772"/>
            <a:ext cx="2874546" cy="16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Zoya77 + HRDC HR +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EyePACS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~2000 images</a:t>
            </a:r>
            <a:endParaRPr lang="en-US" sz="115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DDDB6930-FC37-0521-E8C5-0756B0835028}"/>
              </a:ext>
            </a:extLst>
          </p:cNvPr>
          <p:cNvSpPr/>
          <p:nvPr/>
        </p:nvSpPr>
        <p:spPr>
          <a:xfrm>
            <a:off x="3727601" y="3254840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6D409918-0A3E-B753-FD18-C692F342E51E}"/>
              </a:ext>
            </a:extLst>
          </p:cNvPr>
          <p:cNvSpPr/>
          <p:nvPr/>
        </p:nvSpPr>
        <p:spPr>
          <a:xfrm>
            <a:off x="5615942" y="3160193"/>
            <a:ext cx="2874546" cy="271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not detected/detected (0/1)</a:t>
            </a:r>
            <a:endParaRPr lang="en-US" sz="115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6F21270C-DA6F-A445-0B55-9C7847BC74D3}"/>
              </a:ext>
            </a:extLst>
          </p:cNvPr>
          <p:cNvSpPr/>
          <p:nvPr/>
        </p:nvSpPr>
        <p:spPr>
          <a:xfrm>
            <a:off x="3727601" y="3774113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150" dirty="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9BE72539-BEC2-2403-82E0-996D6EA33D06}"/>
              </a:ext>
            </a:extLst>
          </p:cNvPr>
          <p:cNvSpPr/>
          <p:nvPr/>
        </p:nvSpPr>
        <p:spPr>
          <a:xfrm>
            <a:off x="5605781" y="3671679"/>
            <a:ext cx="2992119" cy="290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epochs · Adam LR 0.001 </a:t>
            </a:r>
            <a:endParaRPr lang="en-US" sz="1150" dirty="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DEF71A6B-326E-5CE4-B914-451005D90952}"/>
              </a:ext>
            </a:extLst>
          </p:cNvPr>
          <p:cNvSpPr/>
          <p:nvPr/>
        </p:nvSpPr>
        <p:spPr>
          <a:xfrm>
            <a:off x="3727601" y="4180018"/>
            <a:ext cx="1737360" cy="253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Accuracy</a:t>
            </a:r>
            <a:endParaRPr lang="en-US" sz="1150" b="1" dirty="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73D66CC0-CDC0-7016-951F-6351666E7B75}"/>
              </a:ext>
            </a:extLst>
          </p:cNvPr>
          <p:cNvSpPr/>
          <p:nvPr/>
        </p:nvSpPr>
        <p:spPr>
          <a:xfrm>
            <a:off x="5605781" y="4271805"/>
            <a:ext cx="32461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71.72% · Sens 95% · Spec ~43%</a:t>
            </a:r>
            <a:endParaRPr lang="en-US" sz="1150" dirty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B1426C45-9A28-4DC9-5B6E-2F3936AE5582}"/>
              </a:ext>
            </a:extLst>
          </p:cNvPr>
          <p:cNvSpPr/>
          <p:nvPr/>
        </p:nvSpPr>
        <p:spPr>
          <a:xfrm>
            <a:off x="3727601" y="4783009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Trend</a:t>
            </a:r>
            <a:endParaRPr lang="en-US" sz="1150" dirty="0"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ACE404DA-FEB9-0F06-E798-9D26824F57C7}"/>
              </a:ext>
            </a:extLst>
          </p:cNvPr>
          <p:cNvSpPr/>
          <p:nvPr/>
        </p:nvSpPr>
        <p:spPr>
          <a:xfrm>
            <a:off x="5598462" y="4616199"/>
            <a:ext cx="2734056" cy="38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0.7456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0.600 across 50 epochs</a:t>
            </a:r>
            <a:endParaRPr lang="en-US" sz="1150" dirty="0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7784A8F0-EDE5-AF46-07F0-0220F3CEB445}"/>
              </a:ext>
            </a:extLst>
          </p:cNvPr>
          <p:cNvSpPr/>
          <p:nvPr/>
        </p:nvSpPr>
        <p:spPr>
          <a:xfrm>
            <a:off x="3727601" y="5295287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</a:t>
            </a:r>
            <a:endParaRPr lang="en-US" sz="1150" dirty="0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2E1CF6D5-A1CF-C0EC-C0F2-FEC80346CDDF}"/>
              </a:ext>
            </a:extLst>
          </p:cNvPr>
          <p:cNvSpPr/>
          <p:nvPr/>
        </p:nvSpPr>
        <p:spPr>
          <a:xfrm>
            <a:off x="5605781" y="5129598"/>
            <a:ext cx="2664968" cy="38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as DR model</a:t>
            </a:r>
            <a:endParaRPr lang="en-US" sz="1150" dirty="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043331CF-633F-79AC-1AF0-7F61ADDD668D}"/>
              </a:ext>
            </a:extLst>
          </p:cNvPr>
          <p:cNvSpPr/>
          <p:nvPr/>
        </p:nvSpPr>
        <p:spPr>
          <a:xfrm>
            <a:off x="3736341" y="5775457"/>
            <a:ext cx="17373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FEC6125B-9092-048D-674E-81387655E33C}"/>
              </a:ext>
            </a:extLst>
          </p:cNvPr>
          <p:cNvSpPr/>
          <p:nvPr/>
        </p:nvSpPr>
        <p:spPr>
          <a:xfrm>
            <a:off x="5598462" y="5597123"/>
            <a:ext cx="2793698" cy="408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for now · can be improved in the future with more data</a:t>
            </a:r>
            <a:endParaRPr lang="en-US" sz="115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58C671EF-B19B-1B6D-C22F-822AF76D046D}"/>
              </a:ext>
            </a:extLst>
          </p:cNvPr>
          <p:cNvSpPr/>
          <p:nvPr/>
        </p:nvSpPr>
        <p:spPr>
          <a:xfrm>
            <a:off x="3727603" y="2496390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Shape 11">
            <a:extLst>
              <a:ext uri="{FF2B5EF4-FFF2-40B4-BE49-F238E27FC236}">
                <a16:creationId xmlns:a16="http://schemas.microsoft.com/office/drawing/2014/main" id="{500CA146-8037-F773-6EF9-471C228624AD}"/>
              </a:ext>
            </a:extLst>
          </p:cNvPr>
          <p:cNvSpPr/>
          <p:nvPr/>
        </p:nvSpPr>
        <p:spPr>
          <a:xfrm>
            <a:off x="3727602" y="2987431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63B2F5AB-D996-B01D-502D-DD9BD17F5EF3}"/>
              </a:ext>
            </a:extLst>
          </p:cNvPr>
          <p:cNvSpPr/>
          <p:nvPr/>
        </p:nvSpPr>
        <p:spPr>
          <a:xfrm>
            <a:off x="3727603" y="3535599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C4D6F2E1-6C55-CDB4-AF38-84EACE6505DE}"/>
              </a:ext>
            </a:extLst>
          </p:cNvPr>
          <p:cNvSpPr/>
          <p:nvPr/>
        </p:nvSpPr>
        <p:spPr>
          <a:xfrm>
            <a:off x="3727601" y="4040556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1E8D3D3B-B9D5-E683-A9F2-06C1B4687FCA}"/>
              </a:ext>
            </a:extLst>
          </p:cNvPr>
          <p:cNvSpPr/>
          <p:nvPr/>
        </p:nvSpPr>
        <p:spPr>
          <a:xfrm>
            <a:off x="3727603" y="4527115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3" name="Shape 11">
            <a:extLst>
              <a:ext uri="{FF2B5EF4-FFF2-40B4-BE49-F238E27FC236}">
                <a16:creationId xmlns:a16="http://schemas.microsoft.com/office/drawing/2014/main" id="{5DB5DECE-D2E5-5E4B-8837-6DC3F692B6D7}"/>
              </a:ext>
            </a:extLst>
          </p:cNvPr>
          <p:cNvSpPr/>
          <p:nvPr/>
        </p:nvSpPr>
        <p:spPr>
          <a:xfrm>
            <a:off x="3727603" y="5061934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DC5A4AD2-B07C-9901-4565-BC770212305C}"/>
              </a:ext>
            </a:extLst>
          </p:cNvPr>
          <p:cNvSpPr/>
          <p:nvPr/>
        </p:nvSpPr>
        <p:spPr>
          <a:xfrm>
            <a:off x="3727603" y="5528347"/>
            <a:ext cx="4664559" cy="45719"/>
          </a:xfrm>
          <a:prstGeom prst="rect">
            <a:avLst/>
          </a:prstGeom>
          <a:solidFill>
            <a:srgbClr val="C0E8DF"/>
          </a:solidFill>
          <a:ln/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72758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A9B184-7690-1C28-5FDB-0D44C6953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131"/>
            <a:ext cx="12192000" cy="64957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9643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2363-D07C-CA89-9738-DC0F298D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48AB9-F73D-E7F6-A8B3-B99F74D97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79690" y="181131"/>
            <a:ext cx="9232619" cy="64957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57876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0DDF05-9D80-A34F-8C44-F598AE696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226" y="871033"/>
            <a:ext cx="6173417" cy="51159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B1F1B2E4-60C7-AA19-48F5-52E30DBC9BC9}"/>
              </a:ext>
            </a:extLst>
          </p:cNvPr>
          <p:cNvSpPr/>
          <p:nvPr/>
        </p:nvSpPr>
        <p:spPr>
          <a:xfrm>
            <a:off x="629193" y="353349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 of CDR Ratio</a:t>
            </a:r>
            <a:endParaRPr lang="en-US" sz="280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154AD6D-83AE-F0C9-319D-694FE3851F4E}"/>
              </a:ext>
            </a:extLst>
          </p:cNvPr>
          <p:cNvSpPr/>
          <p:nvPr/>
        </p:nvSpPr>
        <p:spPr>
          <a:xfrm rot="20770895">
            <a:off x="1732512" y="4105753"/>
            <a:ext cx="3904955" cy="120094"/>
          </a:xfrm>
          <a:prstGeom prst="rightArrow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DC5EE40B-869D-4C05-ACC2-882276F5C09B}"/>
              </a:ext>
            </a:extLst>
          </p:cNvPr>
          <p:cNvSpPr/>
          <p:nvPr/>
        </p:nvSpPr>
        <p:spPr>
          <a:xfrm>
            <a:off x="276547" y="4755672"/>
            <a:ext cx="2588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 &gt; 0.6 is fatal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12612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3"/>
          <p:cNvSpPr/>
          <p:nvPr/>
        </p:nvSpPr>
        <p:spPr>
          <a:xfrm>
            <a:off x="6185916" y="1847088"/>
            <a:ext cx="2697480" cy="4773168"/>
          </a:xfrm>
          <a:prstGeom prst="roundRect">
            <a:avLst>
              <a:gd name="adj" fmla="val 3051"/>
            </a:avLst>
          </a:prstGeom>
          <a:solidFill>
            <a:srgbClr val="E8F5E9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" y="503652"/>
            <a:ext cx="474025" cy="47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1-Sprint delivery plan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25880" y="804672"/>
            <a:ext cx="49949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done · 1  to go · full working system delivered by end of Sprint 5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11201400" cy="475488"/>
          </a:xfrm>
          <a:prstGeom prst="roundRect">
            <a:avLst>
              <a:gd name="adj" fmla="val 13462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Sprint 4 complete — data pipeline · All 3 models · Grad-CAM · Image gate ·  ONNX export · Node backend · clinical UI · PDF report all working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5196" y="1847088"/>
            <a:ext cx="2697480" cy="4773168"/>
          </a:xfrm>
          <a:prstGeom prst="roundRect">
            <a:avLst>
              <a:gd name="adj" fmla="val 3051"/>
            </a:avLst>
          </a:prstGeom>
          <a:solidFill>
            <a:srgbClr val="E3F2FD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9" name="Shape 6"/>
          <p:cNvSpPr/>
          <p:nvPr/>
        </p:nvSpPr>
        <p:spPr>
          <a:xfrm>
            <a:off x="425196" y="1847088"/>
            <a:ext cx="2697480" cy="7315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1444752" y="20116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924" y="2103852"/>
            <a:ext cx="474025" cy="474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" y="28072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08076" y="3273552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Scout Hypertensive Retinopathy Datasets over the internet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08076" y="3941064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HR Model on Hypertensive Retinopathy dataset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8076" y="460857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HR model to ONNX format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08076" y="5276088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/predict-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endpoint and HR results to frontend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08076" y="5943600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Grad-CAM heatmap implementation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305556" y="1847088"/>
            <a:ext cx="2697480" cy="4773168"/>
          </a:xfrm>
          <a:prstGeom prst="roundRect">
            <a:avLst>
              <a:gd name="adj" fmla="val 3051"/>
            </a:avLst>
          </a:prstGeom>
          <a:solidFill>
            <a:srgbClr val="E0F7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5"/>
          <p:cNvSpPr/>
          <p:nvPr/>
        </p:nvSpPr>
        <p:spPr>
          <a:xfrm>
            <a:off x="3305556" y="1847088"/>
            <a:ext cx="269748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6"/>
          <p:cNvSpPr/>
          <p:nvPr/>
        </p:nvSpPr>
        <p:spPr>
          <a:xfrm>
            <a:off x="4325112" y="20116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84" y="2103852"/>
            <a:ext cx="474025" cy="4740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396996" y="28072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76260" y="460857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sensitivity, specificity, and AUC for both models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488436" y="3941064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Dice score validation on REFUGE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488436" y="460857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HR model on held out images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488436" y="5276088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image quality gate to all predict routes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488436" y="5943600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185916" y="1847088"/>
            <a:ext cx="2697480" cy="7315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Shape 25"/>
          <p:cNvSpPr/>
          <p:nvPr/>
        </p:nvSpPr>
        <p:spPr>
          <a:xfrm>
            <a:off x="7205472" y="2011680"/>
            <a:ext cx="658368" cy="65836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7644" y="2103852"/>
            <a:ext cx="474025" cy="47402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77356" y="28072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368796" y="3273552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end-to-end test with real fundus images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368796" y="3941064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 edge cases, blurry images, and borderline predictions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3488436" y="3188007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Re-polish the Frontend UI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368796" y="5276088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Dockerise the Node.js backend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368796" y="5943600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Retrain all models if required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9066276" y="1847088"/>
            <a:ext cx="2697480" cy="4773168"/>
          </a:xfrm>
          <a:prstGeom prst="roundRect">
            <a:avLst>
              <a:gd name="adj" fmla="val 3051"/>
            </a:avLst>
          </a:prstGeom>
          <a:solidFill>
            <a:srgbClr val="F3E5F5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Shape 33"/>
          <p:cNvSpPr/>
          <p:nvPr/>
        </p:nvSpPr>
        <p:spPr>
          <a:xfrm>
            <a:off x="9066276" y="1847088"/>
            <a:ext cx="2697480" cy="73152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Shape 34"/>
          <p:cNvSpPr/>
          <p:nvPr/>
        </p:nvSpPr>
        <p:spPr>
          <a:xfrm>
            <a:off x="10085832" y="2011680"/>
            <a:ext cx="658368" cy="65836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8004" y="2103852"/>
            <a:ext cx="474025" cy="474025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157716" y="28072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600" dirty="0"/>
          </a:p>
        </p:txBody>
      </p:sp>
      <p:sp>
        <p:nvSpPr>
          <p:cNvPr id="43" name="Text 36"/>
          <p:cNvSpPr/>
          <p:nvPr/>
        </p:nvSpPr>
        <p:spPr>
          <a:xfrm>
            <a:off x="9249156" y="3273552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testing on held-out images all conditions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9249156" y="3941064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the documentation, final accuracy report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9249156" y="460857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Prepare client demo with live system walkthrough and presentation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9249156" y="5276088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code cleanup, and deployment 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9249156" y="5943600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handover</a:t>
            </a:r>
            <a:endParaRPr lang="en-US" sz="11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C72545-AF33-4AFA-49E7-6A8784450319}"/>
              </a:ext>
            </a:extLst>
          </p:cNvPr>
          <p:cNvSpPr txBox="1"/>
          <p:nvPr/>
        </p:nvSpPr>
        <p:spPr>
          <a:xfrm rot="1077746">
            <a:off x="423320" y="1859786"/>
            <a:ext cx="348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9CB3E7-12F0-6441-1901-9A37EF4AEF33}"/>
              </a:ext>
            </a:extLst>
          </p:cNvPr>
          <p:cNvSpPr txBox="1"/>
          <p:nvPr/>
        </p:nvSpPr>
        <p:spPr>
          <a:xfrm rot="1077746">
            <a:off x="3345460" y="1838164"/>
            <a:ext cx="348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>
              <a:solidFill>
                <a:srgbClr val="02809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7CD620-5845-4950-43A9-A31C0A42DEDA}"/>
              </a:ext>
            </a:extLst>
          </p:cNvPr>
          <p:cNvSpPr txBox="1"/>
          <p:nvPr/>
        </p:nvSpPr>
        <p:spPr>
          <a:xfrm rot="1077746">
            <a:off x="6181204" y="1843605"/>
            <a:ext cx="348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>
              <a:solidFill>
                <a:srgbClr val="16A34A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25880" y="8046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838411" y="131691"/>
            <a:ext cx="4515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Bahnschrift SemiBold" panose="020B0502040204020203" pitchFamily="34" charset="0"/>
              </a:rPr>
              <a:t>System Interface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83B22C1-E2B1-EFAE-789F-D313AB8F2A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6937" y="921412"/>
            <a:ext cx="11098124" cy="53118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9">
            <a:extLst>
              <a:ext uri="{FF2B5EF4-FFF2-40B4-BE49-F238E27FC236}">
                <a16:creationId xmlns:a16="http://schemas.microsoft.com/office/drawing/2014/main" id="{EDAC8B07-7E86-9417-B4FF-0FCA9A952411}"/>
              </a:ext>
            </a:extLst>
          </p:cNvPr>
          <p:cNvSpPr/>
          <p:nvPr/>
        </p:nvSpPr>
        <p:spPr>
          <a:xfrm>
            <a:off x="8686800" y="1252736"/>
            <a:ext cx="3265714" cy="5334654"/>
          </a:xfrm>
          <a:prstGeom prst="roundRect">
            <a:avLst>
              <a:gd name="adj" fmla="val 1607"/>
            </a:avLst>
          </a:prstGeom>
          <a:solidFill>
            <a:srgbClr val="EFF9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" y="503652"/>
            <a:ext cx="474025" cy="47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interface -  Analysis result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25880" y="799229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clinical result returned in under 2 seconds on CPU — no GPU at the clinic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823960" y="138988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209" y="1464137"/>
            <a:ext cx="381853" cy="3818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64040" y="14081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badge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464040" y="16824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coded by severity — green for No DR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8823960" y="2276856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9" y="2351105"/>
            <a:ext cx="381853" cy="38185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464040" y="2295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9464040" y="25694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confidence on top class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823960" y="316382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8209" y="3238073"/>
            <a:ext cx="381853" cy="38185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64040" y="3182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meter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464040" y="3456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bar from Minimal to Critical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8823960" y="4050792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8209" y="4125041"/>
            <a:ext cx="381853" cy="38185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464040" y="4069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guidance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9464040" y="4343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Re-screen in 12 months — actionable text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8823960" y="493776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8209" y="5012009"/>
            <a:ext cx="381853" cy="38185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464040" y="4956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table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9464040" y="52303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classes with bar and score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8823960" y="582472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8209" y="5898977"/>
            <a:ext cx="381853" cy="38185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464040" y="58430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metadata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9464040" y="6117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ID, date, model, dataset, institution</a:t>
            </a:r>
            <a:endParaRPr lang="en-US" sz="10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346874E-7713-DA9A-B7AF-533BAE3FBA8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17111" y="1252736"/>
            <a:ext cx="8259961" cy="53729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907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" y="351250"/>
            <a:ext cx="474025" cy="47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4993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clinical report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25880" y="65227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a structured A4 document using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1300" dirty="0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6548" y="1087844"/>
            <a:ext cx="3930056" cy="55537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440680" y="1228342"/>
            <a:ext cx="91440" cy="566928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5"/>
          <p:cNvSpPr/>
          <p:nvPr/>
        </p:nvSpPr>
        <p:spPr>
          <a:xfrm>
            <a:off x="5650992" y="122834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650992" y="149351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bar · RETINALSCAN AI branding · CONFIDENTIAL tag · Not for standalone diagnostic use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5440680" y="2023870"/>
            <a:ext cx="91440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8"/>
          <p:cNvSpPr/>
          <p:nvPr/>
        </p:nvSpPr>
        <p:spPr>
          <a:xfrm>
            <a:off x="5650992" y="202387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metadata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50992" y="228904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ID · Date · Time · Model version · Dataset used — all auto-filled from the session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40680" y="2819398"/>
            <a:ext cx="91440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1"/>
          <p:cNvSpPr/>
          <p:nvPr/>
        </p:nvSpPr>
        <p:spPr>
          <a:xfrm>
            <a:off x="5650992" y="281939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information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50992" y="308457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Patient ID · Age · Eye examined · Referring clinician — pulled from the form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440680" y="3614926"/>
            <a:ext cx="91440" cy="5669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4"/>
          <p:cNvSpPr/>
          <p:nvPr/>
        </p:nvSpPr>
        <p:spPr>
          <a:xfrm>
            <a:off x="5650992" y="361492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box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650992" y="388010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by severity · Primary diagnosis in large type · ICDR Grade · Confidence percentage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440680" y="4410454"/>
            <a:ext cx="91440" cy="56692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7"/>
          <p:cNvSpPr/>
          <p:nvPr/>
        </p:nvSpPr>
        <p:spPr>
          <a:xfrm>
            <a:off x="5650992" y="441045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recommendation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650992" y="467563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action text based on ICDR guidelines · urgency level stated explicitly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Shape 19"/>
          <p:cNvSpPr/>
          <p:nvPr/>
        </p:nvSpPr>
        <p:spPr>
          <a:xfrm>
            <a:off x="5440680" y="5205982"/>
            <a:ext cx="91440" cy="566928"/>
          </a:xfrm>
          <a:prstGeom prst="rect">
            <a:avLst/>
          </a:prstGeom>
          <a:solidFill>
            <a:srgbClr val="132D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0"/>
          <p:cNvSpPr/>
          <p:nvPr/>
        </p:nvSpPr>
        <p:spPr>
          <a:xfrm>
            <a:off x="5650992" y="520598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table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650992" y="547115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classes with inline bar charts · highlighted top class · percentage scores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440680" y="6001510"/>
            <a:ext cx="91440" cy="56692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3"/>
          <p:cNvSpPr/>
          <p:nvPr/>
        </p:nvSpPr>
        <p:spPr>
          <a:xfrm>
            <a:off x="5650992" y="600151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+ footer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650992" y="626668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clinical disclaimer · institution name · page number · cannot be used as standalone diagnosis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2476" y="1371600"/>
            <a:ext cx="9144000" cy="256032"/>
          </a:xfrm>
          <a:prstGeom prst="roundRect">
            <a:avLst>
              <a:gd name="adj" fmla="val 50000"/>
            </a:avLst>
          </a:prstGeom>
          <a:solidFill>
            <a:srgbClr val="132D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1412748" y="126187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248156" y="1664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98748" y="1261872"/>
            <a:ext cx="219456" cy="219456"/>
          </a:xfrm>
          <a:prstGeom prst="ellipse">
            <a:avLst/>
          </a:prstGeom>
          <a:solidFill>
            <a:srgbClr val="132D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534156" y="1664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b="1" dirty="0"/>
          </a:p>
        </p:txBody>
      </p:sp>
      <p:sp>
        <p:nvSpPr>
          <p:cNvPr id="8" name="Shape 6"/>
          <p:cNvSpPr/>
          <p:nvPr/>
        </p:nvSpPr>
        <p:spPr>
          <a:xfrm>
            <a:off x="5984748" y="1261872"/>
            <a:ext cx="219456" cy="219456"/>
          </a:xfrm>
          <a:prstGeom prst="ellipse">
            <a:avLst/>
          </a:prstGeom>
          <a:solidFill>
            <a:srgbClr val="132D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820156" y="1664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b="1" dirty="0"/>
          </a:p>
        </p:txBody>
      </p:sp>
      <p:sp>
        <p:nvSpPr>
          <p:cNvPr id="10" name="Shape 8"/>
          <p:cNvSpPr/>
          <p:nvPr/>
        </p:nvSpPr>
        <p:spPr>
          <a:xfrm>
            <a:off x="8270748" y="1261872"/>
            <a:ext cx="219456" cy="219456"/>
          </a:xfrm>
          <a:prstGeom prst="ellipse">
            <a:avLst/>
          </a:prstGeom>
          <a:solidFill>
            <a:srgbClr val="132D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106156" y="1664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00" b="1" dirty="0"/>
          </a:p>
        </p:txBody>
      </p:sp>
      <p:sp>
        <p:nvSpPr>
          <p:cNvPr id="13" name="Text 11"/>
          <p:cNvSpPr/>
          <p:nvPr/>
        </p:nvSpPr>
        <p:spPr>
          <a:xfrm>
            <a:off x="10392156" y="1664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000" b="1" dirty="0"/>
          </a:p>
        </p:txBody>
      </p:sp>
      <p:sp>
        <p:nvSpPr>
          <p:cNvPr id="14" name="Text 12"/>
          <p:cNvSpPr/>
          <p:nvPr/>
        </p:nvSpPr>
        <p:spPr>
          <a:xfrm>
            <a:off x="1522476" y="19385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of 5 complete</a:t>
            </a:r>
            <a:endParaRPr lang="en-US" sz="1100" dirty="0">
              <a:solidFill>
                <a:srgbClr val="0B1F3A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22476" y="19385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remaining</a:t>
            </a:r>
            <a:endParaRPr lang="en-US" sz="1100" b="1" dirty="0"/>
          </a:p>
        </p:txBody>
      </p:sp>
      <p:sp>
        <p:nvSpPr>
          <p:cNvPr id="16" name="Text 14"/>
          <p:cNvSpPr/>
          <p:nvPr/>
        </p:nvSpPr>
        <p:spPr>
          <a:xfrm>
            <a:off x="1097280" y="2770633"/>
            <a:ext cx="9994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photo.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conditions.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clinic.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522475" y="1371600"/>
            <a:ext cx="7019437" cy="25603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1145</Words>
  <Application>Microsoft Office PowerPoint</Application>
  <PresentationFormat>Widescreen</PresentationFormat>
  <Paragraphs>198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Bahnschrift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RetinalScan AI — Progress Presentation</dc:title>
  <dc:subject>PptxGenJS Presentation</dc:subject>
  <dc:creator>PptxGenJS</dc:creator>
  <cp:lastModifiedBy>Arsal Saeed</cp:lastModifiedBy>
  <cp:revision>45</cp:revision>
  <dcterms:created xsi:type="dcterms:W3CDTF">2026-07-04T19:57:40Z</dcterms:created>
  <dcterms:modified xsi:type="dcterms:W3CDTF">2026-07-12T12:25:42Z</dcterms:modified>
</cp:coreProperties>
</file>