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74" r:id="rId8"/>
    <p:sldId id="268" r:id="rId9"/>
    <p:sldId id="269" r:id="rId10"/>
    <p:sldId id="272" r:id="rId11"/>
    <p:sldId id="270" r:id="rId12"/>
    <p:sldId id="271" r:id="rId13"/>
    <p:sldId id="263" r:id="rId14"/>
    <p:sldId id="265" r:id="rId15"/>
  </p:sldIdLst>
  <p:sldSz cx="18288000" cy="10287000"/>
  <p:notesSz cx="6858000" cy="9144000"/>
  <p:embeddedFontLst>
    <p:embeddedFont>
      <p:font typeface="Calibri (MS)" panose="020B0604020202020204" charset="0"/>
      <p:regular r:id="rId17"/>
    </p:embeddedFont>
    <p:embeddedFont>
      <p:font typeface="Calibri (MS) Bold" panose="020B0604020202020204" charset="0"/>
      <p:regular r:id="rId18"/>
    </p:embeddedFont>
    <p:embeddedFont>
      <p:font typeface="Cambria" panose="02040503050406030204" pitchFamily="18" charset="0"/>
      <p:regular r:id="rId19"/>
      <p:bold r:id="rId20"/>
      <p:italic r:id="rId21"/>
      <p:boldItalic r:id="rId22"/>
    </p:embeddedFont>
    <p:embeddedFont>
      <p:font typeface="Cambria Bold" panose="02040803050406030204" pitchFamily="18" charset="0"/>
      <p:regular r:id="rId23"/>
      <p:bold r:id="rId24"/>
    </p:embeddedFont>
    <p:embeddedFont>
      <p:font typeface="Cambria Bold Italics" panose="020B0604020202020204" charset="0"/>
      <p:regular r:id="rId25"/>
    </p:embeddedFont>
    <p:embeddedFont>
      <p:font typeface="Cambria Italics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1D47"/>
    <a:srgbClr val="C5922D"/>
    <a:srgbClr val="FAFBFC"/>
    <a:srgbClr val="EFE3C8"/>
    <a:srgbClr val="CADC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6" d="100"/>
          <a:sy n="56" d="100"/>
        </p:scale>
        <p:origin x="378" y="3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DAC060-9986-456C-A904-A64FF9D6BA83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E9B112-BFB5-4B85-88FE-D1CB19D545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178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2466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264640" y="-2468880"/>
            <a:ext cx="7543800" cy="7543800"/>
            <a:chOff x="0" y="0"/>
            <a:chExt cx="10058400" cy="1005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058400"/>
            </a:xfrm>
            <a:custGeom>
              <a:avLst/>
              <a:gdLst/>
              <a:ahLst/>
              <a:cxnLst/>
              <a:rect l="l" t="t" r="r" b="b"/>
              <a:pathLst>
                <a:path w="10058400" h="10058400">
                  <a:moveTo>
                    <a:pt x="0" y="5029200"/>
                  </a:moveTo>
                  <a:cubicBezTo>
                    <a:pt x="0" y="2251710"/>
                    <a:pt x="2251710" y="0"/>
                    <a:pt x="5029200" y="0"/>
                  </a:cubicBezTo>
                  <a:cubicBezTo>
                    <a:pt x="7806690" y="0"/>
                    <a:pt x="10058400" y="2251710"/>
                    <a:pt x="10058400" y="5029200"/>
                  </a:cubicBezTo>
                  <a:cubicBezTo>
                    <a:pt x="10058400" y="7806690"/>
                    <a:pt x="7806690" y="10058400"/>
                    <a:pt x="5029200" y="10058400"/>
                  </a:cubicBezTo>
                  <a:cubicBezTo>
                    <a:pt x="2251710" y="10058400"/>
                    <a:pt x="0" y="7806690"/>
                    <a:pt x="0" y="5029200"/>
                  </a:cubicBezTo>
                  <a:close/>
                </a:path>
              </a:pathLst>
            </a:custGeom>
            <a:solidFill>
              <a:srgbClr val="27306B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5910560" y="-822960"/>
            <a:ext cx="4389120" cy="4389120"/>
            <a:chOff x="0" y="0"/>
            <a:chExt cx="5852160" cy="585216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852160" cy="5852160"/>
            </a:xfrm>
            <a:custGeom>
              <a:avLst/>
              <a:gdLst/>
              <a:ahLst/>
              <a:cxnLst/>
              <a:rect l="l" t="t" r="r" b="b"/>
              <a:pathLst>
                <a:path w="5852160" h="5852160">
                  <a:moveTo>
                    <a:pt x="0" y="2926080"/>
                  </a:moveTo>
                  <a:cubicBezTo>
                    <a:pt x="0" y="1310005"/>
                    <a:pt x="1310005" y="0"/>
                    <a:pt x="2926080" y="0"/>
                  </a:cubicBezTo>
                  <a:cubicBezTo>
                    <a:pt x="4542155" y="0"/>
                    <a:pt x="5852160" y="1310005"/>
                    <a:pt x="5852160" y="2926080"/>
                  </a:cubicBezTo>
                  <a:cubicBezTo>
                    <a:pt x="5852160" y="4542155"/>
                    <a:pt x="4542155" y="5852160"/>
                    <a:pt x="2926080" y="5852160"/>
                  </a:cubicBezTo>
                  <a:cubicBezTo>
                    <a:pt x="1310005" y="5852160"/>
                    <a:pt x="0" y="4542155"/>
                    <a:pt x="0" y="2926080"/>
                  </a:cubicBezTo>
                  <a:close/>
                </a:path>
              </a:pathLst>
            </a:custGeom>
            <a:solidFill>
              <a:srgbClr val="313B8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28700" y="1766015"/>
            <a:ext cx="12344400" cy="2492220"/>
            <a:chOff x="0" y="0"/>
            <a:chExt cx="16459200" cy="332296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6459200" cy="3322960"/>
            </a:xfrm>
            <a:custGeom>
              <a:avLst/>
              <a:gdLst/>
              <a:ahLst/>
              <a:cxnLst/>
              <a:rect l="l" t="t" r="r" b="b"/>
              <a:pathLst>
                <a:path w="16459200" h="3322960">
                  <a:moveTo>
                    <a:pt x="0" y="0"/>
                  </a:moveTo>
                  <a:lnTo>
                    <a:pt x="16459200" y="0"/>
                  </a:lnTo>
                  <a:lnTo>
                    <a:pt x="16459200" y="3322960"/>
                  </a:lnTo>
                  <a:lnTo>
                    <a:pt x="0" y="332296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85505" b="-751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16459200" cy="33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079"/>
                </a:lnSpc>
              </a:pPr>
              <a:r>
                <a:rPr lang="en-US" sz="3399" b="1" spc="728">
                  <a:solidFill>
                    <a:srgbClr val="D9A44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AFIO SCANAI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28700" y="1766015"/>
            <a:ext cx="14401800" cy="5712661"/>
            <a:chOff x="0" y="0"/>
            <a:chExt cx="19202400" cy="761688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202400" cy="7616881"/>
            </a:xfrm>
            <a:custGeom>
              <a:avLst/>
              <a:gdLst/>
              <a:ahLst/>
              <a:cxnLst/>
              <a:rect l="l" t="t" r="r" b="b"/>
              <a:pathLst>
                <a:path w="19202400" h="7616881">
                  <a:moveTo>
                    <a:pt x="0" y="0"/>
                  </a:moveTo>
                  <a:lnTo>
                    <a:pt x="19202400" y="0"/>
                  </a:lnTo>
                  <a:lnTo>
                    <a:pt x="19202400" y="7616881"/>
                  </a:lnTo>
                  <a:lnTo>
                    <a:pt x="0" y="761688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6313" b="2806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19202400" cy="766450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063"/>
                </a:lnSpc>
              </a:pPr>
              <a:r>
                <a:rPr lang="en-US" sz="6399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AFIO Meetings, Site Visit &amp;</a:t>
              </a:r>
            </a:p>
            <a:p>
              <a:pPr algn="l">
                <a:lnSpc>
                  <a:spcPts val="8063"/>
                </a:lnSpc>
              </a:pPr>
              <a:r>
                <a:rPr lang="en-US" sz="6399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Solution Refinement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40990" y="4838994"/>
            <a:ext cx="14038853" cy="3748682"/>
            <a:chOff x="0" y="0"/>
            <a:chExt cx="17373600" cy="4639132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7373600" cy="4639132"/>
            </a:xfrm>
            <a:custGeom>
              <a:avLst/>
              <a:gdLst/>
              <a:ahLst/>
              <a:cxnLst/>
              <a:rect l="l" t="t" r="r" b="b"/>
              <a:pathLst>
                <a:path w="17373600" h="4639132">
                  <a:moveTo>
                    <a:pt x="0" y="0"/>
                  </a:moveTo>
                  <a:lnTo>
                    <a:pt x="17373600" y="0"/>
                  </a:lnTo>
                  <a:lnTo>
                    <a:pt x="17373600" y="4639132"/>
                  </a:lnTo>
                  <a:lnTo>
                    <a:pt x="0" y="463913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1145" b="1520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0"/>
              <a:ext cx="17373600" cy="46391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99"/>
                </a:lnSpc>
              </a:pPr>
              <a:r>
                <a:rPr lang="en-US" sz="4249" i="1" dirty="0">
                  <a:solidFill>
                    <a:srgbClr val="CADCFC"/>
                  </a:solidFill>
                  <a:latin typeface="Cambria Italics"/>
                  <a:ea typeface="Cambria Italics"/>
                  <a:cs typeface="Cambria Italics"/>
                  <a:sym typeface="Cambria Italics"/>
                </a:rPr>
                <a:t>Project Progress Review</a:t>
              </a:r>
            </a:p>
          </p:txBody>
        </p:sp>
      </p:grpSp>
      <p:sp>
        <p:nvSpPr>
          <p:cNvPr id="15" name="AutoShape 15"/>
          <p:cNvSpPr/>
          <p:nvPr/>
        </p:nvSpPr>
        <p:spPr>
          <a:xfrm>
            <a:off x="1028700" y="6035552"/>
            <a:ext cx="12481560" cy="0"/>
          </a:xfrm>
          <a:prstGeom prst="line">
            <a:avLst/>
          </a:prstGeom>
          <a:ln w="19050" cap="rnd">
            <a:solidFill>
              <a:srgbClr val="D9A44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6" name="Group 16"/>
          <p:cNvGrpSpPr/>
          <p:nvPr/>
        </p:nvGrpSpPr>
        <p:grpSpPr>
          <a:xfrm>
            <a:off x="17282160" y="9669780"/>
            <a:ext cx="822960" cy="1101198"/>
            <a:chOff x="0" y="0"/>
            <a:chExt cx="1097280" cy="146826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97280" cy="1468264"/>
            </a:xfrm>
            <a:custGeom>
              <a:avLst/>
              <a:gdLst/>
              <a:ahLst/>
              <a:cxnLst/>
              <a:rect l="l" t="t" r="r" b="b"/>
              <a:pathLst>
                <a:path w="1097280" h="1468264">
                  <a:moveTo>
                    <a:pt x="0" y="0"/>
                  </a:moveTo>
                  <a:lnTo>
                    <a:pt x="1097280" y="0"/>
                  </a:lnTo>
                  <a:lnTo>
                    <a:pt x="1097280" y="1468264"/>
                  </a:lnTo>
                  <a:lnTo>
                    <a:pt x="0" y="14682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r="-14151" b="6263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097280" cy="14777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8891B5"/>
                  </a:solidFill>
                  <a:latin typeface="Cambria"/>
                  <a:ea typeface="Cambria"/>
                  <a:cs typeface="Cambria"/>
                  <a:sym typeface="Cambria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17649" y="-728249"/>
            <a:ext cx="19288285" cy="3936127"/>
            <a:chOff x="-3589233" y="-160741"/>
            <a:chExt cx="25717713" cy="52481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128480" cy="5087428"/>
            </a:xfrm>
            <a:custGeom>
              <a:avLst/>
              <a:gdLst/>
              <a:ahLst/>
              <a:cxnLst/>
              <a:rect l="l" t="t" r="r" b="b"/>
              <a:pathLst>
                <a:path w="22128480" h="5087428">
                  <a:moveTo>
                    <a:pt x="0" y="0"/>
                  </a:moveTo>
                  <a:lnTo>
                    <a:pt x="22128480" y="0"/>
                  </a:lnTo>
                  <a:lnTo>
                    <a:pt x="22128480" y="5087428"/>
                  </a:lnTo>
                  <a:lnTo>
                    <a:pt x="0" y="508742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68576" b="-929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-3589233" y="-160741"/>
              <a:ext cx="22128480" cy="509695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239"/>
                </a:lnSpc>
              </a:pPr>
              <a:r>
                <a:rPr lang="en-US" sz="5199" b="1" dirty="0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Project Progress &amp; AFIO Engagement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7649" y="2596380"/>
            <a:ext cx="16852702" cy="6481317"/>
            <a:chOff x="0" y="0"/>
            <a:chExt cx="22470269" cy="8641755"/>
          </a:xfrm>
        </p:grpSpPr>
        <p:grpSp>
          <p:nvGrpSpPr>
            <p:cNvPr id="6" name="Group 6"/>
            <p:cNvGrpSpPr/>
            <p:nvPr/>
          </p:nvGrpSpPr>
          <p:grpSpPr>
            <a:xfrm>
              <a:off x="0" y="0"/>
              <a:ext cx="22470269" cy="1386948"/>
              <a:chOff x="0" y="0"/>
              <a:chExt cx="22128480" cy="1365852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2128480" cy="1365852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365852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365852"/>
                    </a:lnTo>
                    <a:lnTo>
                      <a:pt x="0" y="1365852"/>
                    </a:lnTo>
                    <a:close/>
                  </a:path>
                </a:pathLst>
              </a:custGeom>
              <a:solidFill>
                <a:srgbClr val="F7F8FC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8" name="Group 8"/>
            <p:cNvGrpSpPr/>
            <p:nvPr/>
          </p:nvGrpSpPr>
          <p:grpSpPr>
            <a:xfrm>
              <a:off x="464262" y="256052"/>
              <a:ext cx="779960" cy="896182"/>
              <a:chOff x="0" y="0"/>
              <a:chExt cx="768096" cy="88255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441275"/>
                    </a:moveTo>
                    <a:cubicBezTo>
                      <a:pt x="0" y="197582"/>
                      <a:pt x="171958" y="0"/>
                      <a:pt x="384048" y="0"/>
                    </a:cubicBezTo>
                    <a:cubicBezTo>
                      <a:pt x="596138" y="0"/>
                      <a:pt x="768096" y="197582"/>
                      <a:pt x="768096" y="441275"/>
                    </a:cubicBezTo>
                    <a:cubicBezTo>
                      <a:pt x="768096" y="684969"/>
                      <a:pt x="596138" y="882550"/>
                      <a:pt x="384048" y="882550"/>
                    </a:cubicBezTo>
                    <a:cubicBezTo>
                      <a:pt x="171958" y="882550"/>
                      <a:pt x="0" y="684969"/>
                      <a:pt x="0" y="441275"/>
                    </a:cubicBezTo>
                    <a:close/>
                  </a:path>
                </a:pathLst>
              </a:custGeom>
              <a:solidFill>
                <a:srgbClr val="1E2761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0" name="Group 10"/>
            <p:cNvGrpSpPr/>
            <p:nvPr/>
          </p:nvGrpSpPr>
          <p:grpSpPr>
            <a:xfrm>
              <a:off x="464262" y="256052"/>
              <a:ext cx="779960" cy="896182"/>
              <a:chOff x="0" y="0"/>
              <a:chExt cx="768096" cy="882550"/>
            </a:xfrm>
          </p:grpSpPr>
          <p:sp>
            <p:nvSpPr>
              <p:cNvPr id="11" name="Freeform 11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0"/>
                    </a:moveTo>
                    <a:lnTo>
                      <a:pt x="768096" y="0"/>
                    </a:lnTo>
                    <a:lnTo>
                      <a:pt x="768096" y="882550"/>
                    </a:lnTo>
                    <a:lnTo>
                      <a:pt x="0" y="88255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 b="12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0" y="-47625"/>
                <a:ext cx="768096" cy="93017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059"/>
                  </a:lnSpc>
                </a:pPr>
                <a:r>
                  <a:rPr lang="en-US" sz="2549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</a:t>
                </a:r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1671342" y="67222"/>
              <a:ext cx="20056108" cy="1319727"/>
              <a:chOff x="0" y="0"/>
              <a:chExt cx="19751040" cy="1299653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19751039" cy="1299653"/>
              </a:xfrm>
              <a:custGeom>
                <a:avLst/>
                <a:gdLst/>
                <a:ahLst/>
                <a:cxnLst/>
                <a:rect l="l" t="t" r="r" b="b"/>
                <a:pathLst>
                  <a:path w="19751039" h="1299653">
                    <a:moveTo>
                      <a:pt x="0" y="0"/>
                    </a:moveTo>
                    <a:lnTo>
                      <a:pt x="19751039" y="0"/>
                    </a:lnTo>
                    <a:lnTo>
                      <a:pt x="19751039" y="1299653"/>
                    </a:lnTo>
                    <a:lnTo>
                      <a:pt x="0" y="1299653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50385" b="-241849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85725"/>
                <a:ext cx="19751040" cy="1385378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4799"/>
                  </a:lnSpc>
                </a:pPr>
                <a:r>
                  <a:rPr lang="en-US" sz="3999">
                    <a:solidFill>
                      <a:srgbClr val="1A1A2E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Initial Commandant meeting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0" y="1813702"/>
              <a:ext cx="22470269" cy="1386948"/>
              <a:chOff x="0" y="0"/>
              <a:chExt cx="22128480" cy="1365852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22128480" cy="1365852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365852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365852"/>
                    </a:lnTo>
                    <a:lnTo>
                      <a:pt x="0" y="1365852"/>
                    </a:lnTo>
                    <a:close/>
                  </a:path>
                </a:pathLst>
              </a:custGeom>
              <a:solidFill>
                <a:srgbClr val="F7F8FC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464262" y="2069754"/>
              <a:ext cx="779960" cy="896182"/>
              <a:chOff x="0" y="0"/>
              <a:chExt cx="768096" cy="88255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441275"/>
                    </a:moveTo>
                    <a:cubicBezTo>
                      <a:pt x="0" y="197582"/>
                      <a:pt x="171958" y="0"/>
                      <a:pt x="384048" y="0"/>
                    </a:cubicBezTo>
                    <a:cubicBezTo>
                      <a:pt x="596138" y="0"/>
                      <a:pt x="768096" y="197582"/>
                      <a:pt x="768096" y="441275"/>
                    </a:cubicBezTo>
                    <a:cubicBezTo>
                      <a:pt x="768096" y="684969"/>
                      <a:pt x="596138" y="882550"/>
                      <a:pt x="384048" y="882550"/>
                    </a:cubicBezTo>
                    <a:cubicBezTo>
                      <a:pt x="171958" y="882550"/>
                      <a:pt x="0" y="684969"/>
                      <a:pt x="0" y="441275"/>
                    </a:cubicBezTo>
                    <a:close/>
                  </a:path>
                </a:pathLst>
              </a:custGeom>
              <a:solidFill>
                <a:srgbClr val="1E2761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464262" y="2069754"/>
              <a:ext cx="779960" cy="896182"/>
              <a:chOff x="0" y="0"/>
              <a:chExt cx="768096" cy="88255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0"/>
                    </a:moveTo>
                    <a:lnTo>
                      <a:pt x="768096" y="0"/>
                    </a:lnTo>
                    <a:lnTo>
                      <a:pt x="768096" y="882550"/>
                    </a:lnTo>
                    <a:lnTo>
                      <a:pt x="0" y="88255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 b="12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47625"/>
                <a:ext cx="768096" cy="93017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059"/>
                  </a:lnSpc>
                </a:pPr>
                <a:r>
                  <a:rPr lang="en-US" sz="2549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2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671342" y="1813702"/>
              <a:ext cx="20056108" cy="1386948"/>
              <a:chOff x="0" y="0"/>
              <a:chExt cx="19751040" cy="1365852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9751039" cy="1365852"/>
              </a:xfrm>
              <a:custGeom>
                <a:avLst/>
                <a:gdLst/>
                <a:ahLst/>
                <a:cxnLst/>
                <a:rect l="l" t="t" r="r" b="b"/>
                <a:pathLst>
                  <a:path w="19751039" h="1365852">
                    <a:moveTo>
                      <a:pt x="0" y="0"/>
                    </a:moveTo>
                    <a:lnTo>
                      <a:pt x="19751039" y="0"/>
                    </a:lnTo>
                    <a:lnTo>
                      <a:pt x="19751039" y="1365852"/>
                    </a:lnTo>
                    <a:lnTo>
                      <a:pt x="0" y="136585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38249" b="-2252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85725"/>
                <a:ext cx="19751040" cy="1451577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4799"/>
                  </a:lnSpc>
                </a:pPr>
                <a:r>
                  <a:rPr lang="en-US" sz="3999">
                    <a:solidFill>
                      <a:srgbClr val="1A1A2E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AFIO hospital visit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0" y="3627404"/>
              <a:ext cx="22470269" cy="1386948"/>
              <a:chOff x="0" y="0"/>
              <a:chExt cx="22128480" cy="1365852"/>
            </a:xfrm>
          </p:grpSpPr>
          <p:sp>
            <p:nvSpPr>
              <p:cNvPr id="27" name="Freeform 27"/>
              <p:cNvSpPr/>
              <p:nvPr/>
            </p:nvSpPr>
            <p:spPr>
              <a:xfrm>
                <a:off x="0" y="0"/>
                <a:ext cx="22128480" cy="1365852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365852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365852"/>
                    </a:lnTo>
                    <a:lnTo>
                      <a:pt x="0" y="1365852"/>
                    </a:lnTo>
                    <a:close/>
                  </a:path>
                </a:pathLst>
              </a:custGeom>
              <a:solidFill>
                <a:srgbClr val="F7F8FC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8" name="Group 28"/>
            <p:cNvGrpSpPr/>
            <p:nvPr/>
          </p:nvGrpSpPr>
          <p:grpSpPr>
            <a:xfrm>
              <a:off x="464262" y="3883456"/>
              <a:ext cx="779960" cy="896182"/>
              <a:chOff x="0" y="0"/>
              <a:chExt cx="768096" cy="882550"/>
            </a:xfrm>
          </p:grpSpPr>
          <p:sp>
            <p:nvSpPr>
              <p:cNvPr id="29" name="Freeform 29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441275"/>
                    </a:moveTo>
                    <a:cubicBezTo>
                      <a:pt x="0" y="197582"/>
                      <a:pt x="171958" y="0"/>
                      <a:pt x="384048" y="0"/>
                    </a:cubicBezTo>
                    <a:cubicBezTo>
                      <a:pt x="596138" y="0"/>
                      <a:pt x="768096" y="197582"/>
                      <a:pt x="768096" y="441275"/>
                    </a:cubicBezTo>
                    <a:cubicBezTo>
                      <a:pt x="768096" y="684969"/>
                      <a:pt x="596138" y="882550"/>
                      <a:pt x="384048" y="882550"/>
                    </a:cubicBezTo>
                    <a:cubicBezTo>
                      <a:pt x="171958" y="882550"/>
                      <a:pt x="0" y="684969"/>
                      <a:pt x="0" y="441275"/>
                    </a:cubicBezTo>
                    <a:close/>
                  </a:path>
                </a:pathLst>
              </a:custGeom>
              <a:solidFill>
                <a:srgbClr val="1E2761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464262" y="3883456"/>
              <a:ext cx="779960" cy="896182"/>
              <a:chOff x="0" y="0"/>
              <a:chExt cx="768096" cy="88255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0"/>
                    </a:moveTo>
                    <a:lnTo>
                      <a:pt x="768096" y="0"/>
                    </a:lnTo>
                    <a:lnTo>
                      <a:pt x="768096" y="882550"/>
                    </a:lnTo>
                    <a:lnTo>
                      <a:pt x="0" y="88255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 b="12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768096" cy="93017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059"/>
                  </a:lnSpc>
                </a:pPr>
                <a:r>
                  <a:rPr lang="en-US" sz="2549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3</a:t>
                </a:r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671342" y="3627404"/>
              <a:ext cx="20056108" cy="1386948"/>
              <a:chOff x="0" y="0"/>
              <a:chExt cx="19751040" cy="1365852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19751039" cy="1365852"/>
              </a:xfrm>
              <a:custGeom>
                <a:avLst/>
                <a:gdLst/>
                <a:ahLst/>
                <a:cxnLst/>
                <a:rect l="l" t="t" r="r" b="b"/>
                <a:pathLst>
                  <a:path w="19751039" h="1365852">
                    <a:moveTo>
                      <a:pt x="0" y="0"/>
                    </a:moveTo>
                    <a:lnTo>
                      <a:pt x="19751039" y="0"/>
                    </a:lnTo>
                    <a:lnTo>
                      <a:pt x="19751039" y="1365852"/>
                    </a:lnTo>
                    <a:lnTo>
                      <a:pt x="0" y="136585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38249" b="-2252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0" y="-85725"/>
                <a:ext cx="19751040" cy="1451577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4799"/>
                  </a:lnSpc>
                </a:pPr>
                <a:r>
                  <a:rPr lang="en-US" sz="3999">
                    <a:solidFill>
                      <a:srgbClr val="1A1A2E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Workflow observations</a:t>
                </a:r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0" y="5441105"/>
              <a:ext cx="22470269" cy="1386948"/>
              <a:chOff x="0" y="0"/>
              <a:chExt cx="22128480" cy="1365852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2128480" cy="1365852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365852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365852"/>
                    </a:lnTo>
                    <a:lnTo>
                      <a:pt x="0" y="1365852"/>
                    </a:lnTo>
                    <a:close/>
                  </a:path>
                </a:pathLst>
              </a:custGeom>
              <a:solidFill>
                <a:srgbClr val="F7F8FC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464262" y="5697157"/>
              <a:ext cx="779960" cy="896182"/>
              <a:chOff x="0" y="0"/>
              <a:chExt cx="768096" cy="88255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441275"/>
                    </a:moveTo>
                    <a:cubicBezTo>
                      <a:pt x="0" y="197582"/>
                      <a:pt x="171958" y="0"/>
                      <a:pt x="384048" y="0"/>
                    </a:cubicBezTo>
                    <a:cubicBezTo>
                      <a:pt x="596138" y="0"/>
                      <a:pt x="768096" y="197582"/>
                      <a:pt x="768096" y="441275"/>
                    </a:cubicBezTo>
                    <a:cubicBezTo>
                      <a:pt x="768096" y="684969"/>
                      <a:pt x="596138" y="882550"/>
                      <a:pt x="384048" y="882550"/>
                    </a:cubicBezTo>
                    <a:cubicBezTo>
                      <a:pt x="171958" y="882550"/>
                      <a:pt x="0" y="684969"/>
                      <a:pt x="0" y="441275"/>
                    </a:cubicBezTo>
                    <a:close/>
                  </a:path>
                </a:pathLst>
              </a:custGeom>
              <a:solidFill>
                <a:srgbClr val="1E2761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0" name="Group 40"/>
            <p:cNvGrpSpPr/>
            <p:nvPr/>
          </p:nvGrpSpPr>
          <p:grpSpPr>
            <a:xfrm>
              <a:off x="464262" y="5697157"/>
              <a:ext cx="779960" cy="896182"/>
              <a:chOff x="0" y="0"/>
              <a:chExt cx="768096" cy="882550"/>
            </a:xfrm>
          </p:grpSpPr>
          <p:sp>
            <p:nvSpPr>
              <p:cNvPr id="41" name="Freeform 41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0"/>
                    </a:moveTo>
                    <a:lnTo>
                      <a:pt x="768096" y="0"/>
                    </a:lnTo>
                    <a:lnTo>
                      <a:pt x="768096" y="882550"/>
                    </a:lnTo>
                    <a:lnTo>
                      <a:pt x="0" y="88255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 b="12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0" y="-47625"/>
                <a:ext cx="768096" cy="93017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059"/>
                  </a:lnSpc>
                </a:pPr>
                <a:r>
                  <a:rPr lang="en-US" sz="2549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4</a:t>
                </a:r>
              </a:p>
            </p:txBody>
          </p:sp>
        </p:grpSp>
        <p:grpSp>
          <p:nvGrpSpPr>
            <p:cNvPr id="43" name="Group 43"/>
            <p:cNvGrpSpPr/>
            <p:nvPr/>
          </p:nvGrpSpPr>
          <p:grpSpPr>
            <a:xfrm>
              <a:off x="1671342" y="5441105"/>
              <a:ext cx="20056108" cy="1386948"/>
              <a:chOff x="0" y="0"/>
              <a:chExt cx="19751040" cy="1365852"/>
            </a:xfrm>
          </p:grpSpPr>
          <p:sp>
            <p:nvSpPr>
              <p:cNvPr id="44" name="Freeform 44"/>
              <p:cNvSpPr/>
              <p:nvPr/>
            </p:nvSpPr>
            <p:spPr>
              <a:xfrm>
                <a:off x="0" y="0"/>
                <a:ext cx="19751039" cy="1365852"/>
              </a:xfrm>
              <a:custGeom>
                <a:avLst/>
                <a:gdLst/>
                <a:ahLst/>
                <a:cxnLst/>
                <a:rect l="l" t="t" r="r" b="b"/>
                <a:pathLst>
                  <a:path w="19751039" h="1365852">
                    <a:moveTo>
                      <a:pt x="0" y="0"/>
                    </a:moveTo>
                    <a:lnTo>
                      <a:pt x="19751039" y="0"/>
                    </a:lnTo>
                    <a:lnTo>
                      <a:pt x="19751039" y="1365852"/>
                    </a:lnTo>
                    <a:lnTo>
                      <a:pt x="0" y="136585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38249" b="-2252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0" y="-85725"/>
                <a:ext cx="19751040" cy="1451577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4799"/>
                  </a:lnSpc>
                </a:pPr>
                <a:r>
                  <a:rPr lang="en-US" sz="3999">
                    <a:solidFill>
                      <a:srgbClr val="1A1A2E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Refined project direction</a:t>
                </a:r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0" y="7254807"/>
              <a:ext cx="22470269" cy="1386948"/>
              <a:chOff x="0" y="0"/>
              <a:chExt cx="22128480" cy="1365852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22128480" cy="1365852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365852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365852"/>
                    </a:lnTo>
                    <a:lnTo>
                      <a:pt x="0" y="1365852"/>
                    </a:lnTo>
                    <a:close/>
                  </a:path>
                </a:pathLst>
              </a:custGeom>
              <a:solidFill>
                <a:srgbClr val="F7F8FC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464262" y="7510859"/>
              <a:ext cx="779960" cy="896182"/>
              <a:chOff x="0" y="0"/>
              <a:chExt cx="768096" cy="88255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441275"/>
                    </a:moveTo>
                    <a:cubicBezTo>
                      <a:pt x="0" y="197582"/>
                      <a:pt x="171958" y="0"/>
                      <a:pt x="384048" y="0"/>
                    </a:cubicBezTo>
                    <a:cubicBezTo>
                      <a:pt x="596138" y="0"/>
                      <a:pt x="768096" y="197582"/>
                      <a:pt x="768096" y="441275"/>
                    </a:cubicBezTo>
                    <a:cubicBezTo>
                      <a:pt x="768096" y="684969"/>
                      <a:pt x="596138" y="882550"/>
                      <a:pt x="384048" y="882550"/>
                    </a:cubicBezTo>
                    <a:cubicBezTo>
                      <a:pt x="171958" y="882550"/>
                      <a:pt x="0" y="684969"/>
                      <a:pt x="0" y="441275"/>
                    </a:cubicBezTo>
                    <a:close/>
                  </a:path>
                </a:pathLst>
              </a:custGeom>
              <a:solidFill>
                <a:srgbClr val="1E2761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50" name="Group 50"/>
            <p:cNvGrpSpPr/>
            <p:nvPr/>
          </p:nvGrpSpPr>
          <p:grpSpPr>
            <a:xfrm>
              <a:off x="464262" y="7510859"/>
              <a:ext cx="779960" cy="896182"/>
              <a:chOff x="0" y="0"/>
              <a:chExt cx="768096" cy="882550"/>
            </a:xfrm>
          </p:grpSpPr>
          <p:sp>
            <p:nvSpPr>
              <p:cNvPr id="51" name="Freeform 51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0"/>
                    </a:moveTo>
                    <a:lnTo>
                      <a:pt x="768096" y="0"/>
                    </a:lnTo>
                    <a:lnTo>
                      <a:pt x="768096" y="882550"/>
                    </a:lnTo>
                    <a:lnTo>
                      <a:pt x="0" y="88255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 b="12968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TextBox 52"/>
              <p:cNvSpPr txBox="1"/>
              <p:nvPr/>
            </p:nvSpPr>
            <p:spPr>
              <a:xfrm>
                <a:off x="0" y="-47625"/>
                <a:ext cx="768096" cy="93017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059"/>
                  </a:lnSpc>
                </a:pPr>
                <a:r>
                  <a:rPr lang="en-US" sz="2549" b="1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5</a:t>
                </a:r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1671342" y="7254807"/>
              <a:ext cx="20056108" cy="1386948"/>
              <a:chOff x="0" y="0"/>
              <a:chExt cx="19751040" cy="1365852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19751039" cy="1365852"/>
              </a:xfrm>
              <a:custGeom>
                <a:avLst/>
                <a:gdLst/>
                <a:ahLst/>
                <a:cxnLst/>
                <a:rect l="l" t="t" r="r" b="b"/>
                <a:pathLst>
                  <a:path w="19751039" h="1365852">
                    <a:moveTo>
                      <a:pt x="0" y="0"/>
                    </a:moveTo>
                    <a:lnTo>
                      <a:pt x="19751039" y="0"/>
                    </a:lnTo>
                    <a:lnTo>
                      <a:pt x="19751039" y="1365852"/>
                    </a:lnTo>
                    <a:lnTo>
                      <a:pt x="0" y="1365852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t="-238249" b="-225281"/>
                </a:stretch>
              </a:blip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0" y="-85725"/>
                <a:ext cx="19751040" cy="1451577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4799"/>
                  </a:lnSpc>
                </a:pPr>
                <a:r>
                  <a:rPr lang="en-US" sz="3999">
                    <a:solidFill>
                      <a:srgbClr val="1A1A2E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Next development roadmap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8">
            <a:extLst>
              <a:ext uri="{FF2B5EF4-FFF2-40B4-BE49-F238E27FC236}">
                <a16:creationId xmlns:a16="http://schemas.microsoft.com/office/drawing/2014/main" id="{17EBF6C8-45DF-E144-0B66-1F81F4BF14E6}"/>
              </a:ext>
            </a:extLst>
          </p:cNvPr>
          <p:cNvGrpSpPr/>
          <p:nvPr/>
        </p:nvGrpSpPr>
        <p:grpSpPr>
          <a:xfrm>
            <a:off x="6229536" y="5957578"/>
            <a:ext cx="4692209" cy="1399040"/>
            <a:chOff x="0" y="0"/>
            <a:chExt cx="3849227" cy="1853932"/>
          </a:xfrm>
          <a:solidFill>
            <a:srgbClr val="EFE3C8"/>
          </a:solidFill>
        </p:grpSpPr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B0E6D60E-828C-1096-96E3-5396DE53A819}"/>
                </a:ext>
              </a:extLst>
            </p:cNvPr>
            <p:cNvSpPr/>
            <p:nvPr/>
          </p:nvSpPr>
          <p:spPr>
            <a:xfrm>
              <a:off x="0" y="0"/>
              <a:ext cx="3849227" cy="1853932"/>
            </a:xfrm>
            <a:custGeom>
              <a:avLst/>
              <a:gdLst/>
              <a:ahLst/>
              <a:cxnLst/>
              <a:rect l="l" t="t" r="r" b="b"/>
              <a:pathLst>
                <a:path w="3849227" h="1853932">
                  <a:moveTo>
                    <a:pt x="0" y="123595"/>
                  </a:moveTo>
                  <a:cubicBezTo>
                    <a:pt x="0" y="55360"/>
                    <a:pt x="36298" y="0"/>
                    <a:pt x="81036" y="0"/>
                  </a:cubicBezTo>
                  <a:lnTo>
                    <a:pt x="3768191" y="0"/>
                  </a:lnTo>
                  <a:cubicBezTo>
                    <a:pt x="3812929" y="0"/>
                    <a:pt x="3849227" y="55360"/>
                    <a:pt x="3849227" y="123595"/>
                  </a:cubicBezTo>
                  <a:lnTo>
                    <a:pt x="3849227" y="1730336"/>
                  </a:lnTo>
                  <a:cubicBezTo>
                    <a:pt x="3849227" y="1798571"/>
                    <a:pt x="3812929" y="1853932"/>
                    <a:pt x="3768191" y="1853932"/>
                  </a:cubicBezTo>
                  <a:lnTo>
                    <a:pt x="81036" y="1853932"/>
                  </a:lnTo>
                  <a:cubicBezTo>
                    <a:pt x="36298" y="1853932"/>
                    <a:pt x="0" y="1798571"/>
                    <a:pt x="0" y="1730336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8">
            <a:extLst>
              <a:ext uri="{FF2B5EF4-FFF2-40B4-BE49-F238E27FC236}">
                <a16:creationId xmlns:a16="http://schemas.microsoft.com/office/drawing/2014/main" id="{A01017C8-2C67-E7A0-A590-B6E594BC9222}"/>
              </a:ext>
            </a:extLst>
          </p:cNvPr>
          <p:cNvGrpSpPr/>
          <p:nvPr/>
        </p:nvGrpSpPr>
        <p:grpSpPr>
          <a:xfrm>
            <a:off x="786889" y="5977972"/>
            <a:ext cx="4692209" cy="1399040"/>
            <a:chOff x="0" y="0"/>
            <a:chExt cx="3849227" cy="1853932"/>
          </a:xfrm>
          <a:solidFill>
            <a:srgbClr val="EFE3C8"/>
          </a:solidFill>
        </p:grpSpPr>
        <p:sp>
          <p:nvSpPr>
            <p:cNvPr id="39" name="Freeform 9">
              <a:extLst>
                <a:ext uri="{FF2B5EF4-FFF2-40B4-BE49-F238E27FC236}">
                  <a16:creationId xmlns:a16="http://schemas.microsoft.com/office/drawing/2014/main" id="{2F8982CA-2657-68D3-D764-1D179AC44548}"/>
                </a:ext>
              </a:extLst>
            </p:cNvPr>
            <p:cNvSpPr/>
            <p:nvPr/>
          </p:nvSpPr>
          <p:spPr>
            <a:xfrm>
              <a:off x="0" y="0"/>
              <a:ext cx="3849227" cy="1853932"/>
            </a:xfrm>
            <a:custGeom>
              <a:avLst/>
              <a:gdLst/>
              <a:ahLst/>
              <a:cxnLst/>
              <a:rect l="l" t="t" r="r" b="b"/>
              <a:pathLst>
                <a:path w="3849227" h="1853932">
                  <a:moveTo>
                    <a:pt x="0" y="123595"/>
                  </a:moveTo>
                  <a:cubicBezTo>
                    <a:pt x="0" y="55360"/>
                    <a:pt x="36298" y="0"/>
                    <a:pt x="81036" y="0"/>
                  </a:cubicBezTo>
                  <a:lnTo>
                    <a:pt x="3768191" y="0"/>
                  </a:lnTo>
                  <a:cubicBezTo>
                    <a:pt x="3812929" y="0"/>
                    <a:pt x="3849227" y="55360"/>
                    <a:pt x="3849227" y="123595"/>
                  </a:cubicBezTo>
                  <a:lnTo>
                    <a:pt x="3849227" y="1730336"/>
                  </a:lnTo>
                  <a:cubicBezTo>
                    <a:pt x="3849227" y="1798571"/>
                    <a:pt x="3812929" y="1853932"/>
                    <a:pt x="3768191" y="1853932"/>
                  </a:cubicBezTo>
                  <a:lnTo>
                    <a:pt x="81036" y="1853932"/>
                  </a:lnTo>
                  <a:cubicBezTo>
                    <a:pt x="36298" y="1853932"/>
                    <a:pt x="0" y="1798571"/>
                    <a:pt x="0" y="1730336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8">
            <a:extLst>
              <a:ext uri="{FF2B5EF4-FFF2-40B4-BE49-F238E27FC236}">
                <a16:creationId xmlns:a16="http://schemas.microsoft.com/office/drawing/2014/main" id="{4E8E27B8-5595-2559-4FD2-1C8AD0D5709A}"/>
              </a:ext>
            </a:extLst>
          </p:cNvPr>
          <p:cNvGrpSpPr/>
          <p:nvPr/>
        </p:nvGrpSpPr>
        <p:grpSpPr>
          <a:xfrm>
            <a:off x="6229536" y="3843246"/>
            <a:ext cx="4692209" cy="1399040"/>
            <a:chOff x="0" y="0"/>
            <a:chExt cx="3849227" cy="1853932"/>
          </a:xfrm>
          <a:solidFill>
            <a:srgbClr val="EFE3C8"/>
          </a:solidFill>
        </p:grpSpPr>
        <p:sp>
          <p:nvSpPr>
            <p:cNvPr id="37" name="Freeform 9">
              <a:extLst>
                <a:ext uri="{FF2B5EF4-FFF2-40B4-BE49-F238E27FC236}">
                  <a16:creationId xmlns:a16="http://schemas.microsoft.com/office/drawing/2014/main" id="{7AF545DC-4FB0-A1E9-212C-186F28BEF05F}"/>
                </a:ext>
              </a:extLst>
            </p:cNvPr>
            <p:cNvSpPr/>
            <p:nvPr/>
          </p:nvSpPr>
          <p:spPr>
            <a:xfrm>
              <a:off x="0" y="0"/>
              <a:ext cx="3849227" cy="1853932"/>
            </a:xfrm>
            <a:custGeom>
              <a:avLst/>
              <a:gdLst/>
              <a:ahLst/>
              <a:cxnLst/>
              <a:rect l="l" t="t" r="r" b="b"/>
              <a:pathLst>
                <a:path w="3849227" h="1853932">
                  <a:moveTo>
                    <a:pt x="0" y="123595"/>
                  </a:moveTo>
                  <a:cubicBezTo>
                    <a:pt x="0" y="55360"/>
                    <a:pt x="36298" y="0"/>
                    <a:pt x="81036" y="0"/>
                  </a:cubicBezTo>
                  <a:lnTo>
                    <a:pt x="3768191" y="0"/>
                  </a:lnTo>
                  <a:cubicBezTo>
                    <a:pt x="3812929" y="0"/>
                    <a:pt x="3849227" y="55360"/>
                    <a:pt x="3849227" y="123595"/>
                  </a:cubicBezTo>
                  <a:lnTo>
                    <a:pt x="3849227" y="1730336"/>
                  </a:lnTo>
                  <a:cubicBezTo>
                    <a:pt x="3849227" y="1798571"/>
                    <a:pt x="3812929" y="1853932"/>
                    <a:pt x="3768191" y="1853932"/>
                  </a:cubicBezTo>
                  <a:lnTo>
                    <a:pt x="81036" y="1853932"/>
                  </a:lnTo>
                  <a:cubicBezTo>
                    <a:pt x="36298" y="1853932"/>
                    <a:pt x="0" y="1798571"/>
                    <a:pt x="0" y="1730336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717307" y="-583360"/>
            <a:ext cx="16596360" cy="3516209"/>
            <a:chOff x="0" y="0"/>
            <a:chExt cx="22128480" cy="46882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128480" cy="4688279"/>
            </a:xfrm>
            <a:custGeom>
              <a:avLst/>
              <a:gdLst/>
              <a:ahLst/>
              <a:cxnLst/>
              <a:rect l="l" t="t" r="r" b="b"/>
              <a:pathLst>
                <a:path w="22128480" h="4688279">
                  <a:moveTo>
                    <a:pt x="0" y="0"/>
                  </a:moveTo>
                  <a:lnTo>
                    <a:pt x="22128480" y="0"/>
                  </a:lnTo>
                  <a:lnTo>
                    <a:pt x="22128480" y="4688279"/>
                  </a:lnTo>
                  <a:lnTo>
                    <a:pt x="0" y="468827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415" b="-952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2128480" cy="46978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759"/>
                </a:lnSpc>
              </a:pPr>
              <a:r>
                <a:rPr lang="en-US" sz="4799" b="1" dirty="0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Commandant Meeting: Requirements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52476" y="0"/>
            <a:ext cx="7645637" cy="3548944"/>
            <a:chOff x="0" y="0"/>
            <a:chExt cx="11896107" cy="552192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1896107" cy="4614253"/>
            </a:xfrm>
            <a:custGeom>
              <a:avLst/>
              <a:gdLst/>
              <a:ahLst/>
              <a:cxnLst/>
              <a:rect l="l" t="t" r="r" b="b"/>
              <a:pathLst>
                <a:path w="11896107" h="4614253">
                  <a:moveTo>
                    <a:pt x="0" y="0"/>
                  </a:moveTo>
                  <a:lnTo>
                    <a:pt x="11896107" y="0"/>
                  </a:lnTo>
                  <a:lnTo>
                    <a:pt x="11896107" y="4614253"/>
                  </a:lnTo>
                  <a:lnTo>
                    <a:pt x="0" y="461425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9399" r="7761" b="46728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3736963"/>
              <a:ext cx="11896107" cy="178496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59"/>
                </a:lnSpc>
              </a:pPr>
              <a:r>
                <a:rPr lang="en-US" sz="4049" b="1" dirty="0">
                  <a:solidFill>
                    <a:srgbClr val="1A1A2E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AFIO's Four Primary Agendas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776636" y="3822432"/>
            <a:ext cx="4692209" cy="1399040"/>
            <a:chOff x="0" y="0"/>
            <a:chExt cx="3849227" cy="1853932"/>
          </a:xfrm>
          <a:solidFill>
            <a:srgbClr val="EFE3C8"/>
          </a:solidFill>
        </p:grpSpPr>
        <p:sp>
          <p:nvSpPr>
            <p:cNvPr id="9" name="Freeform 9"/>
            <p:cNvSpPr/>
            <p:nvPr/>
          </p:nvSpPr>
          <p:spPr>
            <a:xfrm>
              <a:off x="0" y="0"/>
              <a:ext cx="3849227" cy="1853932"/>
            </a:xfrm>
            <a:custGeom>
              <a:avLst/>
              <a:gdLst/>
              <a:ahLst/>
              <a:cxnLst/>
              <a:rect l="l" t="t" r="r" b="b"/>
              <a:pathLst>
                <a:path w="3849227" h="1853932">
                  <a:moveTo>
                    <a:pt x="0" y="123595"/>
                  </a:moveTo>
                  <a:cubicBezTo>
                    <a:pt x="0" y="55360"/>
                    <a:pt x="36298" y="0"/>
                    <a:pt x="81036" y="0"/>
                  </a:cubicBezTo>
                  <a:lnTo>
                    <a:pt x="3768191" y="0"/>
                  </a:lnTo>
                  <a:cubicBezTo>
                    <a:pt x="3812929" y="0"/>
                    <a:pt x="3849227" y="55360"/>
                    <a:pt x="3849227" y="123595"/>
                  </a:cubicBezTo>
                  <a:lnTo>
                    <a:pt x="3849227" y="1730336"/>
                  </a:lnTo>
                  <a:cubicBezTo>
                    <a:pt x="3849227" y="1798571"/>
                    <a:pt x="3812929" y="1853932"/>
                    <a:pt x="3768191" y="1853932"/>
                  </a:cubicBezTo>
                  <a:lnTo>
                    <a:pt x="81036" y="1853932"/>
                  </a:lnTo>
                  <a:cubicBezTo>
                    <a:pt x="36298" y="1853932"/>
                    <a:pt x="0" y="1798571"/>
                    <a:pt x="0" y="1730336"/>
                  </a:cubicBez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55099" y="3972938"/>
            <a:ext cx="4309610" cy="919843"/>
            <a:chOff x="0" y="0"/>
            <a:chExt cx="3673439" cy="295695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673439" cy="2956955"/>
            </a:xfrm>
            <a:custGeom>
              <a:avLst/>
              <a:gdLst/>
              <a:ahLst/>
              <a:cxnLst/>
              <a:rect l="l" t="t" r="r" b="b"/>
              <a:pathLst>
                <a:path w="3673439" h="2956955">
                  <a:moveTo>
                    <a:pt x="0" y="0"/>
                  </a:moveTo>
                  <a:lnTo>
                    <a:pt x="3673439" y="0"/>
                  </a:lnTo>
                  <a:lnTo>
                    <a:pt x="3673439" y="2956955"/>
                  </a:lnTo>
                  <a:lnTo>
                    <a:pt x="0" y="2956955"/>
                  </a:lnTo>
                  <a:close/>
                </a:path>
              </a:pathLst>
            </a:custGeom>
            <a:solidFill>
              <a:srgbClr val="313B82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3673439" cy="29664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919"/>
                </a:lnSpc>
              </a:pPr>
              <a:r>
                <a:rPr lang="en-US" sz="3600" b="1" dirty="0">
                  <a:solidFill>
                    <a:schemeClr val="tx2">
                      <a:lumMod val="75000"/>
                    </a:schemeClr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Memory Bank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721996" y="6231400"/>
            <a:ext cx="4817883" cy="957202"/>
            <a:chOff x="0" y="0"/>
            <a:chExt cx="3673439" cy="16459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3673439" cy="1645920"/>
            </a:xfrm>
            <a:custGeom>
              <a:avLst/>
              <a:gdLst/>
              <a:ahLst/>
              <a:cxnLst/>
              <a:rect l="l" t="t" r="r" b="b"/>
              <a:pathLst>
                <a:path w="3673439" h="1645920">
                  <a:moveTo>
                    <a:pt x="0" y="0"/>
                  </a:moveTo>
                  <a:lnTo>
                    <a:pt x="3673439" y="0"/>
                  </a:lnTo>
                  <a:lnTo>
                    <a:pt x="3673439" y="1645920"/>
                  </a:lnTo>
                  <a:lnTo>
                    <a:pt x="0" y="1645920"/>
                  </a:lnTo>
                  <a:close/>
                </a:path>
              </a:pathLst>
            </a:custGeom>
            <a:solidFill>
              <a:srgbClr val="313B82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85725"/>
              <a:ext cx="3673439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919"/>
                </a:lnSpc>
              </a:pPr>
              <a:r>
                <a:rPr lang="en-US" sz="3600" b="1" dirty="0">
                  <a:solidFill>
                    <a:schemeClr val="tx2">
                      <a:lumMod val="75000"/>
                    </a:schemeClr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Image Integration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669211" y="3875609"/>
            <a:ext cx="6206525" cy="4263079"/>
            <a:chOff x="0" y="0"/>
            <a:chExt cx="10054863" cy="6906389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054862" cy="6906389"/>
            </a:xfrm>
            <a:custGeom>
              <a:avLst/>
              <a:gdLst/>
              <a:ahLst/>
              <a:cxnLst/>
              <a:rect l="l" t="t" r="r" b="b"/>
              <a:pathLst>
                <a:path w="10054862" h="6906389">
                  <a:moveTo>
                    <a:pt x="0" y="0"/>
                  </a:moveTo>
                  <a:lnTo>
                    <a:pt x="10054862" y="0"/>
                  </a:lnTo>
                  <a:lnTo>
                    <a:pt x="10054862" y="6906389"/>
                  </a:lnTo>
                  <a:lnTo>
                    <a:pt x="0" y="6906389"/>
                  </a:lnTo>
                  <a:close/>
                </a:path>
              </a:pathLst>
            </a:custGeom>
            <a:solidFill>
              <a:srgbClr val="313B8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1879767" y="4223940"/>
            <a:ext cx="6025921" cy="3440561"/>
            <a:chOff x="0" y="-349098"/>
            <a:chExt cx="9375936" cy="9543463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9048325" cy="9194365"/>
            </a:xfrm>
            <a:custGeom>
              <a:avLst/>
              <a:gdLst/>
              <a:ahLst/>
              <a:cxnLst/>
              <a:rect l="l" t="t" r="r" b="b"/>
              <a:pathLst>
                <a:path w="9048325" h="9194365">
                  <a:moveTo>
                    <a:pt x="0" y="0"/>
                  </a:moveTo>
                  <a:lnTo>
                    <a:pt x="9048325" y="0"/>
                  </a:lnTo>
                  <a:lnTo>
                    <a:pt x="9048325" y="9194365"/>
                  </a:lnTo>
                  <a:lnTo>
                    <a:pt x="0" y="9194365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2917" r="-144558" b="4912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27611" y="-349098"/>
              <a:ext cx="9048325" cy="919436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349"/>
                </a:lnSpc>
              </a:pPr>
              <a:r>
                <a:rPr lang="en-US" sz="2800" b="1" i="1" dirty="0">
                  <a:solidFill>
                    <a:srgbClr val="FFFFFF"/>
                  </a:solidFill>
                  <a:latin typeface="Cambria Bold Italics"/>
                  <a:ea typeface="Cambria Bold Italics"/>
                  <a:cs typeface="Cambria Bold Italics"/>
                  <a:sym typeface="Cambria Bold Italics"/>
                </a:rPr>
                <a:t>Additional requests: </a:t>
              </a:r>
            </a:p>
            <a:p>
              <a:pPr marL="782627" lvl="1" indent="-391314" algn="l">
                <a:lnSpc>
                  <a:spcPts val="4349"/>
                </a:lnSpc>
                <a:buFont typeface="Arial"/>
                <a:buChar char="•"/>
              </a:pPr>
              <a:r>
                <a:rPr lang="en-US" sz="2800" i="1" dirty="0">
                  <a:solidFill>
                    <a:srgbClr val="FFFFFF"/>
                  </a:solidFill>
                  <a:latin typeface="Cambria Italics"/>
                  <a:ea typeface="Cambria Italics"/>
                  <a:cs typeface="Cambria Italics"/>
                  <a:sym typeface="Cambria Italics"/>
                </a:rPr>
                <a:t>continuous ophthalmologist feedback  </a:t>
              </a:r>
            </a:p>
            <a:p>
              <a:pPr marL="782627" lvl="1" indent="-391314" algn="l">
                <a:lnSpc>
                  <a:spcPts val="4349"/>
                </a:lnSpc>
                <a:buFont typeface="Arial"/>
                <a:buChar char="•"/>
              </a:pPr>
              <a:r>
                <a:rPr lang="en-US" sz="2800" i="1" dirty="0">
                  <a:solidFill>
                    <a:srgbClr val="FFFFFF"/>
                  </a:solidFill>
                  <a:latin typeface="Cambria Italics"/>
                  <a:ea typeface="Cambria Italics"/>
                  <a:cs typeface="Cambria Italics"/>
                  <a:sym typeface="Cambria Italics"/>
                </a:rPr>
                <a:t>local clinical datasets  </a:t>
              </a:r>
            </a:p>
            <a:p>
              <a:pPr marL="782627" lvl="1" indent="-391314" algn="l">
                <a:lnSpc>
                  <a:spcPts val="4349"/>
                </a:lnSpc>
                <a:buFont typeface="Arial"/>
                <a:buChar char="•"/>
              </a:pPr>
              <a:r>
                <a:rPr lang="en-US" sz="2800" i="1" dirty="0">
                  <a:solidFill>
                    <a:srgbClr val="FFFFFF"/>
                  </a:solidFill>
                  <a:latin typeface="Cambria Italics"/>
                  <a:ea typeface="Cambria Italics"/>
                  <a:cs typeface="Cambria Italics"/>
                  <a:sym typeface="Cambria Italics"/>
                </a:rPr>
                <a:t>validation using AFIO images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6315977" y="6068845"/>
            <a:ext cx="4309610" cy="124152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ctr">
              <a:lnSpc>
                <a:spcPts val="4919"/>
              </a:lnSpc>
            </a:pPr>
            <a:r>
              <a:rPr lang="en-US" sz="3600" b="1" dirty="0">
                <a:solidFill>
                  <a:schemeClr val="tx2">
                    <a:lumMod val="75000"/>
                  </a:schemeClr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AI-based Report Generation</a:t>
            </a:r>
          </a:p>
        </p:txBody>
      </p:sp>
      <p:sp>
        <p:nvSpPr>
          <p:cNvPr id="44" name="TextBox 12">
            <a:extLst>
              <a:ext uri="{FF2B5EF4-FFF2-40B4-BE49-F238E27FC236}">
                <a16:creationId xmlns:a16="http://schemas.microsoft.com/office/drawing/2014/main" id="{C068E093-97F0-1FDA-B3A8-6063067DF4AC}"/>
              </a:ext>
            </a:extLst>
          </p:cNvPr>
          <p:cNvSpPr txBox="1"/>
          <p:nvPr/>
        </p:nvSpPr>
        <p:spPr>
          <a:xfrm>
            <a:off x="6390849" y="4033135"/>
            <a:ext cx="4309610" cy="92280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ctr">
              <a:lnSpc>
                <a:spcPts val="4919"/>
              </a:lnSpc>
            </a:pPr>
            <a:r>
              <a:rPr lang="en-US" sz="3600" b="1" dirty="0">
                <a:solidFill>
                  <a:schemeClr val="tx2">
                    <a:lumMod val="75000"/>
                  </a:schemeClr>
                </a:solidFill>
                <a:latin typeface="Cambria Bold"/>
                <a:ea typeface="Cambria Bold"/>
                <a:cs typeface="Cambria Bold"/>
                <a:sym typeface="Cambria Bold"/>
              </a:rPr>
              <a:t>Teleophthalmology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8303" y="120530"/>
            <a:ext cx="16706757" cy="3509464"/>
            <a:chOff x="-147196" y="-274493"/>
            <a:chExt cx="22275676" cy="467928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128480" cy="4404792"/>
            </a:xfrm>
            <a:custGeom>
              <a:avLst/>
              <a:gdLst/>
              <a:ahLst/>
              <a:cxnLst/>
              <a:rect l="l" t="t" r="r" b="b"/>
              <a:pathLst>
                <a:path w="22128480" h="4404792">
                  <a:moveTo>
                    <a:pt x="0" y="0"/>
                  </a:moveTo>
                  <a:lnTo>
                    <a:pt x="22128480" y="0"/>
                  </a:lnTo>
                  <a:lnTo>
                    <a:pt x="22128480" y="4404792"/>
                  </a:lnTo>
                  <a:lnTo>
                    <a:pt x="0" y="4404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9204" b="-1657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-147196" y="-274493"/>
              <a:ext cx="22128480" cy="44238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AFIO Visit: Current Hospital Workflow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18303" y="3206344"/>
            <a:ext cx="3465377" cy="1624718"/>
            <a:chOff x="0" y="0"/>
            <a:chExt cx="2596896" cy="1554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596896" cy="1554480"/>
            </a:xfrm>
            <a:custGeom>
              <a:avLst/>
              <a:gdLst/>
              <a:ahLst/>
              <a:cxnLst/>
              <a:rect l="l" t="t" r="r" b="b"/>
              <a:pathLst>
                <a:path w="2596896" h="155448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487168" y="0"/>
                  </a:lnTo>
                  <a:cubicBezTo>
                    <a:pt x="2547747" y="0"/>
                    <a:pt x="2596896" y="49149"/>
                    <a:pt x="2596896" y="109728"/>
                  </a:cubicBezTo>
                  <a:lnTo>
                    <a:pt x="2596896" y="1444752"/>
                  </a:lnTo>
                  <a:cubicBezTo>
                    <a:pt x="2596896" y="1505331"/>
                    <a:pt x="2547747" y="1554480"/>
                    <a:pt x="2487168" y="1554480"/>
                  </a:cubicBezTo>
                  <a:lnTo>
                    <a:pt x="109728" y="1554480"/>
                  </a:lnTo>
                  <a:cubicBezTo>
                    <a:pt x="49149" y="1554480"/>
                    <a:pt x="0" y="1505331"/>
                    <a:pt x="0" y="1444752"/>
                  </a:cubicBezTo>
                  <a:close/>
                </a:path>
              </a:pathLst>
            </a:custGeom>
            <a:solidFill>
              <a:srgbClr val="313B82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347884" y="3606071"/>
            <a:ext cx="2341704" cy="719854"/>
            <a:chOff x="0" y="0"/>
            <a:chExt cx="2113989" cy="3342337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13989" cy="3342337"/>
            </a:xfrm>
            <a:custGeom>
              <a:avLst/>
              <a:gdLst/>
              <a:ahLst/>
              <a:cxnLst/>
              <a:rect l="l" t="t" r="r" b="b"/>
              <a:pathLst>
                <a:path w="2113989" h="3342337">
                  <a:moveTo>
                    <a:pt x="0" y="0"/>
                  </a:moveTo>
                  <a:lnTo>
                    <a:pt x="2113989" y="0"/>
                  </a:lnTo>
                  <a:lnTo>
                    <a:pt x="2113989" y="3342337"/>
                  </a:lnTo>
                  <a:lnTo>
                    <a:pt x="0" y="3342337"/>
                  </a:lnTo>
                  <a:close/>
                </a:path>
              </a:pathLst>
            </a:custGeom>
            <a:solidFill>
              <a:srgbClr val="F7F8FC">
                <a:alpha val="0"/>
              </a:srgbClr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113989" cy="334233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49"/>
                </a:lnSpc>
              </a:pPr>
              <a:r>
                <a:rPr lang="en-US" sz="28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Patient Vitals &amp; AR check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5308870" y="3206343"/>
            <a:ext cx="3465377" cy="1624718"/>
            <a:chOff x="0" y="0"/>
            <a:chExt cx="2596896" cy="155448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596896" cy="1554480"/>
            </a:xfrm>
            <a:custGeom>
              <a:avLst/>
              <a:gdLst/>
              <a:ahLst/>
              <a:cxnLst/>
              <a:rect l="l" t="t" r="r" b="b"/>
              <a:pathLst>
                <a:path w="2596896" h="155448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487168" y="0"/>
                  </a:lnTo>
                  <a:cubicBezTo>
                    <a:pt x="2547747" y="0"/>
                    <a:pt x="2596896" y="49149"/>
                    <a:pt x="2596896" y="109728"/>
                  </a:cubicBezTo>
                  <a:lnTo>
                    <a:pt x="2596896" y="1444752"/>
                  </a:lnTo>
                  <a:cubicBezTo>
                    <a:pt x="2596896" y="1505331"/>
                    <a:pt x="2547747" y="1554480"/>
                    <a:pt x="2487168" y="1554480"/>
                  </a:cubicBezTo>
                  <a:lnTo>
                    <a:pt x="109728" y="1554480"/>
                  </a:lnTo>
                  <a:cubicBezTo>
                    <a:pt x="49149" y="1554480"/>
                    <a:pt x="0" y="1505331"/>
                    <a:pt x="0" y="1444752"/>
                  </a:cubicBezTo>
                  <a:close/>
                </a:path>
              </a:pathLst>
            </a:custGeom>
            <a:solidFill>
              <a:srgbClr val="313B82"/>
            </a:solidFill>
          </p:spPr>
          <p:txBody>
            <a:bodyPr/>
            <a:lstStyle/>
            <a:p>
              <a:endParaRPr lang="en-US" sz="1200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9699437" y="3206343"/>
            <a:ext cx="3465377" cy="1624718"/>
            <a:chOff x="0" y="0"/>
            <a:chExt cx="2596896" cy="15544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596896" cy="1554480"/>
            </a:xfrm>
            <a:custGeom>
              <a:avLst/>
              <a:gdLst/>
              <a:ahLst/>
              <a:cxnLst/>
              <a:rect l="l" t="t" r="r" b="b"/>
              <a:pathLst>
                <a:path w="2596896" h="155448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487168" y="0"/>
                  </a:lnTo>
                  <a:cubicBezTo>
                    <a:pt x="2547747" y="0"/>
                    <a:pt x="2596896" y="49149"/>
                    <a:pt x="2596896" y="109728"/>
                  </a:cubicBezTo>
                  <a:lnTo>
                    <a:pt x="2596896" y="1444752"/>
                  </a:lnTo>
                  <a:cubicBezTo>
                    <a:pt x="2596896" y="1505331"/>
                    <a:pt x="2547747" y="1554480"/>
                    <a:pt x="2487168" y="1554480"/>
                  </a:cubicBezTo>
                  <a:lnTo>
                    <a:pt x="109728" y="1554480"/>
                  </a:lnTo>
                  <a:cubicBezTo>
                    <a:pt x="49149" y="1554480"/>
                    <a:pt x="0" y="1505331"/>
                    <a:pt x="0" y="1444752"/>
                  </a:cubicBezTo>
                  <a:close/>
                </a:path>
              </a:pathLst>
            </a:custGeom>
            <a:solidFill>
              <a:srgbClr val="313B82"/>
            </a:solidFill>
          </p:spPr>
          <p:txBody>
            <a:bodyPr/>
            <a:lstStyle/>
            <a:p>
              <a:endParaRPr lang="en-US" sz="1200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864316" y="3489022"/>
            <a:ext cx="2941509" cy="961041"/>
            <a:chOff x="0" y="0"/>
            <a:chExt cx="2640295" cy="3342337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640295" cy="3342337"/>
            </a:xfrm>
            <a:custGeom>
              <a:avLst/>
              <a:gdLst/>
              <a:ahLst/>
              <a:cxnLst/>
              <a:rect l="l" t="t" r="r" b="b"/>
              <a:pathLst>
                <a:path w="2640295" h="3342337">
                  <a:moveTo>
                    <a:pt x="0" y="0"/>
                  </a:moveTo>
                  <a:lnTo>
                    <a:pt x="2640295" y="0"/>
                  </a:lnTo>
                  <a:lnTo>
                    <a:pt x="2640295" y="3342337"/>
                  </a:lnTo>
                  <a:lnTo>
                    <a:pt x="0" y="3342337"/>
                  </a:lnTo>
                  <a:close/>
                </a:path>
              </a:pathLst>
            </a:custGeom>
            <a:solidFill>
              <a:srgbClr val="F7F8FC">
                <a:alpha val="0"/>
              </a:srgbClr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21026" y="1289868"/>
              <a:ext cx="2013613" cy="71742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223"/>
                </a:lnSpc>
              </a:pPr>
              <a:r>
                <a:rPr lang="en-US" sz="24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Scan Requested</a:t>
              </a:r>
            </a:p>
            <a:p>
              <a:pPr algn="ctr">
                <a:lnSpc>
                  <a:spcPts val="4223"/>
                </a:lnSpc>
              </a:pPr>
              <a:r>
                <a:rPr lang="en-US" sz="24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(on suspicion)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4090004" y="3206343"/>
            <a:ext cx="3465377" cy="1624718"/>
            <a:chOff x="0" y="0"/>
            <a:chExt cx="2596896" cy="155448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596896" cy="1554480"/>
            </a:xfrm>
            <a:custGeom>
              <a:avLst/>
              <a:gdLst/>
              <a:ahLst/>
              <a:cxnLst/>
              <a:rect l="l" t="t" r="r" b="b"/>
              <a:pathLst>
                <a:path w="2596896" h="155448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487168" y="0"/>
                  </a:lnTo>
                  <a:cubicBezTo>
                    <a:pt x="2547747" y="0"/>
                    <a:pt x="2596896" y="49149"/>
                    <a:pt x="2596896" y="109728"/>
                  </a:cubicBezTo>
                  <a:lnTo>
                    <a:pt x="2596896" y="1444752"/>
                  </a:lnTo>
                  <a:cubicBezTo>
                    <a:pt x="2596896" y="1505331"/>
                    <a:pt x="2547747" y="1554480"/>
                    <a:pt x="2487168" y="1554480"/>
                  </a:cubicBezTo>
                  <a:lnTo>
                    <a:pt x="109728" y="1554480"/>
                  </a:lnTo>
                  <a:cubicBezTo>
                    <a:pt x="49149" y="1554480"/>
                    <a:pt x="0" y="1505331"/>
                    <a:pt x="0" y="1444752"/>
                  </a:cubicBezTo>
                  <a:close/>
                </a:path>
              </a:pathLst>
            </a:custGeom>
            <a:solidFill>
              <a:srgbClr val="313B82"/>
            </a:solidFill>
          </p:spPr>
          <p:txBody>
            <a:bodyPr/>
            <a:lstStyle/>
            <a:p>
              <a:endParaRPr lang="en-US" sz="1200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4468873" y="3462857"/>
            <a:ext cx="2552436" cy="987206"/>
            <a:chOff x="0" y="0"/>
            <a:chExt cx="2113989" cy="3342337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113989" cy="3342337"/>
            </a:xfrm>
            <a:custGeom>
              <a:avLst/>
              <a:gdLst/>
              <a:ahLst/>
              <a:cxnLst/>
              <a:rect l="l" t="t" r="r" b="b"/>
              <a:pathLst>
                <a:path w="2113989" h="3342337">
                  <a:moveTo>
                    <a:pt x="0" y="0"/>
                  </a:moveTo>
                  <a:lnTo>
                    <a:pt x="2113989" y="0"/>
                  </a:lnTo>
                  <a:lnTo>
                    <a:pt x="2113989" y="3342337"/>
                  </a:lnTo>
                  <a:lnTo>
                    <a:pt x="0" y="3342337"/>
                  </a:lnTo>
                  <a:close/>
                </a:path>
              </a:pathLst>
            </a:custGeom>
            <a:solidFill>
              <a:srgbClr val="F7F8FC">
                <a:alpha val="0"/>
              </a:srgbClr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0"/>
              <a:ext cx="2113989" cy="334233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44"/>
                </a:lnSpc>
              </a:pPr>
              <a:r>
                <a:rPr lang="en-US" sz="28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Technician performs scan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4452703" y="3477168"/>
            <a:ext cx="588146" cy="804224"/>
            <a:chOff x="0" y="0"/>
            <a:chExt cx="2836887" cy="4114958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2836887" cy="4114958"/>
            </a:xfrm>
            <a:custGeom>
              <a:avLst/>
              <a:gdLst/>
              <a:ahLst/>
              <a:cxnLst/>
              <a:rect l="l" t="t" r="r" b="b"/>
              <a:pathLst>
                <a:path w="2836887" h="4114958">
                  <a:moveTo>
                    <a:pt x="0" y="0"/>
                  </a:moveTo>
                  <a:lnTo>
                    <a:pt x="2836887" y="0"/>
                  </a:lnTo>
                  <a:lnTo>
                    <a:pt x="2836887" y="4114958"/>
                  </a:lnTo>
                  <a:lnTo>
                    <a:pt x="0" y="411495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4502" r="23893" b="622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9525"/>
              <a:ext cx="2836887" cy="41244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119"/>
                </a:lnSpc>
              </a:pPr>
              <a:r>
                <a:rPr lang="en-US" sz="5099" b="1" dirty="0">
                  <a:solidFill>
                    <a:srgbClr val="CADCF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→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4090004" y="6453685"/>
            <a:ext cx="3465377" cy="1624718"/>
            <a:chOff x="0" y="0"/>
            <a:chExt cx="2596896" cy="155448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596896" cy="1554480"/>
            </a:xfrm>
            <a:custGeom>
              <a:avLst/>
              <a:gdLst/>
              <a:ahLst/>
              <a:cxnLst/>
              <a:rect l="l" t="t" r="r" b="b"/>
              <a:pathLst>
                <a:path w="2596896" h="155448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487168" y="0"/>
                  </a:lnTo>
                  <a:cubicBezTo>
                    <a:pt x="2547747" y="0"/>
                    <a:pt x="2596896" y="49149"/>
                    <a:pt x="2596896" y="109728"/>
                  </a:cubicBezTo>
                  <a:lnTo>
                    <a:pt x="2596896" y="1444752"/>
                  </a:lnTo>
                  <a:cubicBezTo>
                    <a:pt x="2596896" y="1505331"/>
                    <a:pt x="2547747" y="1554480"/>
                    <a:pt x="2487168" y="1554480"/>
                  </a:cubicBezTo>
                  <a:lnTo>
                    <a:pt x="109728" y="1554480"/>
                  </a:lnTo>
                  <a:cubicBezTo>
                    <a:pt x="49149" y="1554480"/>
                    <a:pt x="0" y="1505331"/>
                    <a:pt x="0" y="1444752"/>
                  </a:cubicBezTo>
                  <a:close/>
                </a:path>
              </a:pathLst>
            </a:custGeom>
            <a:solidFill>
              <a:srgbClr val="313B82"/>
            </a:solidFill>
          </p:spPr>
          <p:txBody>
            <a:bodyPr/>
            <a:lstStyle/>
            <a:p>
              <a:endParaRPr lang="en-US" sz="1200"/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4623716" y="6661542"/>
            <a:ext cx="2330805" cy="1101199"/>
            <a:chOff x="0" y="0"/>
            <a:chExt cx="2113989" cy="3342337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2113989" cy="3342337"/>
            </a:xfrm>
            <a:custGeom>
              <a:avLst/>
              <a:gdLst/>
              <a:ahLst/>
              <a:cxnLst/>
              <a:rect l="l" t="t" r="r" b="b"/>
              <a:pathLst>
                <a:path w="2113989" h="3342337">
                  <a:moveTo>
                    <a:pt x="0" y="0"/>
                  </a:moveTo>
                  <a:lnTo>
                    <a:pt x="2113989" y="0"/>
                  </a:lnTo>
                  <a:lnTo>
                    <a:pt x="2113989" y="3342337"/>
                  </a:lnTo>
                  <a:lnTo>
                    <a:pt x="0" y="3342337"/>
                  </a:lnTo>
                  <a:close/>
                </a:path>
              </a:pathLst>
            </a:custGeom>
            <a:solidFill>
              <a:srgbClr val="F7F8FC">
                <a:alpha val="0"/>
              </a:srgbClr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0"/>
              <a:ext cx="2113989" cy="334233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464"/>
                </a:lnSpc>
              </a:pPr>
              <a:r>
                <a:rPr lang="en-US" sz="28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Software Report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691947" y="6350120"/>
            <a:ext cx="3465377" cy="1624718"/>
            <a:chOff x="0" y="0"/>
            <a:chExt cx="2596896" cy="155448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596896" cy="1554480"/>
            </a:xfrm>
            <a:custGeom>
              <a:avLst/>
              <a:gdLst/>
              <a:ahLst/>
              <a:cxnLst/>
              <a:rect l="l" t="t" r="r" b="b"/>
              <a:pathLst>
                <a:path w="2596896" h="155448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487168" y="0"/>
                  </a:lnTo>
                  <a:cubicBezTo>
                    <a:pt x="2547747" y="0"/>
                    <a:pt x="2596896" y="49149"/>
                    <a:pt x="2596896" y="109728"/>
                  </a:cubicBezTo>
                  <a:lnTo>
                    <a:pt x="2596896" y="1444752"/>
                  </a:lnTo>
                  <a:cubicBezTo>
                    <a:pt x="2596896" y="1505331"/>
                    <a:pt x="2547747" y="1554480"/>
                    <a:pt x="2487168" y="1554480"/>
                  </a:cubicBezTo>
                  <a:lnTo>
                    <a:pt x="109728" y="1554480"/>
                  </a:lnTo>
                  <a:cubicBezTo>
                    <a:pt x="49149" y="1554480"/>
                    <a:pt x="0" y="1505331"/>
                    <a:pt x="0" y="1444752"/>
                  </a:cubicBezTo>
                  <a:close/>
                </a:path>
              </a:pathLst>
            </a:custGeom>
            <a:solidFill>
              <a:srgbClr val="313B82"/>
            </a:solidFill>
          </p:spPr>
          <p:txBody>
            <a:bodyPr/>
            <a:lstStyle/>
            <a:p>
              <a:endParaRPr lang="en-US" sz="1200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0155630" y="6661542"/>
            <a:ext cx="2352348" cy="779289"/>
            <a:chOff x="0" y="0"/>
            <a:chExt cx="2113989" cy="3342337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2113989" cy="3342337"/>
            </a:xfrm>
            <a:custGeom>
              <a:avLst/>
              <a:gdLst/>
              <a:ahLst/>
              <a:cxnLst/>
              <a:rect l="l" t="t" r="r" b="b"/>
              <a:pathLst>
                <a:path w="2113989" h="3342337">
                  <a:moveTo>
                    <a:pt x="0" y="0"/>
                  </a:moveTo>
                  <a:lnTo>
                    <a:pt x="2113989" y="0"/>
                  </a:lnTo>
                  <a:lnTo>
                    <a:pt x="2113989" y="3342337"/>
                  </a:lnTo>
                  <a:lnTo>
                    <a:pt x="0" y="3342337"/>
                  </a:lnTo>
                  <a:close/>
                </a:path>
              </a:pathLst>
            </a:custGeom>
            <a:solidFill>
              <a:srgbClr val="F7F8FC">
                <a:alpha val="0"/>
              </a:srgbClr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0"/>
              <a:ext cx="2113989" cy="334233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469"/>
                </a:lnSpc>
              </a:pPr>
              <a:r>
                <a:rPr lang="en-US" sz="28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Print Report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263430" y="6362070"/>
            <a:ext cx="3465377" cy="1624718"/>
            <a:chOff x="0" y="0"/>
            <a:chExt cx="2596896" cy="155448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596896" cy="1554480"/>
            </a:xfrm>
            <a:custGeom>
              <a:avLst/>
              <a:gdLst/>
              <a:ahLst/>
              <a:cxnLst/>
              <a:rect l="l" t="t" r="r" b="b"/>
              <a:pathLst>
                <a:path w="2596896" h="155448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487168" y="0"/>
                  </a:lnTo>
                  <a:cubicBezTo>
                    <a:pt x="2547747" y="0"/>
                    <a:pt x="2596896" y="49149"/>
                    <a:pt x="2596896" y="109728"/>
                  </a:cubicBezTo>
                  <a:lnTo>
                    <a:pt x="2596896" y="1444752"/>
                  </a:lnTo>
                  <a:cubicBezTo>
                    <a:pt x="2596896" y="1505331"/>
                    <a:pt x="2547747" y="1554480"/>
                    <a:pt x="2487168" y="1554480"/>
                  </a:cubicBezTo>
                  <a:lnTo>
                    <a:pt x="109728" y="1554480"/>
                  </a:lnTo>
                  <a:cubicBezTo>
                    <a:pt x="49149" y="1554480"/>
                    <a:pt x="0" y="1505331"/>
                    <a:pt x="0" y="1444752"/>
                  </a:cubicBezTo>
                  <a:close/>
                </a:path>
              </a:pathLst>
            </a:custGeom>
            <a:solidFill>
              <a:srgbClr val="313B82"/>
            </a:solidFill>
          </p:spPr>
          <p:txBody>
            <a:bodyPr/>
            <a:lstStyle/>
            <a:p>
              <a:endParaRPr lang="en-US" sz="1200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5640664" y="6507008"/>
            <a:ext cx="2554886" cy="1101199"/>
            <a:chOff x="0" y="0"/>
            <a:chExt cx="2113989" cy="3342337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2113989" cy="3342337"/>
            </a:xfrm>
            <a:custGeom>
              <a:avLst/>
              <a:gdLst/>
              <a:ahLst/>
              <a:cxnLst/>
              <a:rect l="l" t="t" r="r" b="b"/>
              <a:pathLst>
                <a:path w="2113989" h="3342337">
                  <a:moveTo>
                    <a:pt x="0" y="0"/>
                  </a:moveTo>
                  <a:lnTo>
                    <a:pt x="2113989" y="0"/>
                  </a:lnTo>
                  <a:lnTo>
                    <a:pt x="2113989" y="3342337"/>
                  </a:lnTo>
                  <a:lnTo>
                    <a:pt x="0" y="3342337"/>
                  </a:lnTo>
                  <a:close/>
                </a:path>
              </a:pathLst>
            </a:custGeom>
            <a:solidFill>
              <a:srgbClr val="F7F8FC">
                <a:alpha val="0"/>
              </a:srgbClr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0"/>
              <a:ext cx="2113989" cy="334233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469"/>
                </a:lnSpc>
              </a:pPr>
              <a:r>
                <a:rPr lang="en-US" sz="28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Return to consultant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922968" y="6453685"/>
            <a:ext cx="3465377" cy="1624718"/>
            <a:chOff x="0" y="0"/>
            <a:chExt cx="2596896" cy="1554480"/>
          </a:xfrm>
        </p:grpSpPr>
        <p:sp>
          <p:nvSpPr>
            <p:cNvPr id="54" name="Freeform 54"/>
            <p:cNvSpPr/>
            <p:nvPr/>
          </p:nvSpPr>
          <p:spPr>
            <a:xfrm>
              <a:off x="0" y="0"/>
              <a:ext cx="2596896" cy="1554480"/>
            </a:xfrm>
            <a:custGeom>
              <a:avLst/>
              <a:gdLst/>
              <a:ahLst/>
              <a:cxnLst/>
              <a:rect l="l" t="t" r="r" b="b"/>
              <a:pathLst>
                <a:path w="2596896" h="1554480">
                  <a:moveTo>
                    <a:pt x="0" y="109728"/>
                  </a:moveTo>
                  <a:cubicBezTo>
                    <a:pt x="0" y="49149"/>
                    <a:pt x="49149" y="0"/>
                    <a:pt x="109728" y="0"/>
                  </a:cubicBezTo>
                  <a:lnTo>
                    <a:pt x="2487168" y="0"/>
                  </a:lnTo>
                  <a:cubicBezTo>
                    <a:pt x="2547747" y="0"/>
                    <a:pt x="2596896" y="49149"/>
                    <a:pt x="2596896" y="109728"/>
                  </a:cubicBezTo>
                  <a:lnTo>
                    <a:pt x="2596896" y="1444752"/>
                  </a:lnTo>
                  <a:cubicBezTo>
                    <a:pt x="2596896" y="1505331"/>
                    <a:pt x="2547747" y="1554480"/>
                    <a:pt x="2487168" y="1554480"/>
                  </a:cubicBezTo>
                  <a:lnTo>
                    <a:pt x="109728" y="1554480"/>
                  </a:lnTo>
                  <a:cubicBezTo>
                    <a:pt x="49149" y="1554480"/>
                    <a:pt x="0" y="1505331"/>
                    <a:pt x="0" y="1444752"/>
                  </a:cubicBezTo>
                  <a:close/>
                </a:path>
              </a:pathLst>
            </a:custGeom>
            <a:solidFill>
              <a:srgbClr val="D9A441"/>
            </a:solidFill>
          </p:spPr>
          <p:txBody>
            <a:bodyPr/>
            <a:lstStyle/>
            <a:p>
              <a:endParaRPr lang="en-US" sz="1200"/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250340" y="6603253"/>
            <a:ext cx="2646099" cy="1217776"/>
            <a:chOff x="0" y="0"/>
            <a:chExt cx="2113989" cy="3342337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2113989" cy="3342337"/>
            </a:xfrm>
            <a:custGeom>
              <a:avLst/>
              <a:gdLst/>
              <a:ahLst/>
              <a:cxnLst/>
              <a:rect l="l" t="t" r="r" b="b"/>
              <a:pathLst>
                <a:path w="2113989" h="3342337">
                  <a:moveTo>
                    <a:pt x="0" y="0"/>
                  </a:moveTo>
                  <a:lnTo>
                    <a:pt x="2113989" y="0"/>
                  </a:lnTo>
                  <a:lnTo>
                    <a:pt x="2113989" y="3342337"/>
                  </a:lnTo>
                  <a:lnTo>
                    <a:pt x="0" y="3342337"/>
                  </a:lnTo>
                  <a:close/>
                </a:path>
              </a:pathLst>
            </a:custGeom>
            <a:solidFill>
              <a:srgbClr val="F7F8FC">
                <a:alpha val="0"/>
              </a:srgbClr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0"/>
              <a:ext cx="2113989" cy="334233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49"/>
                </a:lnSpc>
              </a:pPr>
              <a:r>
                <a:rPr lang="en-US" sz="28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Referred to specialist</a:t>
              </a:r>
            </a:p>
            <a:p>
              <a:pPr algn="ctr">
                <a:lnSpc>
                  <a:spcPts val="3629"/>
                </a:lnSpc>
              </a:pPr>
              <a:r>
                <a:rPr lang="en-US" sz="20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(if required)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8878116" y="3626222"/>
            <a:ext cx="562249" cy="643197"/>
            <a:chOff x="0" y="0"/>
            <a:chExt cx="2836887" cy="4114958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2836887" cy="4114958"/>
            </a:xfrm>
            <a:custGeom>
              <a:avLst/>
              <a:gdLst/>
              <a:ahLst/>
              <a:cxnLst/>
              <a:rect l="l" t="t" r="r" b="b"/>
              <a:pathLst>
                <a:path w="2836887" h="4114958">
                  <a:moveTo>
                    <a:pt x="0" y="0"/>
                  </a:moveTo>
                  <a:lnTo>
                    <a:pt x="2836887" y="0"/>
                  </a:lnTo>
                  <a:lnTo>
                    <a:pt x="2836887" y="4114958"/>
                  </a:lnTo>
                  <a:lnTo>
                    <a:pt x="0" y="411495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4502" r="23893" b="622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9525"/>
              <a:ext cx="2836887" cy="41244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119"/>
                </a:lnSpc>
              </a:pPr>
              <a:r>
                <a:rPr lang="en-US" sz="5099" b="1" dirty="0">
                  <a:solidFill>
                    <a:srgbClr val="CADCF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→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 rot="5400000">
            <a:off x="15482691" y="5137368"/>
            <a:ext cx="612856" cy="822960"/>
            <a:chOff x="0" y="0"/>
            <a:chExt cx="2836887" cy="4114958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2836887" cy="4114958"/>
            </a:xfrm>
            <a:custGeom>
              <a:avLst/>
              <a:gdLst/>
              <a:ahLst/>
              <a:cxnLst/>
              <a:rect l="l" t="t" r="r" b="b"/>
              <a:pathLst>
                <a:path w="2836887" h="4114958">
                  <a:moveTo>
                    <a:pt x="0" y="0"/>
                  </a:moveTo>
                  <a:lnTo>
                    <a:pt x="2836887" y="0"/>
                  </a:lnTo>
                  <a:lnTo>
                    <a:pt x="2836887" y="4114958"/>
                  </a:lnTo>
                  <a:lnTo>
                    <a:pt x="0" y="411495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4502" r="23893" b="622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116449" y="1548339"/>
              <a:ext cx="813998" cy="90587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119"/>
                </a:lnSpc>
              </a:pPr>
              <a:r>
                <a:rPr lang="en-US" sz="5099" b="1" dirty="0">
                  <a:solidFill>
                    <a:srgbClr val="CADCF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→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 rot="-10800000">
            <a:off x="13321631" y="7120527"/>
            <a:ext cx="509263" cy="487680"/>
            <a:chOff x="0" y="0"/>
            <a:chExt cx="2836887" cy="4114958"/>
          </a:xfrm>
        </p:grpSpPr>
        <p:sp>
          <p:nvSpPr>
            <p:cNvPr id="68" name="Freeform 68"/>
            <p:cNvSpPr/>
            <p:nvPr/>
          </p:nvSpPr>
          <p:spPr>
            <a:xfrm>
              <a:off x="0" y="0"/>
              <a:ext cx="2836887" cy="4114958"/>
            </a:xfrm>
            <a:custGeom>
              <a:avLst/>
              <a:gdLst/>
              <a:ahLst/>
              <a:cxnLst/>
              <a:rect l="l" t="t" r="r" b="b"/>
              <a:pathLst>
                <a:path w="2836887" h="4114958">
                  <a:moveTo>
                    <a:pt x="0" y="0"/>
                  </a:moveTo>
                  <a:lnTo>
                    <a:pt x="2836887" y="0"/>
                  </a:lnTo>
                  <a:lnTo>
                    <a:pt x="2836887" y="4114958"/>
                  </a:lnTo>
                  <a:lnTo>
                    <a:pt x="0" y="411495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4502" r="23893" b="622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TextBox 69"/>
            <p:cNvSpPr txBox="1"/>
            <p:nvPr/>
          </p:nvSpPr>
          <p:spPr>
            <a:xfrm>
              <a:off x="0" y="-9525"/>
              <a:ext cx="2836887" cy="41244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119"/>
                </a:lnSpc>
              </a:pPr>
              <a:r>
                <a:rPr lang="en-US" sz="5099" b="1" dirty="0">
                  <a:solidFill>
                    <a:srgbClr val="CADCF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→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 rot="-10800000">
            <a:off x="8878116" y="7006084"/>
            <a:ext cx="562249" cy="665575"/>
            <a:chOff x="0" y="0"/>
            <a:chExt cx="2836887" cy="4114958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2836887" cy="4114958"/>
            </a:xfrm>
            <a:custGeom>
              <a:avLst/>
              <a:gdLst/>
              <a:ahLst/>
              <a:cxnLst/>
              <a:rect l="l" t="t" r="r" b="b"/>
              <a:pathLst>
                <a:path w="2836887" h="4114958">
                  <a:moveTo>
                    <a:pt x="0" y="0"/>
                  </a:moveTo>
                  <a:lnTo>
                    <a:pt x="2836887" y="0"/>
                  </a:lnTo>
                  <a:lnTo>
                    <a:pt x="2836887" y="4114958"/>
                  </a:lnTo>
                  <a:lnTo>
                    <a:pt x="0" y="411495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4502" r="23893" b="622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TextBox 72"/>
            <p:cNvSpPr txBox="1"/>
            <p:nvPr/>
          </p:nvSpPr>
          <p:spPr>
            <a:xfrm>
              <a:off x="0" y="-9525"/>
              <a:ext cx="2836887" cy="41244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119"/>
                </a:lnSpc>
              </a:pPr>
              <a:r>
                <a:rPr lang="en-US" sz="5099" b="1" dirty="0">
                  <a:solidFill>
                    <a:srgbClr val="CADCF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→</a:t>
              </a:r>
            </a:p>
          </p:txBody>
        </p:sp>
      </p:grpSp>
      <p:grpSp>
        <p:nvGrpSpPr>
          <p:cNvPr id="73" name="Group 73"/>
          <p:cNvGrpSpPr/>
          <p:nvPr/>
        </p:nvGrpSpPr>
        <p:grpSpPr>
          <a:xfrm rot="-10800000">
            <a:off x="4475886" y="6978618"/>
            <a:ext cx="516301" cy="563880"/>
            <a:chOff x="0" y="0"/>
            <a:chExt cx="2836887" cy="4114958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2836887" cy="4114958"/>
            </a:xfrm>
            <a:custGeom>
              <a:avLst/>
              <a:gdLst/>
              <a:ahLst/>
              <a:cxnLst/>
              <a:rect l="l" t="t" r="r" b="b"/>
              <a:pathLst>
                <a:path w="2836887" h="4114958">
                  <a:moveTo>
                    <a:pt x="0" y="0"/>
                  </a:moveTo>
                  <a:lnTo>
                    <a:pt x="2836887" y="0"/>
                  </a:lnTo>
                  <a:lnTo>
                    <a:pt x="2836887" y="4114958"/>
                  </a:lnTo>
                  <a:lnTo>
                    <a:pt x="0" y="411495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4502" r="23893" b="622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9525"/>
              <a:ext cx="2836887" cy="41244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119"/>
                </a:lnSpc>
              </a:pPr>
              <a:r>
                <a:rPr lang="en-US" sz="5099" b="1" dirty="0">
                  <a:solidFill>
                    <a:srgbClr val="CADCF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→</a:t>
              </a:r>
            </a:p>
          </p:txBody>
        </p:sp>
      </p:grpSp>
      <p:grpSp>
        <p:nvGrpSpPr>
          <p:cNvPr id="76" name="Group 31">
            <a:extLst>
              <a:ext uri="{FF2B5EF4-FFF2-40B4-BE49-F238E27FC236}">
                <a16:creationId xmlns:a16="http://schemas.microsoft.com/office/drawing/2014/main" id="{6F98B151-DBC5-7E5B-ABA7-4734100F6942}"/>
              </a:ext>
            </a:extLst>
          </p:cNvPr>
          <p:cNvGrpSpPr/>
          <p:nvPr/>
        </p:nvGrpSpPr>
        <p:grpSpPr>
          <a:xfrm>
            <a:off x="13261736" y="3477168"/>
            <a:ext cx="588146" cy="804224"/>
            <a:chOff x="0" y="0"/>
            <a:chExt cx="2836887" cy="4114958"/>
          </a:xfrm>
        </p:grpSpPr>
        <p:sp>
          <p:nvSpPr>
            <p:cNvPr id="77" name="Freeform 32">
              <a:extLst>
                <a:ext uri="{FF2B5EF4-FFF2-40B4-BE49-F238E27FC236}">
                  <a16:creationId xmlns:a16="http://schemas.microsoft.com/office/drawing/2014/main" id="{415C225C-9F69-651B-BAA1-3BD43447D827}"/>
                </a:ext>
              </a:extLst>
            </p:cNvPr>
            <p:cNvSpPr/>
            <p:nvPr/>
          </p:nvSpPr>
          <p:spPr>
            <a:xfrm>
              <a:off x="0" y="0"/>
              <a:ext cx="2836887" cy="4114958"/>
            </a:xfrm>
            <a:custGeom>
              <a:avLst/>
              <a:gdLst/>
              <a:ahLst/>
              <a:cxnLst/>
              <a:rect l="l" t="t" r="r" b="b"/>
              <a:pathLst>
                <a:path w="2836887" h="4114958">
                  <a:moveTo>
                    <a:pt x="0" y="0"/>
                  </a:moveTo>
                  <a:lnTo>
                    <a:pt x="2836887" y="0"/>
                  </a:lnTo>
                  <a:lnTo>
                    <a:pt x="2836887" y="4114958"/>
                  </a:lnTo>
                  <a:lnTo>
                    <a:pt x="0" y="4114958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64502" r="23893" b="6222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33">
              <a:extLst>
                <a:ext uri="{FF2B5EF4-FFF2-40B4-BE49-F238E27FC236}">
                  <a16:creationId xmlns:a16="http://schemas.microsoft.com/office/drawing/2014/main" id="{B78A45E3-570D-0665-E90F-AA37D9583D7A}"/>
                </a:ext>
              </a:extLst>
            </p:cNvPr>
            <p:cNvSpPr txBox="1"/>
            <p:nvPr/>
          </p:nvSpPr>
          <p:spPr>
            <a:xfrm>
              <a:off x="0" y="-9525"/>
              <a:ext cx="2836887" cy="412448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6119"/>
                </a:lnSpc>
              </a:pPr>
              <a:r>
                <a:rPr lang="en-US" sz="5099" b="1" dirty="0">
                  <a:solidFill>
                    <a:srgbClr val="CADCFC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→</a:t>
              </a:r>
            </a:p>
          </p:txBody>
        </p:sp>
      </p:grpSp>
      <p:grpSp>
        <p:nvGrpSpPr>
          <p:cNvPr id="79" name="Group 7">
            <a:extLst>
              <a:ext uri="{FF2B5EF4-FFF2-40B4-BE49-F238E27FC236}">
                <a16:creationId xmlns:a16="http://schemas.microsoft.com/office/drawing/2014/main" id="{B9E32505-658C-343B-D1B2-ED8E4D5EC940}"/>
              </a:ext>
            </a:extLst>
          </p:cNvPr>
          <p:cNvGrpSpPr/>
          <p:nvPr/>
        </p:nvGrpSpPr>
        <p:grpSpPr>
          <a:xfrm>
            <a:off x="5823586" y="3606071"/>
            <a:ext cx="2341704" cy="719854"/>
            <a:chOff x="0" y="0"/>
            <a:chExt cx="2113989" cy="3342337"/>
          </a:xfrm>
        </p:grpSpPr>
        <p:sp>
          <p:nvSpPr>
            <p:cNvPr id="80" name="Freeform 8">
              <a:extLst>
                <a:ext uri="{FF2B5EF4-FFF2-40B4-BE49-F238E27FC236}">
                  <a16:creationId xmlns:a16="http://schemas.microsoft.com/office/drawing/2014/main" id="{B41A74C1-A394-8976-B962-496439A0AD60}"/>
                </a:ext>
              </a:extLst>
            </p:cNvPr>
            <p:cNvSpPr/>
            <p:nvPr/>
          </p:nvSpPr>
          <p:spPr>
            <a:xfrm>
              <a:off x="0" y="0"/>
              <a:ext cx="2113989" cy="3342337"/>
            </a:xfrm>
            <a:custGeom>
              <a:avLst/>
              <a:gdLst/>
              <a:ahLst/>
              <a:cxnLst/>
              <a:rect l="l" t="t" r="r" b="b"/>
              <a:pathLst>
                <a:path w="2113989" h="3342337">
                  <a:moveTo>
                    <a:pt x="0" y="0"/>
                  </a:moveTo>
                  <a:lnTo>
                    <a:pt x="2113989" y="0"/>
                  </a:lnTo>
                  <a:lnTo>
                    <a:pt x="2113989" y="3342337"/>
                  </a:lnTo>
                  <a:lnTo>
                    <a:pt x="0" y="3342337"/>
                  </a:lnTo>
                  <a:close/>
                </a:path>
              </a:pathLst>
            </a:custGeom>
            <a:solidFill>
              <a:srgbClr val="F7F8FC">
                <a:alpha val="0"/>
              </a:srgbClr>
            </a:solid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81" name="TextBox 9">
              <a:extLst>
                <a:ext uri="{FF2B5EF4-FFF2-40B4-BE49-F238E27FC236}">
                  <a16:creationId xmlns:a16="http://schemas.microsoft.com/office/drawing/2014/main" id="{1758391B-85FD-BB0D-05A3-3AF697F6AF89}"/>
                </a:ext>
              </a:extLst>
            </p:cNvPr>
            <p:cNvSpPr txBox="1"/>
            <p:nvPr/>
          </p:nvSpPr>
          <p:spPr>
            <a:xfrm>
              <a:off x="0" y="0"/>
              <a:ext cx="2113989" cy="334233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4349"/>
                </a:lnSpc>
              </a:pPr>
              <a:r>
                <a:rPr lang="en-US" sz="2800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Referred to Clinician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1D4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98220" y="3583071"/>
            <a:ext cx="6621780" cy="4929493"/>
            <a:chOff x="0" y="0"/>
            <a:chExt cx="22735629" cy="853581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735628" cy="8535819"/>
            </a:xfrm>
            <a:custGeom>
              <a:avLst/>
              <a:gdLst/>
              <a:ahLst/>
              <a:cxnLst/>
              <a:rect l="l" t="t" r="r" b="b"/>
              <a:pathLst>
                <a:path w="22735628" h="8535819">
                  <a:moveTo>
                    <a:pt x="0" y="0"/>
                  </a:moveTo>
                  <a:lnTo>
                    <a:pt x="22735628" y="0"/>
                  </a:lnTo>
                  <a:lnTo>
                    <a:pt x="22735628" y="8535819"/>
                  </a:lnTo>
                  <a:lnTo>
                    <a:pt x="0" y="8535819"/>
                  </a:lnTo>
                  <a:close/>
                </a:path>
              </a:pathLst>
            </a:custGeom>
            <a:solidFill>
              <a:srgbClr val="232C6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45820" y="802352"/>
            <a:ext cx="8526780" cy="941775"/>
            <a:chOff x="0" y="0"/>
            <a:chExt cx="22128480" cy="440479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2128480" cy="4404792"/>
            </a:xfrm>
            <a:custGeom>
              <a:avLst/>
              <a:gdLst/>
              <a:ahLst/>
              <a:cxnLst/>
              <a:rect l="l" t="t" r="r" b="b"/>
              <a:pathLst>
                <a:path w="22128480" h="4404792">
                  <a:moveTo>
                    <a:pt x="0" y="0"/>
                  </a:moveTo>
                  <a:lnTo>
                    <a:pt x="22128480" y="0"/>
                  </a:lnTo>
                  <a:lnTo>
                    <a:pt x="22128480" y="4404792"/>
                  </a:lnTo>
                  <a:lnTo>
                    <a:pt x="0" y="440479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9204" b="-1657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22128480" cy="44238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AFIO Visit: Further Observations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98220" y="2392478"/>
            <a:ext cx="5255294" cy="941775"/>
            <a:chOff x="0" y="0"/>
            <a:chExt cx="10607040" cy="395411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607040" cy="3954112"/>
            </a:xfrm>
            <a:custGeom>
              <a:avLst/>
              <a:gdLst/>
              <a:ahLst/>
              <a:cxnLst/>
              <a:rect l="l" t="t" r="r" b="b"/>
              <a:pathLst>
                <a:path w="10607040" h="3954112">
                  <a:moveTo>
                    <a:pt x="0" y="0"/>
                  </a:moveTo>
                  <a:lnTo>
                    <a:pt x="10607040" y="0"/>
                  </a:lnTo>
                  <a:lnTo>
                    <a:pt x="10607040" y="3954112"/>
                  </a:lnTo>
                  <a:lnTo>
                    <a:pt x="0" y="3954112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44175" b="39636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0607040" cy="396363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59"/>
                </a:lnSpc>
              </a:pPr>
              <a:r>
                <a:rPr lang="en-US" sz="4049" b="1" dirty="0">
                  <a:solidFill>
                    <a:srgbClr val="D9A44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Equipment Observed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19200" y="4202335"/>
            <a:ext cx="5592639" cy="2317119"/>
            <a:chOff x="0" y="0"/>
            <a:chExt cx="12358928" cy="933899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2358928" cy="9338996"/>
            </a:xfrm>
            <a:custGeom>
              <a:avLst/>
              <a:gdLst/>
              <a:ahLst/>
              <a:cxnLst/>
              <a:rect l="l" t="t" r="r" b="b"/>
              <a:pathLst>
                <a:path w="12358928" h="9338996">
                  <a:moveTo>
                    <a:pt x="0" y="0"/>
                  </a:moveTo>
                  <a:lnTo>
                    <a:pt x="12358928" y="0"/>
                  </a:lnTo>
                  <a:lnTo>
                    <a:pt x="12358928" y="9338996"/>
                  </a:lnTo>
                  <a:lnTo>
                    <a:pt x="0" y="933899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2145" r="2029" b="43211"/>
              </a:stretch>
            </a:blipFill>
          </p:spPr>
          <p:txBody>
            <a:bodyPr/>
            <a:lstStyle/>
            <a:p>
              <a:endParaRPr lang="en-US" sz="2000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12358928" cy="942472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64243" lvl="1" indent="-282122" algn="l">
                <a:buFont typeface="Arial"/>
                <a:buChar char="•"/>
              </a:pPr>
              <a:r>
                <a:rPr lang="en-US" dirty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Topcon OCT Systems                                     OCT </a:t>
              </a:r>
            </a:p>
            <a:p>
              <a:pPr algn="l"/>
              <a:endParaRPr lang="en-US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564243" lvl="1" indent="-282122" algn="l">
                <a:buFont typeface="Arial"/>
                <a:buChar char="•"/>
              </a:pPr>
              <a:r>
                <a:rPr lang="en-US" dirty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Heidelberg OCT                                               </a:t>
              </a:r>
              <a:r>
                <a:rPr lang="en-US" dirty="0" err="1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OCT</a:t>
              </a:r>
              <a:endParaRPr lang="en-US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algn="l"/>
              <a:endParaRPr lang="en-US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564243" lvl="1" indent="-282122" algn="l">
                <a:buFont typeface="Arial"/>
                <a:buChar char="•"/>
              </a:pPr>
              <a:r>
                <a:rPr lang="en-US" dirty="0" err="1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Optovue</a:t>
              </a:r>
              <a:r>
                <a:rPr lang="en-US" dirty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 OCT                                                    Retinal</a:t>
              </a:r>
            </a:p>
            <a:p>
              <a:pPr algn="l"/>
              <a:r>
                <a:rPr lang="en-US" dirty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   </a:t>
              </a:r>
            </a:p>
            <a:p>
              <a:pPr marL="564243" lvl="1" indent="-282122" algn="l">
                <a:buFont typeface="Arial"/>
                <a:buChar char="•"/>
              </a:pPr>
              <a:r>
                <a:rPr lang="en-US" dirty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Specular Microscope                                     Corneal </a:t>
              </a:r>
            </a:p>
            <a:p>
              <a:pPr algn="l"/>
              <a:endParaRPr lang="en-US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algn="l"/>
              <a:r>
                <a:rPr lang="en-US" dirty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 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13413" y="6209442"/>
            <a:ext cx="5826335" cy="1465607"/>
            <a:chOff x="0" y="-85726"/>
            <a:chExt cx="12860781" cy="705567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1704320" cy="6969950"/>
            </a:xfrm>
            <a:custGeom>
              <a:avLst/>
              <a:gdLst/>
              <a:ahLst/>
              <a:cxnLst/>
              <a:rect l="l" t="t" r="r" b="b"/>
              <a:pathLst>
                <a:path w="11704320" h="6969950">
                  <a:moveTo>
                    <a:pt x="0" y="0"/>
                  </a:moveTo>
                  <a:lnTo>
                    <a:pt x="11704320" y="0"/>
                  </a:lnTo>
                  <a:lnTo>
                    <a:pt x="11704320" y="6969950"/>
                  </a:lnTo>
                  <a:lnTo>
                    <a:pt x="0" y="696995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2825" r="-3450" b="23908"/>
              </a:stretch>
            </a:blipFill>
          </p:spPr>
          <p:txBody>
            <a:bodyPr/>
            <a:lstStyle/>
            <a:p>
              <a:endParaRPr lang="en-US" sz="2000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85726"/>
              <a:ext cx="12860781" cy="7055676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564243" lvl="1" indent="-282122" algn="l">
                <a:buFont typeface="Arial"/>
                <a:buChar char="•"/>
              </a:pPr>
              <a:r>
                <a:rPr lang="en-US" dirty="0" err="1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Galilie</a:t>
              </a:r>
              <a:r>
                <a:rPr lang="en-US" dirty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 Corneal Topography                         Corneal</a:t>
              </a:r>
            </a:p>
            <a:p>
              <a:pPr algn="l"/>
              <a:endParaRPr lang="en-US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564243" lvl="1" indent="-282122" algn="l">
                <a:buFont typeface="Arial"/>
                <a:buChar char="•"/>
              </a:pPr>
              <a:r>
                <a:rPr lang="en-US" dirty="0" err="1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Hamphrey</a:t>
              </a:r>
              <a:r>
                <a:rPr lang="en-US" dirty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 Field Analyzer                            Glaucoma</a:t>
              </a:r>
            </a:p>
            <a:p>
              <a:pPr algn="l"/>
              <a:endParaRPr lang="en-US" dirty="0">
                <a:solidFill>
                  <a:srgbClr val="FFFFFF"/>
                </a:solidFill>
                <a:latin typeface="Cambria"/>
                <a:ea typeface="Cambria"/>
                <a:cs typeface="Cambria"/>
                <a:sym typeface="Cambria"/>
              </a:endParaRPr>
            </a:p>
            <a:p>
              <a:pPr marL="564243" lvl="1" indent="-282122" algn="l">
                <a:buFont typeface="Arial"/>
                <a:buChar char="•"/>
              </a:pPr>
              <a:r>
                <a:rPr lang="en-US" dirty="0" err="1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Optos</a:t>
              </a:r>
              <a:r>
                <a:rPr lang="en-US" dirty="0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 Ultra-widefield Fundus Camera</a:t>
              </a:r>
            </a:p>
          </p:txBody>
        </p:sp>
      </p:grpSp>
      <p:sp>
        <p:nvSpPr>
          <p:cNvPr id="22" name="Shape 27">
            <a:extLst>
              <a:ext uri="{FF2B5EF4-FFF2-40B4-BE49-F238E27FC236}">
                <a16:creationId xmlns:a16="http://schemas.microsoft.com/office/drawing/2014/main" id="{55C10A78-B9CC-B2A0-23D1-5059E5404374}"/>
              </a:ext>
            </a:extLst>
          </p:cNvPr>
          <p:cNvSpPr/>
          <p:nvPr/>
        </p:nvSpPr>
        <p:spPr>
          <a:xfrm>
            <a:off x="8610600" y="3619500"/>
            <a:ext cx="7543800" cy="4893063"/>
          </a:xfrm>
          <a:prstGeom prst="rect">
            <a:avLst/>
          </a:prstGeom>
          <a:solidFill>
            <a:srgbClr val="232C6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8">
            <a:extLst>
              <a:ext uri="{FF2B5EF4-FFF2-40B4-BE49-F238E27FC236}">
                <a16:creationId xmlns:a16="http://schemas.microsoft.com/office/drawing/2014/main" id="{8C7A3533-C954-BE8A-410F-EFFB6FF71FE5}"/>
              </a:ext>
            </a:extLst>
          </p:cNvPr>
          <p:cNvSpPr/>
          <p:nvPr/>
        </p:nvSpPr>
        <p:spPr>
          <a:xfrm>
            <a:off x="8613058" y="2739157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Observed</a:t>
            </a:r>
            <a:endParaRPr lang="en-US" sz="4050" dirty="0"/>
          </a:p>
        </p:txBody>
      </p:sp>
      <p:sp>
        <p:nvSpPr>
          <p:cNvPr id="26" name="Text 29">
            <a:extLst>
              <a:ext uri="{FF2B5EF4-FFF2-40B4-BE49-F238E27FC236}">
                <a16:creationId xmlns:a16="http://schemas.microsoft.com/office/drawing/2014/main" id="{DE90C09B-F120-8689-E304-222F8A661487}"/>
              </a:ext>
            </a:extLst>
          </p:cNvPr>
          <p:cNvSpPr/>
          <p:nvPr/>
        </p:nvSpPr>
        <p:spPr>
          <a:xfrm>
            <a:off x="8877300" y="3940564"/>
            <a:ext cx="7010400" cy="393598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 software already performs image analysis</a:t>
            </a:r>
            <a:endParaRPr lang="en-US" sz="2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printed immediately after scan</a:t>
            </a:r>
            <a:endParaRPr lang="en-US" sz="2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available digitally inside software</a:t>
            </a:r>
            <a:endParaRPr lang="en-US" sz="2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centralized patient database</a:t>
            </a:r>
            <a:endParaRPr lang="en-US" sz="2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electronic storage and report sharing</a:t>
            </a:r>
            <a:endParaRPr lang="en-US" sz="2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●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Consultants review only selected patients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334873"/>
            <a:ext cx="8463327" cy="1108342"/>
            <a:chOff x="0" y="0"/>
            <a:chExt cx="22128480" cy="46882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128480" cy="4688279"/>
            </a:xfrm>
            <a:custGeom>
              <a:avLst/>
              <a:gdLst/>
              <a:ahLst/>
              <a:cxnLst/>
              <a:rect l="l" t="t" r="r" b="b"/>
              <a:pathLst>
                <a:path w="22128480" h="4688279">
                  <a:moveTo>
                    <a:pt x="0" y="0"/>
                  </a:moveTo>
                  <a:lnTo>
                    <a:pt x="22128480" y="0"/>
                  </a:lnTo>
                  <a:lnTo>
                    <a:pt x="22128480" y="4688279"/>
                  </a:lnTo>
                  <a:lnTo>
                    <a:pt x="0" y="4688279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74415" b="-952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2128480" cy="469780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759"/>
                </a:lnSpc>
              </a:pPr>
              <a:r>
                <a:rPr lang="en-US" sz="4799" b="1" dirty="0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Problems Identified at AFIO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92105" y="6921646"/>
            <a:ext cx="16596360" cy="2050144"/>
            <a:chOff x="0" y="0"/>
            <a:chExt cx="22128480" cy="2091027"/>
          </a:xfrm>
          <a:solidFill>
            <a:srgbClr val="EFE3C8"/>
          </a:solidFill>
        </p:grpSpPr>
        <p:sp>
          <p:nvSpPr>
            <p:cNvPr id="6" name="Freeform 6"/>
            <p:cNvSpPr/>
            <p:nvPr/>
          </p:nvSpPr>
          <p:spPr>
            <a:xfrm>
              <a:off x="0" y="0"/>
              <a:ext cx="22128480" cy="2091027"/>
            </a:xfrm>
            <a:custGeom>
              <a:avLst/>
              <a:gdLst/>
              <a:ahLst/>
              <a:cxnLst/>
              <a:rect l="l" t="t" r="r" b="b"/>
              <a:pathLst>
                <a:path w="22128480" h="2091027">
                  <a:moveTo>
                    <a:pt x="0" y="0"/>
                  </a:moveTo>
                  <a:lnTo>
                    <a:pt x="22128480" y="0"/>
                  </a:lnTo>
                  <a:lnTo>
                    <a:pt x="22128480" y="2091027"/>
                  </a:lnTo>
                  <a:lnTo>
                    <a:pt x="0" y="2091027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135754" y="7027440"/>
            <a:ext cx="7055745" cy="651255"/>
            <a:chOff x="0" y="0"/>
            <a:chExt cx="7315200" cy="1925586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315200" cy="1925586"/>
            </a:xfrm>
            <a:custGeom>
              <a:avLst/>
              <a:gdLst/>
              <a:ahLst/>
              <a:cxnLst/>
              <a:rect l="l" t="t" r="r" b="b"/>
              <a:pathLst>
                <a:path w="7315200" h="1925586">
                  <a:moveTo>
                    <a:pt x="0" y="0"/>
                  </a:moveTo>
                  <a:lnTo>
                    <a:pt x="7315200" y="0"/>
                  </a:lnTo>
                  <a:lnTo>
                    <a:pt x="7315200" y="1925586"/>
                  </a:lnTo>
                  <a:lnTo>
                    <a:pt x="0" y="192558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59776" b="11731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7315200" cy="1935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69"/>
                </a:lnSpc>
              </a:pPr>
              <a:r>
                <a:rPr lang="en-US" sz="2800" b="1" spc="188" dirty="0">
                  <a:solidFill>
                    <a:srgbClr val="6B4E15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CONSULTANT FEEDBACK (Col. Aamir)</a:t>
              </a:r>
            </a:p>
          </p:txBody>
        </p:sp>
      </p:grpSp>
      <p:sp>
        <p:nvSpPr>
          <p:cNvPr id="11" name="Freeform 11"/>
          <p:cNvSpPr/>
          <p:nvPr/>
        </p:nvSpPr>
        <p:spPr>
          <a:xfrm>
            <a:off x="1021817" y="7799757"/>
            <a:ext cx="16390621" cy="61218"/>
          </a:xfrm>
          <a:custGeom>
            <a:avLst/>
            <a:gdLst/>
            <a:ahLst/>
            <a:cxnLst/>
            <a:rect l="l" t="t" r="r" b="b"/>
            <a:pathLst>
              <a:path w="21854161" h="4844107">
                <a:moveTo>
                  <a:pt x="0" y="0"/>
                </a:moveTo>
                <a:lnTo>
                  <a:pt x="21854161" y="0"/>
                </a:lnTo>
                <a:lnTo>
                  <a:pt x="21854161" y="4844107"/>
                </a:lnTo>
                <a:lnTo>
                  <a:pt x="0" y="4844107"/>
                </a:lnTo>
                <a:close/>
              </a:path>
            </a:pathLst>
          </a:custGeom>
          <a:blipFill>
            <a:blip r:embed="rId2">
              <a:alphaModFix amt="0"/>
            </a:blip>
            <a:stretch>
              <a:fillRect t="-74214" r="3765" b="502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TextBox 12"/>
          <p:cNvSpPr txBox="1"/>
          <p:nvPr/>
        </p:nvSpPr>
        <p:spPr>
          <a:xfrm>
            <a:off x="1120515" y="7566035"/>
            <a:ext cx="16390620" cy="2432626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algn="l">
              <a:lnSpc>
                <a:spcPts val="3269"/>
              </a:lnSpc>
            </a:pPr>
            <a:r>
              <a:rPr lang="en-US" sz="2724" b="1" i="1" dirty="0">
                <a:solidFill>
                  <a:srgbClr val="5C4315"/>
                </a:solidFill>
                <a:latin typeface="Cambria Bold Italics"/>
                <a:ea typeface="Cambria Bold Italics"/>
                <a:cs typeface="Cambria Bold Italics"/>
                <a:sym typeface="Cambria Bold Italics"/>
              </a:rPr>
              <a:t>AI prediction was accurate, but the report format didn't fit hospital workflows, highlighting the need to prioritize report usability alongside model accuracy.</a:t>
            </a:r>
          </a:p>
          <a:p>
            <a:pPr algn="l">
              <a:lnSpc>
                <a:spcPts val="3269"/>
              </a:lnSpc>
            </a:pPr>
            <a:endParaRPr lang="en-US" sz="2724" b="1" i="1" dirty="0">
              <a:solidFill>
                <a:srgbClr val="5C4315"/>
              </a:solidFill>
              <a:latin typeface="Cambria Bold Italics"/>
              <a:ea typeface="Cambria Bold Italics"/>
              <a:cs typeface="Cambria Bold Italics"/>
              <a:sym typeface="Cambria Bold Italics"/>
            </a:endParaRPr>
          </a:p>
          <a:p>
            <a:pPr algn="l">
              <a:lnSpc>
                <a:spcPts val="3269"/>
              </a:lnSpc>
            </a:pPr>
            <a:endParaRPr lang="en-US" sz="2724" b="1" i="1" dirty="0">
              <a:solidFill>
                <a:srgbClr val="5C4315"/>
              </a:solidFill>
              <a:latin typeface="Cambria Bold Italics"/>
              <a:ea typeface="Cambria Bold Italics"/>
              <a:cs typeface="Cambria Bold Italics"/>
              <a:sym typeface="Cambria Bold Italics"/>
            </a:endParaRPr>
          </a:p>
          <a:p>
            <a:pPr algn="l">
              <a:lnSpc>
                <a:spcPts val="3269"/>
              </a:lnSpc>
            </a:pPr>
            <a:endParaRPr lang="en-US" sz="2724" b="1" i="1" dirty="0">
              <a:solidFill>
                <a:srgbClr val="5C4315"/>
              </a:solidFill>
              <a:latin typeface="Cambria Bold Italics"/>
              <a:ea typeface="Cambria Bold Italics"/>
              <a:cs typeface="Cambria Bold Italics"/>
              <a:sym typeface="Cambria Bold Italics"/>
            </a:endParaRPr>
          </a:p>
        </p:txBody>
      </p:sp>
      <p:grpSp>
        <p:nvGrpSpPr>
          <p:cNvPr id="17" name="Group 17"/>
          <p:cNvGrpSpPr/>
          <p:nvPr/>
        </p:nvGrpSpPr>
        <p:grpSpPr>
          <a:xfrm>
            <a:off x="2072640" y="1764684"/>
            <a:ext cx="6103620" cy="1733009"/>
            <a:chOff x="0" y="0"/>
            <a:chExt cx="10698480" cy="33832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698480" cy="3383280"/>
            </a:xfrm>
            <a:custGeom>
              <a:avLst/>
              <a:gdLst/>
              <a:ahLst/>
              <a:cxnLst/>
              <a:rect l="l" t="t" r="r" b="b"/>
              <a:pathLst>
                <a:path w="10698480" h="3383280">
                  <a:moveTo>
                    <a:pt x="0" y="0"/>
                  </a:moveTo>
                  <a:lnTo>
                    <a:pt x="10698480" y="0"/>
                  </a:lnTo>
                  <a:lnTo>
                    <a:pt x="10698480" y="3383280"/>
                  </a:lnTo>
                  <a:lnTo>
                    <a:pt x="0" y="338328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3253414" y="2220313"/>
            <a:ext cx="4983536" cy="716199"/>
            <a:chOff x="0" y="0"/>
            <a:chExt cx="8503920" cy="3986207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503920" cy="3986207"/>
            </a:xfrm>
            <a:custGeom>
              <a:avLst/>
              <a:gdLst/>
              <a:ahLst/>
              <a:cxnLst/>
              <a:rect l="l" t="t" r="r" b="b"/>
              <a:pathLst>
                <a:path w="8503920" h="3986207">
                  <a:moveTo>
                    <a:pt x="0" y="0"/>
                  </a:moveTo>
                  <a:lnTo>
                    <a:pt x="8503920" y="0"/>
                  </a:lnTo>
                  <a:lnTo>
                    <a:pt x="8503920" y="3986207"/>
                  </a:lnTo>
                  <a:lnTo>
                    <a:pt x="0" y="398620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245" b="48109"/>
              </a:stretch>
            </a:blip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0"/>
              <a:ext cx="8503920" cy="398620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89"/>
                </a:lnSpc>
              </a:pPr>
              <a:r>
                <a:rPr lang="en-US" sz="3200" b="1" dirty="0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No Central Memory Bank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9605A04D-C526-5DE5-2A2A-07DC1CC6632C}"/>
              </a:ext>
            </a:extLst>
          </p:cNvPr>
          <p:cNvGrpSpPr/>
          <p:nvPr/>
        </p:nvGrpSpPr>
        <p:grpSpPr>
          <a:xfrm>
            <a:off x="2332203" y="2310296"/>
            <a:ext cx="678180" cy="714290"/>
            <a:chOff x="1216274" y="2567850"/>
            <a:chExt cx="909705" cy="909705"/>
          </a:xfrm>
        </p:grpSpPr>
        <p:grpSp>
          <p:nvGrpSpPr>
            <p:cNvPr id="19" name="Group 19"/>
            <p:cNvGrpSpPr/>
            <p:nvPr/>
          </p:nvGrpSpPr>
          <p:grpSpPr>
            <a:xfrm>
              <a:off x="1216274" y="2567850"/>
              <a:ext cx="909705" cy="909705"/>
              <a:chOff x="-1" y="46409"/>
              <a:chExt cx="914400" cy="9144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-1" y="46409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1E2761"/>
              </a:solidFill>
            </p:spPr>
            <p:txBody>
              <a:bodyPr/>
              <a:lstStyle/>
              <a:p>
                <a:endParaRPr lang="en-US" sz="1200" dirty="0"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447663" y="2803023"/>
              <a:ext cx="446928" cy="342140"/>
              <a:chOff x="0" y="0"/>
              <a:chExt cx="768096" cy="88255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0"/>
                    </a:moveTo>
                    <a:lnTo>
                      <a:pt x="768096" y="0"/>
                    </a:lnTo>
                    <a:lnTo>
                      <a:pt x="768096" y="882550"/>
                    </a:lnTo>
                    <a:lnTo>
                      <a:pt x="0" y="88255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 b="12968"/>
                </a:stretch>
              </a:blipFill>
            </p:spPr>
            <p:txBody>
              <a:bodyPr/>
              <a:lstStyle/>
              <a:p>
                <a:endParaRPr lang="en-US" sz="1200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76200"/>
                <a:ext cx="768096" cy="9587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139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1</a:t>
                </a:r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9356338" y="1764684"/>
            <a:ext cx="6103620" cy="1733009"/>
            <a:chOff x="0" y="0"/>
            <a:chExt cx="10698480" cy="33832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29" name="Freeform 29"/>
            <p:cNvSpPr/>
            <p:nvPr/>
          </p:nvSpPr>
          <p:spPr>
            <a:xfrm>
              <a:off x="0" y="0"/>
              <a:ext cx="10698480" cy="3383280"/>
            </a:xfrm>
            <a:custGeom>
              <a:avLst/>
              <a:gdLst/>
              <a:ahLst/>
              <a:cxnLst/>
              <a:rect l="l" t="t" r="r" b="b"/>
              <a:pathLst>
                <a:path w="10698480" h="3383280">
                  <a:moveTo>
                    <a:pt x="0" y="0"/>
                  </a:moveTo>
                  <a:lnTo>
                    <a:pt x="10698480" y="0"/>
                  </a:lnTo>
                  <a:lnTo>
                    <a:pt x="10698480" y="3383280"/>
                  </a:lnTo>
                  <a:lnTo>
                    <a:pt x="0" y="338328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0632476" y="2274043"/>
            <a:ext cx="3783325" cy="548778"/>
            <a:chOff x="0" y="0"/>
            <a:chExt cx="8503920" cy="3986207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8503920" cy="3986207"/>
            </a:xfrm>
            <a:custGeom>
              <a:avLst/>
              <a:gdLst/>
              <a:ahLst/>
              <a:cxnLst/>
              <a:rect l="l" t="t" r="r" b="b"/>
              <a:pathLst>
                <a:path w="8503920" h="3986207">
                  <a:moveTo>
                    <a:pt x="0" y="0"/>
                  </a:moveTo>
                  <a:lnTo>
                    <a:pt x="8503920" y="0"/>
                  </a:lnTo>
                  <a:lnTo>
                    <a:pt x="8503920" y="3986207"/>
                  </a:lnTo>
                  <a:lnTo>
                    <a:pt x="0" y="398620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245" b="48109"/>
              </a:stretch>
            </a:blip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0"/>
              <a:ext cx="8503920" cy="398620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89"/>
                </a:lnSpc>
              </a:pPr>
              <a:r>
                <a:rPr lang="en-US" sz="3200" b="1" dirty="0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Fragmented Data</a:t>
              </a:r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3AF584BB-DD4E-3917-34CE-D336C2215EB3}"/>
              </a:ext>
            </a:extLst>
          </p:cNvPr>
          <p:cNvGrpSpPr/>
          <p:nvPr/>
        </p:nvGrpSpPr>
        <p:grpSpPr>
          <a:xfrm>
            <a:off x="9655317" y="2302563"/>
            <a:ext cx="678180" cy="714290"/>
            <a:chOff x="9788775" y="2552477"/>
            <a:chExt cx="909705" cy="909705"/>
          </a:xfrm>
        </p:grpSpPr>
        <p:grpSp>
          <p:nvGrpSpPr>
            <p:cNvPr id="30" name="Group 30"/>
            <p:cNvGrpSpPr/>
            <p:nvPr/>
          </p:nvGrpSpPr>
          <p:grpSpPr>
            <a:xfrm>
              <a:off x="9788775" y="2552477"/>
              <a:ext cx="909705" cy="909705"/>
              <a:chOff x="0" y="0"/>
              <a:chExt cx="914400" cy="91440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1E2761"/>
              </a:solidFill>
            </p:spPr>
            <p:txBody>
              <a:bodyPr/>
              <a:lstStyle/>
              <a:p>
                <a:endParaRPr lang="en-US" sz="1200"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10006385" y="2767958"/>
              <a:ext cx="474483" cy="394985"/>
              <a:chOff x="0" y="-217049"/>
              <a:chExt cx="768096" cy="1099599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0"/>
                    </a:moveTo>
                    <a:lnTo>
                      <a:pt x="768096" y="0"/>
                    </a:lnTo>
                    <a:lnTo>
                      <a:pt x="768096" y="882550"/>
                    </a:lnTo>
                    <a:lnTo>
                      <a:pt x="0" y="88255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 b="12968"/>
                </a:stretch>
              </a:blipFill>
            </p:spPr>
            <p:txBody>
              <a:bodyPr/>
              <a:lstStyle/>
              <a:p>
                <a:endParaRPr lang="en-US" sz="1200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217049"/>
                <a:ext cx="768096" cy="9587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139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2</a:t>
                </a:r>
              </a:p>
            </p:txBody>
          </p:sp>
        </p:grpSp>
      </p:grpSp>
      <p:grpSp>
        <p:nvGrpSpPr>
          <p:cNvPr id="39" name="Group 39"/>
          <p:cNvGrpSpPr/>
          <p:nvPr/>
        </p:nvGrpSpPr>
        <p:grpSpPr>
          <a:xfrm>
            <a:off x="2072640" y="4507747"/>
            <a:ext cx="6103620" cy="1733009"/>
            <a:chOff x="0" y="0"/>
            <a:chExt cx="10698480" cy="33832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698480" cy="3383280"/>
            </a:xfrm>
            <a:custGeom>
              <a:avLst/>
              <a:gdLst/>
              <a:ahLst/>
              <a:cxnLst/>
              <a:rect l="l" t="t" r="r" b="b"/>
              <a:pathLst>
                <a:path w="10698480" h="3383280">
                  <a:moveTo>
                    <a:pt x="0" y="0"/>
                  </a:moveTo>
                  <a:lnTo>
                    <a:pt x="10698480" y="0"/>
                  </a:lnTo>
                  <a:lnTo>
                    <a:pt x="10698480" y="3383280"/>
                  </a:lnTo>
                  <a:lnTo>
                    <a:pt x="0" y="338328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3253414" y="4942257"/>
            <a:ext cx="4306925" cy="776387"/>
            <a:chOff x="0" y="0"/>
            <a:chExt cx="8503920" cy="3986207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8503920" cy="3986207"/>
            </a:xfrm>
            <a:custGeom>
              <a:avLst/>
              <a:gdLst/>
              <a:ahLst/>
              <a:cxnLst/>
              <a:rect l="l" t="t" r="r" b="b"/>
              <a:pathLst>
                <a:path w="8503920" h="3986207">
                  <a:moveTo>
                    <a:pt x="0" y="0"/>
                  </a:moveTo>
                  <a:lnTo>
                    <a:pt x="8503920" y="0"/>
                  </a:lnTo>
                  <a:lnTo>
                    <a:pt x="8503920" y="3986207"/>
                  </a:lnTo>
                  <a:lnTo>
                    <a:pt x="0" y="398620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245" b="48109"/>
              </a:stretch>
            </a:blipFill>
          </p:spPr>
          <p:txBody>
            <a:bodyPr/>
            <a:lstStyle/>
            <a:p>
              <a:endParaRPr lang="en-US" sz="1200" dirty="0"/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0" y="0"/>
              <a:ext cx="8503920" cy="398620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89"/>
                </a:lnSpc>
              </a:pPr>
              <a:r>
                <a:rPr lang="en-US" sz="3200" b="1" dirty="0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AI Reporting Needed</a:t>
              </a:r>
            </a:p>
          </p:txBody>
        </p:sp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54ADA161-F817-3693-CBF9-211522B08D1A}"/>
              </a:ext>
            </a:extLst>
          </p:cNvPr>
          <p:cNvGrpSpPr/>
          <p:nvPr/>
        </p:nvGrpSpPr>
        <p:grpSpPr>
          <a:xfrm>
            <a:off x="2332203" y="5050084"/>
            <a:ext cx="678180" cy="714290"/>
            <a:chOff x="1216275" y="5264742"/>
            <a:chExt cx="909705" cy="909705"/>
          </a:xfrm>
        </p:grpSpPr>
        <p:grpSp>
          <p:nvGrpSpPr>
            <p:cNvPr id="41" name="Group 41"/>
            <p:cNvGrpSpPr/>
            <p:nvPr/>
          </p:nvGrpSpPr>
          <p:grpSpPr>
            <a:xfrm>
              <a:off x="1216275" y="5264742"/>
              <a:ext cx="909705" cy="909705"/>
              <a:chOff x="0" y="0"/>
              <a:chExt cx="914400" cy="914400"/>
            </a:xfrm>
          </p:grpSpPr>
          <p:sp>
            <p:nvSpPr>
              <p:cNvPr id="42" name="Freeform 42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1E2761"/>
              </a:solidFill>
            </p:spPr>
            <p:txBody>
              <a:bodyPr/>
              <a:lstStyle/>
              <a:p>
                <a:endParaRPr lang="en-US" sz="1200"/>
              </a:p>
            </p:txBody>
          </p:sp>
        </p:grpSp>
        <p:grpSp>
          <p:nvGrpSpPr>
            <p:cNvPr id="46" name="Group 46"/>
            <p:cNvGrpSpPr/>
            <p:nvPr/>
          </p:nvGrpSpPr>
          <p:grpSpPr>
            <a:xfrm>
              <a:off x="1479052" y="5482936"/>
              <a:ext cx="395219" cy="433331"/>
              <a:chOff x="0" y="-225489"/>
              <a:chExt cx="768096" cy="1108039"/>
            </a:xfrm>
          </p:grpSpPr>
          <p:sp>
            <p:nvSpPr>
              <p:cNvPr id="47" name="Freeform 47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0"/>
                    </a:moveTo>
                    <a:lnTo>
                      <a:pt x="768096" y="0"/>
                    </a:lnTo>
                    <a:lnTo>
                      <a:pt x="768096" y="882550"/>
                    </a:lnTo>
                    <a:lnTo>
                      <a:pt x="0" y="88255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 b="12968"/>
                </a:stretch>
              </a:blipFill>
            </p:spPr>
            <p:txBody>
              <a:bodyPr/>
              <a:lstStyle/>
              <a:p>
                <a:endParaRPr lang="en-US" sz="1200"/>
              </a:p>
            </p:txBody>
          </p:sp>
          <p:sp>
            <p:nvSpPr>
              <p:cNvPr id="48" name="TextBox 48"/>
              <p:cNvSpPr txBox="1"/>
              <p:nvPr/>
            </p:nvSpPr>
            <p:spPr>
              <a:xfrm>
                <a:off x="0" y="-225489"/>
                <a:ext cx="768096" cy="95875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139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3</a:t>
                </a:r>
              </a:p>
            </p:txBody>
          </p:sp>
        </p:grpSp>
      </p:grpSp>
      <p:grpSp>
        <p:nvGrpSpPr>
          <p:cNvPr id="50" name="Group 50"/>
          <p:cNvGrpSpPr/>
          <p:nvPr/>
        </p:nvGrpSpPr>
        <p:grpSpPr>
          <a:xfrm>
            <a:off x="9356338" y="4527545"/>
            <a:ext cx="6103620" cy="1733009"/>
            <a:chOff x="0" y="0"/>
            <a:chExt cx="10698480" cy="3383280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51" name="Freeform 51"/>
            <p:cNvSpPr/>
            <p:nvPr/>
          </p:nvSpPr>
          <p:spPr>
            <a:xfrm>
              <a:off x="0" y="0"/>
              <a:ext cx="10698480" cy="3383280"/>
            </a:xfrm>
            <a:custGeom>
              <a:avLst/>
              <a:gdLst/>
              <a:ahLst/>
              <a:cxnLst/>
              <a:rect l="l" t="t" r="r" b="b"/>
              <a:pathLst>
                <a:path w="10698480" h="3383280">
                  <a:moveTo>
                    <a:pt x="0" y="0"/>
                  </a:moveTo>
                  <a:lnTo>
                    <a:pt x="10698480" y="0"/>
                  </a:lnTo>
                  <a:lnTo>
                    <a:pt x="10698480" y="3383280"/>
                  </a:lnTo>
                  <a:lnTo>
                    <a:pt x="0" y="3383280"/>
                  </a:lnTo>
                  <a:close/>
                </a:path>
              </a:pathLst>
            </a:custGeom>
            <a:grpFill/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0804674" y="4974246"/>
            <a:ext cx="3483870" cy="719559"/>
            <a:chOff x="0" y="0"/>
            <a:chExt cx="8503920" cy="3986207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8503920" cy="3986207"/>
            </a:xfrm>
            <a:custGeom>
              <a:avLst/>
              <a:gdLst/>
              <a:ahLst/>
              <a:cxnLst/>
              <a:rect l="l" t="t" r="r" b="b"/>
              <a:pathLst>
                <a:path w="8503920" h="3986207">
                  <a:moveTo>
                    <a:pt x="0" y="0"/>
                  </a:moveTo>
                  <a:lnTo>
                    <a:pt x="8503920" y="0"/>
                  </a:lnTo>
                  <a:lnTo>
                    <a:pt x="8503920" y="3986207"/>
                  </a:lnTo>
                  <a:lnTo>
                    <a:pt x="0" y="3986207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31245" b="48109"/>
              </a:stretch>
            </a:blipFill>
          </p:spPr>
          <p:txBody>
            <a:bodyPr/>
            <a:lstStyle/>
            <a:p>
              <a:endParaRPr lang="en-US" sz="1200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0"/>
              <a:ext cx="8503920" cy="398620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4889"/>
                </a:lnSpc>
              </a:pPr>
              <a:r>
                <a:rPr lang="en-US" sz="3200" b="1" dirty="0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Workflow Issues</a:t>
              </a:r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E17931E-74DA-86D5-F802-5D2FBF215D53}"/>
              </a:ext>
            </a:extLst>
          </p:cNvPr>
          <p:cNvGrpSpPr/>
          <p:nvPr/>
        </p:nvGrpSpPr>
        <p:grpSpPr>
          <a:xfrm>
            <a:off x="9707637" y="5050084"/>
            <a:ext cx="678180" cy="714290"/>
            <a:chOff x="9788775" y="5284581"/>
            <a:chExt cx="909705" cy="909705"/>
          </a:xfrm>
        </p:grpSpPr>
        <p:grpSp>
          <p:nvGrpSpPr>
            <p:cNvPr id="52" name="Group 52"/>
            <p:cNvGrpSpPr/>
            <p:nvPr/>
          </p:nvGrpSpPr>
          <p:grpSpPr>
            <a:xfrm>
              <a:off x="9788775" y="5284581"/>
              <a:ext cx="909705" cy="909705"/>
              <a:chOff x="0" y="0"/>
              <a:chExt cx="914400" cy="914400"/>
            </a:xfrm>
          </p:grpSpPr>
          <p:sp>
            <p:nvSpPr>
              <p:cNvPr id="53" name="Freeform 53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1E2761"/>
              </a:solidFill>
            </p:spPr>
            <p:txBody>
              <a:bodyPr/>
              <a:lstStyle/>
              <a:p>
                <a:endParaRPr lang="en-US" sz="1200"/>
              </a:p>
            </p:txBody>
          </p:sp>
        </p:grpSp>
        <p:grpSp>
          <p:nvGrpSpPr>
            <p:cNvPr id="57" name="Group 57"/>
            <p:cNvGrpSpPr/>
            <p:nvPr/>
          </p:nvGrpSpPr>
          <p:grpSpPr>
            <a:xfrm>
              <a:off x="10044484" y="5532137"/>
              <a:ext cx="398283" cy="384130"/>
              <a:chOff x="0" y="-291378"/>
              <a:chExt cx="768096" cy="1173928"/>
            </a:xfrm>
          </p:grpSpPr>
          <p:sp>
            <p:nvSpPr>
              <p:cNvPr id="58" name="Freeform 58"/>
              <p:cNvSpPr/>
              <p:nvPr/>
            </p:nvSpPr>
            <p:spPr>
              <a:xfrm>
                <a:off x="0" y="0"/>
                <a:ext cx="768096" cy="882550"/>
              </a:xfrm>
              <a:custGeom>
                <a:avLst/>
                <a:gdLst/>
                <a:ahLst/>
                <a:cxnLst/>
                <a:rect l="l" t="t" r="r" b="b"/>
                <a:pathLst>
                  <a:path w="768096" h="882550">
                    <a:moveTo>
                      <a:pt x="0" y="0"/>
                    </a:moveTo>
                    <a:lnTo>
                      <a:pt x="768096" y="0"/>
                    </a:lnTo>
                    <a:lnTo>
                      <a:pt x="768096" y="882550"/>
                    </a:lnTo>
                    <a:lnTo>
                      <a:pt x="0" y="882550"/>
                    </a:lnTo>
                    <a:close/>
                  </a:path>
                </a:pathLst>
              </a:custGeom>
              <a:blipFill>
                <a:blip r:embed="rId2">
                  <a:alphaModFix amt="0"/>
                </a:blip>
                <a:stretch>
                  <a:fillRect l="-78303" r="-78303" b="12968"/>
                </a:stretch>
              </a:blipFill>
            </p:spPr>
            <p:txBody>
              <a:bodyPr/>
              <a:lstStyle/>
              <a:p>
                <a:endParaRPr lang="en-US" sz="1200"/>
              </a:p>
            </p:txBody>
          </p:sp>
          <p:sp>
            <p:nvSpPr>
              <p:cNvPr id="59" name="TextBox 59"/>
              <p:cNvSpPr txBox="1"/>
              <p:nvPr/>
            </p:nvSpPr>
            <p:spPr>
              <a:xfrm>
                <a:off x="0" y="-291378"/>
                <a:ext cx="768096" cy="958751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4139"/>
                  </a:lnSpc>
                </a:pPr>
                <a:r>
                  <a:rPr lang="en-US" sz="2400" b="1" dirty="0">
                    <a:solidFill>
                      <a:srgbClr val="FFFF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4</a:t>
                </a:r>
              </a:p>
            </p:txBody>
          </p:sp>
        </p:grp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62584" y="665703"/>
            <a:ext cx="18288000" cy="73152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lstStyle/>
          <a:p>
            <a:endParaRPr lang="en-PK" sz="3600"/>
          </a:p>
        </p:txBody>
      </p:sp>
      <p:sp>
        <p:nvSpPr>
          <p:cNvPr id="5" name="Text 3"/>
          <p:cNvSpPr/>
          <p:nvPr/>
        </p:nvSpPr>
        <p:spPr>
          <a:xfrm>
            <a:off x="862584" y="1054295"/>
            <a:ext cx="424281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Bank</a:t>
            </a:r>
            <a:endParaRPr lang="en-US" sz="5200" dirty="0"/>
          </a:p>
        </p:txBody>
      </p:sp>
      <p:sp>
        <p:nvSpPr>
          <p:cNvPr id="7" name="Shape 5"/>
          <p:cNvSpPr/>
          <p:nvPr/>
        </p:nvSpPr>
        <p:spPr>
          <a:xfrm>
            <a:off x="643128" y="2476500"/>
            <a:ext cx="8449056" cy="26670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635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PK" sz="3600"/>
          </a:p>
        </p:txBody>
      </p:sp>
      <p:sp>
        <p:nvSpPr>
          <p:cNvPr id="8" name="Shape 6"/>
          <p:cNvSpPr/>
          <p:nvPr/>
        </p:nvSpPr>
        <p:spPr>
          <a:xfrm>
            <a:off x="643128" y="2476500"/>
            <a:ext cx="109728" cy="266700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lstStyle/>
          <a:p>
            <a:endParaRPr lang="en-PK" sz="3600"/>
          </a:p>
        </p:txBody>
      </p:sp>
      <p:sp>
        <p:nvSpPr>
          <p:cNvPr id="9" name="Text 7"/>
          <p:cNvSpPr/>
          <p:nvPr/>
        </p:nvSpPr>
        <p:spPr>
          <a:xfrm>
            <a:off x="972312" y="2732532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Bank / Database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72312" y="3166872"/>
            <a:ext cx="7790688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/>
              <a:t>AFIO currently has zero digital storage. Every scan report exists only on paper and is lost after the visit. They need a permanent searchable archive of all patient scans across all 10 machines.</a:t>
            </a:r>
          </a:p>
        </p:txBody>
      </p:sp>
      <p:sp>
        <p:nvSpPr>
          <p:cNvPr id="11" name="Shape 9"/>
          <p:cNvSpPr/>
          <p:nvPr/>
        </p:nvSpPr>
        <p:spPr>
          <a:xfrm>
            <a:off x="9457944" y="2476500"/>
            <a:ext cx="8449056" cy="26670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9C87A"/>
            </a:solidFill>
            <a:prstDash val="solid"/>
          </a:ln>
          <a:effectLst>
            <a:outerShdw blurRad="635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PK" sz="3600"/>
          </a:p>
        </p:txBody>
      </p:sp>
      <p:sp>
        <p:nvSpPr>
          <p:cNvPr id="12" name="Shape 10"/>
          <p:cNvSpPr/>
          <p:nvPr/>
        </p:nvSpPr>
        <p:spPr>
          <a:xfrm>
            <a:off x="9457944" y="2476500"/>
            <a:ext cx="109728" cy="2667000"/>
          </a:xfrm>
          <a:prstGeom prst="rect">
            <a:avLst/>
          </a:prstGeom>
          <a:solidFill>
            <a:srgbClr val="C5922D"/>
          </a:solidFill>
          <a:ln/>
        </p:spPr>
        <p:txBody>
          <a:bodyPr/>
          <a:lstStyle/>
          <a:p>
            <a:endParaRPr lang="en-PK" sz="3600"/>
          </a:p>
        </p:txBody>
      </p:sp>
      <p:sp>
        <p:nvSpPr>
          <p:cNvPr id="13" name="Text 11"/>
          <p:cNvSpPr/>
          <p:nvPr/>
        </p:nvSpPr>
        <p:spPr>
          <a:xfrm>
            <a:off x="9787128" y="2732532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Folder Pipeline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787128" y="3110484"/>
            <a:ext cx="7790688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/>
              <a:t>Technician exports scan from any machine software → saves to one shared folder on the central PC → AFIO ScanAI picks it up automatically. One extra click per scan, nothing else </a:t>
            </a:r>
            <a:r>
              <a:rPr lang="en-US" sz="2400"/>
              <a:t>changes.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643128" y="5295900"/>
            <a:ext cx="8449056" cy="26670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635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PK" sz="3600"/>
          </a:p>
        </p:txBody>
      </p:sp>
      <p:sp>
        <p:nvSpPr>
          <p:cNvPr id="16" name="Shape 14"/>
          <p:cNvSpPr/>
          <p:nvPr/>
        </p:nvSpPr>
        <p:spPr>
          <a:xfrm>
            <a:off x="643128" y="5295900"/>
            <a:ext cx="109728" cy="2667000"/>
          </a:xfrm>
          <a:prstGeom prst="rect">
            <a:avLst/>
          </a:prstGeom>
          <a:solidFill>
            <a:srgbClr val="C5922D"/>
          </a:solidFill>
          <a:ln/>
        </p:spPr>
        <p:txBody>
          <a:bodyPr/>
          <a:lstStyle/>
          <a:p>
            <a:endParaRPr lang="en-PK" sz="3600"/>
          </a:p>
        </p:txBody>
      </p:sp>
      <p:sp>
        <p:nvSpPr>
          <p:cNvPr id="17" name="Text 15"/>
          <p:cNvSpPr/>
          <p:nvPr/>
        </p:nvSpPr>
        <p:spPr>
          <a:xfrm>
            <a:off x="972312" y="5551932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Extraction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72312" y="5929884"/>
            <a:ext cx="7790688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/>
              <a:t>System reads the exported file (JPEG, PDF, or DICOM), extracts patient name, ID, scan type, and clinical values, then fills the database automatically without manual data </a:t>
            </a:r>
            <a:r>
              <a:rPr lang="en-US" sz="2400"/>
              <a:t>entry.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9457944" y="5295900"/>
            <a:ext cx="8449056" cy="266700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2700">
            <a:solidFill>
              <a:srgbClr val="E9C87A"/>
            </a:solidFill>
            <a:prstDash val="solid"/>
          </a:ln>
          <a:effectLst>
            <a:outerShdw blurRad="63500" dist="254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PK" sz="3600"/>
          </a:p>
        </p:txBody>
      </p:sp>
      <p:sp>
        <p:nvSpPr>
          <p:cNvPr id="20" name="Shape 18"/>
          <p:cNvSpPr/>
          <p:nvPr/>
        </p:nvSpPr>
        <p:spPr>
          <a:xfrm>
            <a:off x="9457944" y="5295900"/>
            <a:ext cx="109728" cy="2667000"/>
          </a:xfrm>
          <a:prstGeom prst="rect">
            <a:avLst/>
          </a:prstGeom>
          <a:solidFill>
            <a:srgbClr val="171D47"/>
          </a:solidFill>
          <a:ln/>
        </p:spPr>
        <p:txBody>
          <a:bodyPr/>
          <a:lstStyle/>
          <a:p>
            <a:endParaRPr lang="en-PK" sz="3600"/>
          </a:p>
        </p:txBody>
      </p:sp>
      <p:sp>
        <p:nvSpPr>
          <p:cNvPr id="21" name="Text 19"/>
          <p:cNvSpPr/>
          <p:nvPr/>
        </p:nvSpPr>
        <p:spPr>
          <a:xfrm>
            <a:off x="9787128" y="5551932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Multi-Machine, One PC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87128" y="5929884"/>
            <a:ext cx="7790688" cy="1728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dirty="0"/>
              <a:t>10 different imaging machines each with their own software, all connected to one central PC. AFIO ScanAI runs on that PC, watches the shared folder, and handles output from every </a:t>
            </a:r>
            <a:r>
              <a:rPr lang="en-US" sz="2400"/>
              <a:t>machine.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76072"/>
            <a:ext cx="1371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OPTION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987552"/>
            <a:ext cx="166375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1: AI-Based Image Analysis (Continue Our Original Project)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728216"/>
            <a:ext cx="166375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20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with our current AI models: raw ophthalmic images (Fundus, OCT, Corneal, etc.) are analyzed directly to generate disease predictions, and the doctor verifies the AI output before finalizing the diagnosis.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18845" y="3561146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7" name="Text 5"/>
          <p:cNvSpPr/>
          <p:nvPr/>
        </p:nvSpPr>
        <p:spPr>
          <a:xfrm>
            <a:off x="887425" y="3561146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Device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914061" y="3561146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43245" y="3561146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0" name="Text 8"/>
          <p:cNvSpPr/>
          <p:nvPr/>
        </p:nvSpPr>
        <p:spPr>
          <a:xfrm>
            <a:off x="3311825" y="3561146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Image (JPG/DICOM)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8463" y="3561146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667647" y="3561146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D9A44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3" name="Text 11"/>
          <p:cNvSpPr/>
          <p:nvPr/>
        </p:nvSpPr>
        <p:spPr>
          <a:xfrm>
            <a:off x="5736227" y="3561146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AFIO ScanAI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62863" y="3561146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8092048" y="3561146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6" name="Text 14"/>
          <p:cNvSpPr/>
          <p:nvPr/>
        </p:nvSpPr>
        <p:spPr>
          <a:xfrm>
            <a:off x="8228870" y="3595116"/>
            <a:ext cx="18215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Prediction + Grad-CAM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187264" y="3561146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10516448" y="3561146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9" name="Text 17"/>
          <p:cNvSpPr/>
          <p:nvPr/>
        </p:nvSpPr>
        <p:spPr>
          <a:xfrm>
            <a:off x="10585028" y="3561146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Report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611666" y="3561146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12940850" y="3561146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22" name="Text 20"/>
          <p:cNvSpPr/>
          <p:nvPr/>
        </p:nvSpPr>
        <p:spPr>
          <a:xfrm>
            <a:off x="13009430" y="3561146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Validation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5036066" y="3561146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15365251" y="3561146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25" name="Text 23"/>
          <p:cNvSpPr/>
          <p:nvPr/>
        </p:nvSpPr>
        <p:spPr>
          <a:xfrm>
            <a:off x="15433831" y="3561146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Database</a:t>
            </a: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822960" y="5295900"/>
            <a:ext cx="5272887" cy="4594860"/>
          </a:xfrm>
          <a:prstGeom prst="roundRect">
            <a:avLst>
              <a:gd name="adj" fmla="val 238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27" name="Text 25"/>
          <p:cNvSpPr/>
          <p:nvPr/>
        </p:nvSpPr>
        <p:spPr>
          <a:xfrm>
            <a:off x="1152144" y="5570220"/>
            <a:ext cx="461451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152144" y="6334531"/>
            <a:ext cx="4614519" cy="3415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on work already completed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of manufacturer software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different hospitals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AI via Grad-CAM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easily to smartphone cameras &amp; teleophthalmology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6507327" y="5295900"/>
            <a:ext cx="5272887" cy="4594860"/>
          </a:xfrm>
          <a:prstGeom prst="roundRect">
            <a:avLst>
              <a:gd name="adj" fmla="val 2388"/>
            </a:avLst>
          </a:prstGeom>
          <a:solidFill>
            <a:srgbClr val="F7F8FC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30" name="Text 28"/>
          <p:cNvSpPr/>
          <p:nvPr/>
        </p:nvSpPr>
        <p:spPr>
          <a:xfrm>
            <a:off x="6836511" y="5570220"/>
            <a:ext cx="461451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6836511" y="6334531"/>
            <a:ext cx="4614519" cy="3415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r>
              <a:rPr lang="en-US" sz="20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depends on image quality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r>
              <a:rPr lang="en-US" sz="20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require retraining on AFIO images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r>
              <a:rPr lang="en-US" sz="20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may differ from manufacturer reports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12191696" y="5295900"/>
            <a:ext cx="5272887" cy="4594860"/>
          </a:xfrm>
          <a:prstGeom prst="roundRect">
            <a:avLst>
              <a:gd name="adj" fmla="val 238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33" name="Text 31"/>
          <p:cNvSpPr/>
          <p:nvPr/>
        </p:nvSpPr>
        <p:spPr>
          <a:xfrm>
            <a:off x="12520880" y="5570220"/>
            <a:ext cx="461451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2800" dirty="0"/>
          </a:p>
        </p:txBody>
      </p:sp>
      <p:sp>
        <p:nvSpPr>
          <p:cNvPr id="34" name="Text 32"/>
          <p:cNvSpPr/>
          <p:nvPr/>
        </p:nvSpPr>
        <p:spPr>
          <a:xfrm>
            <a:off x="12543085" y="6295644"/>
            <a:ext cx="4614519" cy="3415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→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De-identified JPG/DICOM images from AFIO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→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validation, with fine-tuning if needed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76072"/>
            <a:ext cx="1371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OPTION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987552"/>
            <a:ext cx="166375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2: AI-Assisted Clinical Reporting (Use Machine Results)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728216"/>
            <a:ext cx="166375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20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the diagnostic machines to perform the medical analysis. AI interprets the machine-generated findings into structured, clinician-friendly reports — acting as a clinical assistant, not the primary diagnostician.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2743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18845" y="3512820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7" name="Text 5"/>
          <p:cNvSpPr/>
          <p:nvPr/>
        </p:nvSpPr>
        <p:spPr>
          <a:xfrm>
            <a:off x="976665" y="3512820"/>
            <a:ext cx="17795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Machine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914061" y="3512820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43245" y="3512820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0" name="Text 8"/>
          <p:cNvSpPr/>
          <p:nvPr/>
        </p:nvSpPr>
        <p:spPr>
          <a:xfrm>
            <a:off x="3311825" y="3512820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Report / DICOM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38463" y="3512820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667647" y="3512820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D9A44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3" name="Text 11"/>
          <p:cNvSpPr/>
          <p:nvPr/>
        </p:nvSpPr>
        <p:spPr>
          <a:xfrm>
            <a:off x="5736227" y="3512820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AFIO ScanAI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62863" y="3512820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8092048" y="3512820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6" name="Text 14"/>
          <p:cNvSpPr/>
          <p:nvPr/>
        </p:nvSpPr>
        <p:spPr>
          <a:xfrm>
            <a:off x="8160628" y="3512820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Clinical Interpretation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187264" y="3512820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10516448" y="3512820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9" name="Text 17"/>
          <p:cNvSpPr/>
          <p:nvPr/>
        </p:nvSpPr>
        <p:spPr>
          <a:xfrm>
            <a:off x="10585028" y="3512820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+ Risk Stratification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611666" y="3512820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12940850" y="3512820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22" name="Text 20"/>
          <p:cNvSpPr/>
          <p:nvPr/>
        </p:nvSpPr>
        <p:spPr>
          <a:xfrm>
            <a:off x="13009430" y="3512820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Report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5036066" y="3512820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15365251" y="3512820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25" name="Text 23"/>
          <p:cNvSpPr/>
          <p:nvPr/>
        </p:nvSpPr>
        <p:spPr>
          <a:xfrm>
            <a:off x="15433831" y="3512820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Database</a:t>
            </a: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822960" y="5295900"/>
            <a:ext cx="8046492" cy="4594860"/>
          </a:xfrm>
          <a:prstGeom prst="roundRect">
            <a:avLst>
              <a:gd name="adj" fmla="val 238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27" name="Text 25"/>
          <p:cNvSpPr/>
          <p:nvPr/>
        </p:nvSpPr>
        <p:spPr>
          <a:xfrm>
            <a:off x="1152144" y="5570220"/>
            <a:ext cx="73881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152144" y="6501187"/>
            <a:ext cx="7388124" cy="3415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clinical reliability</a:t>
            </a:r>
            <a:endParaRPr lang="en-US" sz="24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Aligns closely with current AFIO workflow</a:t>
            </a:r>
            <a:endParaRPr lang="en-US" sz="24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deployment</a:t>
            </a:r>
            <a:endParaRPr lang="en-US" sz="24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dependence on AI accuracy</a:t>
            </a:r>
            <a:endParaRPr lang="en-US" sz="24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Easier acceptance by clinicians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9418092" y="5295900"/>
            <a:ext cx="8046492" cy="4594860"/>
          </a:xfrm>
          <a:prstGeom prst="roundRect">
            <a:avLst>
              <a:gd name="adj" fmla="val 2388"/>
            </a:avLst>
          </a:prstGeom>
          <a:solidFill>
            <a:srgbClr val="F7F8FC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30" name="Text 28"/>
          <p:cNvSpPr/>
          <p:nvPr/>
        </p:nvSpPr>
        <p:spPr>
          <a:xfrm>
            <a:off x="9747276" y="5570220"/>
            <a:ext cx="73881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9747276" y="6338316"/>
            <a:ext cx="7388124" cy="3415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access to DICOM or machine-generated data</a:t>
            </a:r>
            <a:endParaRPr lang="en-US" sz="24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depends on manufacturer outputs</a:t>
            </a:r>
            <a:endParaRPr lang="en-US" sz="24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emphasis on independent disease detection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DC586E-7D8C-464B-29FC-E75FD9358D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4082674" y="-1190920"/>
            <a:ext cx="10122651" cy="1266883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759292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76072"/>
            <a:ext cx="1371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OPTION 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822960" y="987552"/>
            <a:ext cx="166375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3: Hybrid Intelligent Platform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728216"/>
            <a:ext cx="166375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5000"/>
              </a:lnSpc>
            </a:pPr>
            <a:r>
              <a:rPr lang="en-US" sz="20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both approaches: the diagnostic machine performs its analysis while our AI independently analyzes the raw image, and the system merges both into one unified clinician report.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0502" y="2888545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45884" y="3637395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7" name="Text 5"/>
          <p:cNvSpPr/>
          <p:nvPr/>
        </p:nvSpPr>
        <p:spPr>
          <a:xfrm>
            <a:off x="1044765" y="3637395"/>
            <a:ext cx="1697453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Device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941100" y="3637395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270284" y="3637395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0" name="Text 8"/>
          <p:cNvSpPr/>
          <p:nvPr/>
        </p:nvSpPr>
        <p:spPr>
          <a:xfrm>
            <a:off x="3338864" y="3637395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Analysis + Raw Image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365502" y="3637395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694686" y="3637395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D9A44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3" name="Text 11"/>
          <p:cNvSpPr/>
          <p:nvPr/>
        </p:nvSpPr>
        <p:spPr>
          <a:xfrm>
            <a:off x="5763266" y="3637395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AFIO ScanAI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789902" y="3637395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8119087" y="3637395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6" name="Text 14"/>
          <p:cNvSpPr/>
          <p:nvPr/>
        </p:nvSpPr>
        <p:spPr>
          <a:xfrm>
            <a:off x="8187667" y="3637395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Prediction + Machine Findings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0214303" y="3637395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10543487" y="3637395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9" name="Text 17"/>
          <p:cNvSpPr/>
          <p:nvPr/>
        </p:nvSpPr>
        <p:spPr>
          <a:xfrm>
            <a:off x="10612067" y="3637395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Clinical Report</a:t>
            </a: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12638705" y="3637395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12967889" y="3637395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22" name="Text 20"/>
          <p:cNvSpPr/>
          <p:nvPr/>
        </p:nvSpPr>
        <p:spPr>
          <a:xfrm>
            <a:off x="13036469" y="3637395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Review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15063105" y="3637395"/>
            <a:ext cx="32918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15392290" y="3637395"/>
            <a:ext cx="2095217" cy="1097280"/>
          </a:xfrm>
          <a:prstGeom prst="roundRect">
            <a:avLst>
              <a:gd name="adj" fmla="val 75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25" name="Text 23"/>
          <p:cNvSpPr/>
          <p:nvPr/>
        </p:nvSpPr>
        <p:spPr>
          <a:xfrm>
            <a:off x="15460870" y="3637395"/>
            <a:ext cx="1958057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+ Database</a:t>
            </a: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822960" y="5600700"/>
            <a:ext cx="8046492" cy="4137660"/>
          </a:xfrm>
          <a:prstGeom prst="roundRect">
            <a:avLst>
              <a:gd name="adj" fmla="val 2388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27" name="Text 25"/>
          <p:cNvSpPr/>
          <p:nvPr/>
        </p:nvSpPr>
        <p:spPr>
          <a:xfrm>
            <a:off x="1152144" y="5829300"/>
            <a:ext cx="73881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Advantages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1152144" y="6496812"/>
            <a:ext cx="7388124" cy="3415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Combines machine analysis &amp; AI strengths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verification of machine findings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explainability and richer reports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start manual and evolve into full DICOM integration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✓"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scalable, future-proof solution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9418092" y="5600700"/>
            <a:ext cx="8046492" cy="4137660"/>
          </a:xfrm>
          <a:prstGeom prst="roundRect">
            <a:avLst>
              <a:gd name="adj" fmla="val 2388"/>
            </a:avLst>
          </a:prstGeom>
          <a:solidFill>
            <a:srgbClr val="F7F8FC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30" name="Text 28"/>
          <p:cNvSpPr/>
          <p:nvPr/>
        </p:nvSpPr>
        <p:spPr>
          <a:xfrm>
            <a:off x="9747276" y="5798550"/>
            <a:ext cx="73881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2800" dirty="0"/>
          </a:p>
        </p:txBody>
      </p:sp>
      <p:sp>
        <p:nvSpPr>
          <p:cNvPr id="31" name="Text 29"/>
          <p:cNvSpPr/>
          <p:nvPr/>
        </p:nvSpPr>
        <p:spPr>
          <a:xfrm>
            <a:off x="9767493" y="6450060"/>
            <a:ext cx="7388124" cy="3415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r>
              <a:rPr lang="en-US" sz="20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complex implementation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r>
              <a:rPr lang="en-US" sz="20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synchronization between images and machine reports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r>
              <a:rPr lang="en-US" sz="20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local validation before deployment</a:t>
            </a:r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FontTx/>
              <a:buChar char="●"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10 machines has its own export format</a:t>
            </a:r>
            <a:endParaRPr lang="en-US" sz="2000" dirty="0"/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endParaRPr lang="en-US" sz="2000" dirty="0">
              <a:solidFill>
                <a:srgbClr val="5A617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04800" indent="-304800">
              <a:lnSpc>
                <a:spcPct val="108000"/>
              </a:lnSpc>
              <a:spcAft>
                <a:spcPts val="1350"/>
              </a:spcAft>
              <a:buSzPct val="100000"/>
              <a:buChar char="●"/>
            </a:pP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76072"/>
            <a:ext cx="1371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COMPARISON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22960" y="987552"/>
            <a:ext cx="166375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the Three Approaches</a:t>
            </a:r>
            <a:endParaRPr lang="en-US" sz="4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4739623"/>
              </p:ext>
            </p:extLst>
          </p:nvPr>
        </p:nvGraphicFramePr>
        <p:xfrm>
          <a:off x="822960" y="1929679"/>
          <a:ext cx="16640253" cy="7780020"/>
        </p:xfrm>
        <a:graphic>
          <a:graphicData uri="http://schemas.openxmlformats.org/drawingml/2006/table">
            <a:tbl>
              <a:tblPr/>
              <a:tblGrid>
                <a:gridCol w="5760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65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65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2651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800" b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28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800" b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1</a:t>
                      </a:r>
                      <a:endParaRPr lang="en-US" sz="28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2800" b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Image Analysis</a:t>
                      </a:r>
                      <a:endParaRPr lang="en-US" sz="28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800" b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2</a:t>
                      </a:r>
                      <a:endParaRPr lang="en-US" sz="28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2800" b="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Clinical Reporting</a:t>
                      </a:r>
                      <a:endParaRPr lang="en-US" sz="28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8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 3</a:t>
                      </a:r>
                      <a:endParaRPr lang="en-US" sz="28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28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Platform </a:t>
                      </a:r>
                      <a:endParaRPr lang="en-US" sz="28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A4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analyzes raw images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Uses machine-generated reports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Independent disease detection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explains machine findings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❌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Compatible with existing workflow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retraining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Possibly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Future DICOM integration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Dashboard, Memory Bank &amp; Database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543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4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5A61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400" b="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</a:t>
                      </a:r>
                      <a:endParaRPr lang="en-US" sz="24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68580" marB="68580" anchor="ctr">
                    <a:lnL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C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C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165952"/>
            <a:ext cx="13716000" cy="1825795"/>
            <a:chOff x="0" y="0"/>
            <a:chExt cx="18288000" cy="243439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288000" cy="2434393"/>
            </a:xfrm>
            <a:custGeom>
              <a:avLst/>
              <a:gdLst/>
              <a:ahLst/>
              <a:cxnLst/>
              <a:rect l="l" t="t" r="r" b="b"/>
              <a:pathLst>
                <a:path w="18288000" h="2434393">
                  <a:moveTo>
                    <a:pt x="0" y="0"/>
                  </a:moveTo>
                  <a:lnTo>
                    <a:pt x="18288000" y="0"/>
                  </a:lnTo>
                  <a:lnTo>
                    <a:pt x="18288000" y="2434393"/>
                  </a:lnTo>
                  <a:lnTo>
                    <a:pt x="0" y="243439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33231" b="-59524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8288000" cy="244391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99"/>
                </a:lnSpc>
              </a:pPr>
              <a:r>
                <a:rPr lang="en-US" sz="2499" b="1" spc="416">
                  <a:solidFill>
                    <a:srgbClr val="D9A44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STAKEHOLDER VALUE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080044"/>
            <a:ext cx="16596360" cy="1234440"/>
            <a:chOff x="0" y="0"/>
            <a:chExt cx="22128480" cy="16459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128480" cy="1645920"/>
            </a:xfrm>
            <a:custGeom>
              <a:avLst/>
              <a:gdLst/>
              <a:ahLst/>
              <a:cxnLst/>
              <a:rect l="l" t="t" r="r" b="b"/>
              <a:pathLst>
                <a:path w="22128480" h="1645920">
                  <a:moveTo>
                    <a:pt x="0" y="0"/>
                  </a:moveTo>
                  <a:lnTo>
                    <a:pt x="22128480" y="0"/>
                  </a:lnTo>
                  <a:lnTo>
                    <a:pt x="2212848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211965" b="-21196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22128480" cy="16649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400"/>
                </a:lnSpc>
              </a:pPr>
              <a:r>
                <a:rPr lang="en-US" sz="4500" b="1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Why This Solution Fits AFIO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743200"/>
            <a:ext cx="3977640" cy="6035040"/>
            <a:chOff x="0" y="0"/>
            <a:chExt cx="5303520" cy="80467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303520" cy="8046720"/>
            </a:xfrm>
            <a:custGeom>
              <a:avLst/>
              <a:gdLst/>
              <a:ahLst/>
              <a:cxnLst/>
              <a:rect l="l" t="t" r="r" b="b"/>
              <a:pathLst>
                <a:path w="5303520" h="8046720">
                  <a:moveTo>
                    <a:pt x="0" y="0"/>
                  </a:moveTo>
                  <a:lnTo>
                    <a:pt x="5303520" y="0"/>
                  </a:lnTo>
                  <a:lnTo>
                    <a:pt x="5303520" y="8046720"/>
                  </a:lnTo>
                  <a:lnTo>
                    <a:pt x="0" y="8046720"/>
                  </a:lnTo>
                  <a:close/>
                </a:path>
              </a:pathLst>
            </a:custGeom>
            <a:solidFill>
              <a:srgbClr val="F7F8FC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2933465"/>
            <a:ext cx="685800" cy="685800"/>
            <a:chOff x="0" y="0"/>
            <a:chExt cx="914400" cy="91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E276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165860" y="2313289"/>
            <a:ext cx="685800" cy="1903021"/>
            <a:chOff x="0" y="0"/>
            <a:chExt cx="914400" cy="2537361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14400" cy="2537361"/>
            </a:xfrm>
            <a:custGeom>
              <a:avLst/>
              <a:gdLst/>
              <a:ahLst/>
              <a:cxnLst/>
              <a:rect l="l" t="t" r="r" b="b"/>
              <a:pathLst>
                <a:path w="914400" h="2537361">
                  <a:moveTo>
                    <a:pt x="0" y="0"/>
                  </a:moveTo>
                  <a:lnTo>
                    <a:pt x="914400" y="0"/>
                  </a:lnTo>
                  <a:lnTo>
                    <a:pt x="914400" y="2537361"/>
                  </a:lnTo>
                  <a:lnTo>
                    <a:pt x="0" y="253736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 b="639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19050"/>
              <a:ext cx="914400" cy="25564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19"/>
                </a:lnSpc>
              </a:pPr>
              <a:r>
                <a:rPr lang="en-US" sz="2599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023110" y="2240830"/>
            <a:ext cx="3291840" cy="2047939"/>
            <a:chOff x="0" y="0"/>
            <a:chExt cx="4389120" cy="2730586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389120" cy="2730586"/>
            </a:xfrm>
            <a:custGeom>
              <a:avLst/>
              <a:gdLst/>
              <a:ahLst/>
              <a:cxnLst/>
              <a:rect l="l" t="t" r="r" b="b"/>
              <a:pathLst>
                <a:path w="4389120" h="2730586">
                  <a:moveTo>
                    <a:pt x="0" y="0"/>
                  </a:moveTo>
                  <a:lnTo>
                    <a:pt x="4389120" y="0"/>
                  </a:lnTo>
                  <a:lnTo>
                    <a:pt x="4389120" y="2730586"/>
                  </a:lnTo>
                  <a:lnTo>
                    <a:pt x="0" y="273058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250" b="536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4389120" cy="2740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Technicians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65860" y="3188970"/>
            <a:ext cx="3291840" cy="3909060"/>
            <a:chOff x="0" y="0"/>
            <a:chExt cx="4389120" cy="521208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389120" cy="5212080"/>
            </a:xfrm>
            <a:custGeom>
              <a:avLst/>
              <a:gdLst/>
              <a:ahLst/>
              <a:cxnLst/>
              <a:rect l="l" t="t" r="r" b="b"/>
              <a:pathLst>
                <a:path w="4389120" h="5212080">
                  <a:moveTo>
                    <a:pt x="0" y="0"/>
                  </a:moveTo>
                  <a:lnTo>
                    <a:pt x="4389120" y="0"/>
                  </a:lnTo>
                  <a:lnTo>
                    <a:pt x="4389120" y="5212080"/>
                  </a:lnTo>
                  <a:lnTo>
                    <a:pt x="0" y="521208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02360" r="-10236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66675"/>
              <a:ext cx="4389120" cy="527875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171D47"/>
                  </a:solidFill>
                  <a:latin typeface="Cambria"/>
                  <a:ea typeface="Cambria"/>
                  <a:cs typeface="Cambria"/>
                  <a:sym typeface="Cambria"/>
                </a:rPr>
                <a:t>No repeated documentation</a:t>
              </a:r>
            </a:p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171D47"/>
                  </a:solidFill>
                  <a:latin typeface="Cambria"/>
                  <a:ea typeface="Cambria"/>
                  <a:cs typeface="Cambria"/>
                  <a:sym typeface="Cambria"/>
                </a:rPr>
                <a:t>Faster report generation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5143500" y="2743200"/>
            <a:ext cx="3977640" cy="6035040"/>
            <a:chOff x="0" y="0"/>
            <a:chExt cx="5303520" cy="804672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5303520" cy="8046720"/>
            </a:xfrm>
            <a:custGeom>
              <a:avLst/>
              <a:gdLst/>
              <a:ahLst/>
              <a:cxnLst/>
              <a:rect l="l" t="t" r="r" b="b"/>
              <a:pathLst>
                <a:path w="5303520" h="8046720">
                  <a:moveTo>
                    <a:pt x="0" y="0"/>
                  </a:moveTo>
                  <a:lnTo>
                    <a:pt x="5303520" y="0"/>
                  </a:lnTo>
                  <a:lnTo>
                    <a:pt x="5303520" y="8046720"/>
                  </a:lnTo>
                  <a:lnTo>
                    <a:pt x="0" y="8046720"/>
                  </a:lnTo>
                  <a:close/>
                </a:path>
              </a:pathLst>
            </a:custGeom>
            <a:solidFill>
              <a:srgbClr val="F7F8FC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5486400" y="2933465"/>
            <a:ext cx="685800" cy="685800"/>
            <a:chOff x="0" y="0"/>
            <a:chExt cx="914400" cy="91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E276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5486400" y="2324855"/>
            <a:ext cx="685800" cy="1903021"/>
            <a:chOff x="0" y="0"/>
            <a:chExt cx="914400" cy="2537361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914400" cy="2537361"/>
            </a:xfrm>
            <a:custGeom>
              <a:avLst/>
              <a:gdLst/>
              <a:ahLst/>
              <a:cxnLst/>
              <a:rect l="l" t="t" r="r" b="b"/>
              <a:pathLst>
                <a:path w="914400" h="2537361">
                  <a:moveTo>
                    <a:pt x="0" y="0"/>
                  </a:moveTo>
                  <a:lnTo>
                    <a:pt x="914400" y="0"/>
                  </a:lnTo>
                  <a:lnTo>
                    <a:pt x="914400" y="2537361"/>
                  </a:lnTo>
                  <a:lnTo>
                    <a:pt x="0" y="253736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 b="639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914400" cy="25564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19"/>
                </a:lnSpc>
              </a:pPr>
              <a:r>
                <a:rPr lang="en-US" sz="2599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6429375" y="2179936"/>
            <a:ext cx="3291840" cy="2047939"/>
            <a:chOff x="0" y="0"/>
            <a:chExt cx="4389120" cy="2730586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4389120" cy="2730586"/>
            </a:xfrm>
            <a:custGeom>
              <a:avLst/>
              <a:gdLst/>
              <a:ahLst/>
              <a:cxnLst/>
              <a:rect l="l" t="t" r="r" b="b"/>
              <a:pathLst>
                <a:path w="4389120" h="2730586">
                  <a:moveTo>
                    <a:pt x="0" y="0"/>
                  </a:moveTo>
                  <a:lnTo>
                    <a:pt x="4389120" y="0"/>
                  </a:lnTo>
                  <a:lnTo>
                    <a:pt x="4389120" y="2730586"/>
                  </a:lnTo>
                  <a:lnTo>
                    <a:pt x="0" y="273058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250" b="536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4389120" cy="2740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 dirty="0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Clinicians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5486400" y="3459895"/>
            <a:ext cx="3291840" cy="4148880"/>
            <a:chOff x="0" y="0"/>
            <a:chExt cx="4389120" cy="553184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4389120" cy="5531840"/>
            </a:xfrm>
            <a:custGeom>
              <a:avLst/>
              <a:gdLst/>
              <a:ahLst/>
              <a:cxnLst/>
              <a:rect l="l" t="t" r="r" b="b"/>
              <a:pathLst>
                <a:path w="4389120" h="5531840">
                  <a:moveTo>
                    <a:pt x="0" y="0"/>
                  </a:moveTo>
                  <a:lnTo>
                    <a:pt x="4389120" y="0"/>
                  </a:lnTo>
                  <a:lnTo>
                    <a:pt x="4389120" y="5531840"/>
                  </a:lnTo>
                  <a:lnTo>
                    <a:pt x="0" y="5531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02360" r="-102360" b="578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66675"/>
              <a:ext cx="4389120" cy="55985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171D47"/>
                  </a:solidFill>
                  <a:latin typeface="Cambria"/>
                  <a:ea typeface="Cambria"/>
                  <a:cs typeface="Cambria"/>
                  <a:sym typeface="Cambria"/>
                </a:rPr>
                <a:t>AI-assisted interpretation</a:t>
              </a:r>
            </a:p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171D47"/>
                  </a:solidFill>
                  <a:latin typeface="Cambria"/>
                  <a:ea typeface="Cambria"/>
                  <a:cs typeface="Cambria"/>
                  <a:sym typeface="Cambria"/>
                </a:rPr>
                <a:t>Standardized reporting</a:t>
              </a:r>
            </a:p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171D47"/>
                  </a:solidFill>
                  <a:latin typeface="Cambria"/>
                  <a:ea typeface="Cambria"/>
                  <a:cs typeface="Cambria"/>
                  <a:sym typeface="Cambria"/>
                </a:rPr>
                <a:t>Faster decision support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9464040" y="2743200"/>
            <a:ext cx="3977640" cy="6035040"/>
            <a:chOff x="0" y="0"/>
            <a:chExt cx="5303520" cy="80467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5303520" cy="8046720"/>
            </a:xfrm>
            <a:custGeom>
              <a:avLst/>
              <a:gdLst/>
              <a:ahLst/>
              <a:cxnLst/>
              <a:rect l="l" t="t" r="r" b="b"/>
              <a:pathLst>
                <a:path w="5303520" h="8046720">
                  <a:moveTo>
                    <a:pt x="0" y="0"/>
                  </a:moveTo>
                  <a:lnTo>
                    <a:pt x="5303520" y="0"/>
                  </a:lnTo>
                  <a:lnTo>
                    <a:pt x="5303520" y="8046720"/>
                  </a:lnTo>
                  <a:lnTo>
                    <a:pt x="0" y="8046720"/>
                  </a:lnTo>
                  <a:close/>
                </a:path>
              </a:pathLst>
            </a:custGeom>
            <a:solidFill>
              <a:srgbClr val="F7F8FC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806940" y="2933465"/>
            <a:ext cx="685800" cy="685800"/>
            <a:chOff x="0" y="0"/>
            <a:chExt cx="914400" cy="91440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1E276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806940" y="2324855"/>
            <a:ext cx="685800" cy="1903021"/>
            <a:chOff x="0" y="0"/>
            <a:chExt cx="914400" cy="2537361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914400" cy="2537361"/>
            </a:xfrm>
            <a:custGeom>
              <a:avLst/>
              <a:gdLst/>
              <a:ahLst/>
              <a:cxnLst/>
              <a:rect l="l" t="t" r="r" b="b"/>
              <a:pathLst>
                <a:path w="914400" h="2537361">
                  <a:moveTo>
                    <a:pt x="0" y="0"/>
                  </a:moveTo>
                  <a:lnTo>
                    <a:pt x="914400" y="0"/>
                  </a:lnTo>
                  <a:lnTo>
                    <a:pt x="914400" y="2537361"/>
                  </a:lnTo>
                  <a:lnTo>
                    <a:pt x="0" y="253736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 b="639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914400" cy="25564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19"/>
                </a:lnSpc>
              </a:pPr>
              <a:r>
                <a:rPr lang="en-US" sz="2599" b="1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3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0749915" y="2240830"/>
            <a:ext cx="3291840" cy="2047939"/>
            <a:chOff x="0" y="0"/>
            <a:chExt cx="4389120" cy="273058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389120" cy="2730586"/>
            </a:xfrm>
            <a:custGeom>
              <a:avLst/>
              <a:gdLst/>
              <a:ahLst/>
              <a:cxnLst/>
              <a:rect l="l" t="t" r="r" b="b"/>
              <a:pathLst>
                <a:path w="4389120" h="2730586">
                  <a:moveTo>
                    <a:pt x="0" y="0"/>
                  </a:moveTo>
                  <a:lnTo>
                    <a:pt x="4389120" y="0"/>
                  </a:lnTo>
                  <a:lnTo>
                    <a:pt x="4389120" y="2730586"/>
                  </a:lnTo>
                  <a:lnTo>
                    <a:pt x="0" y="273058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250" b="536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4389120" cy="2740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Specialists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806940" y="3459895"/>
            <a:ext cx="3291840" cy="4148880"/>
            <a:chOff x="0" y="0"/>
            <a:chExt cx="4389120" cy="553184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389120" cy="5531840"/>
            </a:xfrm>
            <a:custGeom>
              <a:avLst/>
              <a:gdLst/>
              <a:ahLst/>
              <a:cxnLst/>
              <a:rect l="l" t="t" r="r" b="b"/>
              <a:pathLst>
                <a:path w="4389120" h="5531840">
                  <a:moveTo>
                    <a:pt x="0" y="0"/>
                  </a:moveTo>
                  <a:lnTo>
                    <a:pt x="4389120" y="0"/>
                  </a:lnTo>
                  <a:lnTo>
                    <a:pt x="4389120" y="5531840"/>
                  </a:lnTo>
                  <a:lnTo>
                    <a:pt x="0" y="55318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02360" r="-102360" b="578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66675"/>
              <a:ext cx="4389120" cy="55985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171D47"/>
                  </a:solidFill>
                  <a:latin typeface="Cambria"/>
                  <a:ea typeface="Cambria"/>
                  <a:cs typeface="Cambria"/>
                  <a:sym typeface="Cambria"/>
                </a:rPr>
                <a:t>Complete patient history</a:t>
              </a:r>
            </a:p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171D47"/>
                  </a:solidFill>
                  <a:latin typeface="Cambria"/>
                  <a:ea typeface="Cambria"/>
                  <a:cs typeface="Cambria"/>
                  <a:sym typeface="Cambria"/>
                </a:rPr>
                <a:t>Previous scans available instantly</a:t>
              </a:r>
            </a:p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171D47"/>
                  </a:solidFill>
                  <a:latin typeface="Cambria"/>
                  <a:ea typeface="Cambria"/>
                  <a:cs typeface="Cambria"/>
                  <a:sym typeface="Cambria"/>
                </a:rPr>
                <a:t>Unified report across modalities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3800624" y="2743200"/>
            <a:ext cx="4182576" cy="6035040"/>
            <a:chOff x="0" y="0"/>
            <a:chExt cx="5576768" cy="804672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576769" cy="8046720"/>
            </a:xfrm>
            <a:custGeom>
              <a:avLst/>
              <a:gdLst/>
              <a:ahLst/>
              <a:cxnLst/>
              <a:rect l="l" t="t" r="r" b="b"/>
              <a:pathLst>
                <a:path w="5576769" h="8046720">
                  <a:moveTo>
                    <a:pt x="0" y="0"/>
                  </a:moveTo>
                  <a:lnTo>
                    <a:pt x="5576769" y="0"/>
                  </a:lnTo>
                  <a:lnTo>
                    <a:pt x="5576769" y="8046720"/>
                  </a:lnTo>
                  <a:lnTo>
                    <a:pt x="0" y="8046720"/>
                  </a:lnTo>
                  <a:close/>
                </a:path>
              </a:pathLst>
            </a:custGeom>
            <a:solidFill>
              <a:srgbClr val="1E276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4127480" y="2933465"/>
            <a:ext cx="685800" cy="685800"/>
            <a:chOff x="0" y="0"/>
            <a:chExt cx="914400" cy="914400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D9A441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14127480" y="2324855"/>
            <a:ext cx="685800" cy="1903021"/>
            <a:chOff x="0" y="0"/>
            <a:chExt cx="914400" cy="2537361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914400" cy="2537361"/>
            </a:xfrm>
            <a:custGeom>
              <a:avLst/>
              <a:gdLst/>
              <a:ahLst/>
              <a:cxnLst/>
              <a:rect l="l" t="t" r="r" b="b"/>
              <a:pathLst>
                <a:path w="914400" h="2537361">
                  <a:moveTo>
                    <a:pt x="0" y="0"/>
                  </a:moveTo>
                  <a:lnTo>
                    <a:pt x="914400" y="0"/>
                  </a:lnTo>
                  <a:lnTo>
                    <a:pt x="914400" y="2537361"/>
                  </a:lnTo>
                  <a:lnTo>
                    <a:pt x="0" y="2537361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78303" r="-78303" b="639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19050"/>
              <a:ext cx="914400" cy="25564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119"/>
                </a:lnSpc>
              </a:pPr>
              <a:r>
                <a:rPr lang="en-US" sz="2599" b="1">
                  <a:solidFill>
                    <a:srgbClr val="1E2761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</a:t>
              </a:r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4899005" y="2252395"/>
            <a:ext cx="3291840" cy="2047939"/>
            <a:chOff x="0" y="0"/>
            <a:chExt cx="4389120" cy="2730586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389120" cy="2730586"/>
            </a:xfrm>
            <a:custGeom>
              <a:avLst/>
              <a:gdLst/>
              <a:ahLst/>
              <a:cxnLst/>
              <a:rect l="l" t="t" r="r" b="b"/>
              <a:pathLst>
                <a:path w="4389120" h="2730586">
                  <a:moveTo>
                    <a:pt x="0" y="0"/>
                  </a:moveTo>
                  <a:lnTo>
                    <a:pt x="4389120" y="0"/>
                  </a:lnTo>
                  <a:lnTo>
                    <a:pt x="4389120" y="2730586"/>
                  </a:lnTo>
                  <a:lnTo>
                    <a:pt x="0" y="2730586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t="-16250" b="53610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9525"/>
              <a:ext cx="4389120" cy="274011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359"/>
                </a:lnSpc>
              </a:pPr>
              <a:r>
                <a:rPr lang="en-US" sz="2799" b="1" dirty="0">
                  <a:solidFill>
                    <a:srgbClr val="FFFFFF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AFIO (Institution)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4127480" y="3459895"/>
            <a:ext cx="3291840" cy="5063280"/>
            <a:chOff x="0" y="0"/>
            <a:chExt cx="4389120" cy="675104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4389120" cy="6751040"/>
            </a:xfrm>
            <a:custGeom>
              <a:avLst/>
              <a:gdLst/>
              <a:ahLst/>
              <a:cxnLst/>
              <a:rect l="l" t="t" r="r" b="b"/>
              <a:pathLst>
                <a:path w="4389120" h="6751040">
                  <a:moveTo>
                    <a:pt x="0" y="0"/>
                  </a:moveTo>
                  <a:lnTo>
                    <a:pt x="4389120" y="0"/>
                  </a:lnTo>
                  <a:lnTo>
                    <a:pt x="4389120" y="6751040"/>
                  </a:lnTo>
                  <a:lnTo>
                    <a:pt x="0" y="6751040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02360" r="-102360" b="22795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66675"/>
              <a:ext cx="4389120" cy="681771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Digital Memory Bank</a:t>
              </a:r>
            </a:p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Centralized database</a:t>
              </a:r>
            </a:p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Image integration</a:t>
              </a:r>
            </a:p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Future teleophthalmology</a:t>
              </a:r>
            </a:p>
            <a:p>
              <a:pPr marL="461482" lvl="1" indent="-230741" algn="l">
                <a:lnSpc>
                  <a:spcPts val="3671"/>
                </a:lnSpc>
                <a:buFont typeface="Arial"/>
                <a:buChar char="•"/>
              </a:pPr>
              <a:r>
                <a:rPr lang="en-US" sz="2549">
                  <a:solidFill>
                    <a:srgbClr val="FFFFFF"/>
                  </a:solidFill>
                  <a:latin typeface="Cambria"/>
                  <a:ea typeface="Cambria"/>
                  <a:cs typeface="Cambria"/>
                  <a:sym typeface="Cambria"/>
                </a:rPr>
                <a:t>Scalable AI platform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7282160" y="9669780"/>
            <a:ext cx="822960" cy="1101198"/>
            <a:chOff x="0" y="0"/>
            <a:chExt cx="1097280" cy="1468264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097280" cy="1468264"/>
            </a:xfrm>
            <a:custGeom>
              <a:avLst/>
              <a:gdLst/>
              <a:ahLst/>
              <a:cxnLst/>
              <a:rect l="l" t="t" r="r" b="b"/>
              <a:pathLst>
                <a:path w="1097280" h="1468264">
                  <a:moveTo>
                    <a:pt x="0" y="0"/>
                  </a:moveTo>
                  <a:lnTo>
                    <a:pt x="1097280" y="0"/>
                  </a:lnTo>
                  <a:lnTo>
                    <a:pt x="1097280" y="1468264"/>
                  </a:lnTo>
                  <a:lnTo>
                    <a:pt x="0" y="1468264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14151" r="-14151" b="62633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9525"/>
              <a:ext cx="1097280" cy="147778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800"/>
                </a:lnSpc>
              </a:pPr>
              <a:r>
                <a:rPr lang="en-US" sz="1500">
                  <a:solidFill>
                    <a:srgbClr val="A9AEC2"/>
                  </a:solidFill>
                  <a:latin typeface="Cambria"/>
                  <a:ea typeface="Cambria"/>
                  <a:cs typeface="Cambria"/>
                  <a:sym typeface="Cambria"/>
                </a:rPr>
                <a:t>07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76072"/>
            <a:ext cx="10972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AFIO SCANAI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987552"/>
            <a:ext cx="16637508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Components for All Solutions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1663750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800" i="1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Regardless of the implementation strategy, every proposed solution includes the following core components.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066548" y="2625901"/>
            <a:ext cx="6535521" cy="3429000"/>
          </a:xfrm>
          <a:prstGeom prst="roundRect">
            <a:avLst>
              <a:gd name="adj" fmla="val 3600"/>
            </a:avLst>
          </a:prstGeom>
          <a:solidFill>
            <a:srgbClr val="F7F8FC"/>
          </a:solidFill>
          <a:ln/>
        </p:spPr>
        <p:txBody>
          <a:bodyPr/>
          <a:lstStyle/>
          <a:p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2341988" y="2764487"/>
            <a:ext cx="648667" cy="466344"/>
          </a:xfrm>
          <a:prstGeom prst="roundRect">
            <a:avLst>
              <a:gd name="adj" fmla="val 17647"/>
            </a:avLst>
          </a:prstGeom>
          <a:solidFill>
            <a:srgbClr val="D9A44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7" name="Text 5"/>
          <p:cNvSpPr/>
          <p:nvPr/>
        </p:nvSpPr>
        <p:spPr>
          <a:xfrm>
            <a:off x="2318203" y="2768174"/>
            <a:ext cx="648667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302966" y="2764487"/>
            <a:ext cx="441612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Clinical Dashboard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508259" y="3512722"/>
            <a:ext cx="5668438" cy="246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 Dashboard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Consultant Dashboard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Portal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(RBAC)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281652" y="2578608"/>
            <a:ext cx="6535521" cy="3429000"/>
          </a:xfrm>
          <a:prstGeom prst="roundRect">
            <a:avLst>
              <a:gd name="adj" fmla="val 36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1" name="Shape 9"/>
          <p:cNvSpPr/>
          <p:nvPr/>
        </p:nvSpPr>
        <p:spPr>
          <a:xfrm>
            <a:off x="9583404" y="2825496"/>
            <a:ext cx="685800" cy="466344"/>
          </a:xfrm>
          <a:prstGeom prst="roundRect">
            <a:avLst>
              <a:gd name="adj" fmla="val 17647"/>
            </a:avLst>
          </a:prstGeom>
          <a:solidFill>
            <a:srgbClr val="D9A44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2" name="Text 10"/>
          <p:cNvSpPr/>
          <p:nvPr/>
        </p:nvSpPr>
        <p:spPr>
          <a:xfrm>
            <a:off x="9583404" y="2825496"/>
            <a:ext cx="6858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0543917" y="2825496"/>
            <a:ext cx="4668927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Database Management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2082886" y="6336792"/>
            <a:ext cx="6519184" cy="3429000"/>
          </a:xfrm>
          <a:prstGeom prst="roundRect">
            <a:avLst>
              <a:gd name="adj" fmla="val 3600"/>
            </a:avLst>
          </a:prstGeom>
          <a:solidFill>
            <a:srgbClr val="F7F8FC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6" name="Shape 14"/>
          <p:cNvSpPr/>
          <p:nvPr/>
        </p:nvSpPr>
        <p:spPr>
          <a:xfrm>
            <a:off x="2373727" y="6623402"/>
            <a:ext cx="685800" cy="466344"/>
          </a:xfrm>
          <a:prstGeom prst="roundRect">
            <a:avLst>
              <a:gd name="adj" fmla="val 17647"/>
            </a:avLst>
          </a:prstGeom>
          <a:solidFill>
            <a:srgbClr val="D9A44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17" name="Text 15"/>
          <p:cNvSpPr/>
          <p:nvPr/>
        </p:nvSpPr>
        <p:spPr>
          <a:xfrm>
            <a:off x="2373727" y="6623402"/>
            <a:ext cx="6858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3302966" y="6589874"/>
            <a:ext cx="4668927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Reporting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2508259" y="7309300"/>
            <a:ext cx="580297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Disease Prediction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Plain-language Clinical Summary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Score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Grad-CAM / Explainable AI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5A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Verification before Finalization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9733669" y="3483864"/>
            <a:ext cx="4668927" cy="2290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Database</a:t>
            </a:r>
            <a:endParaRPr lang="en-US" sz="2400" dirty="0">
              <a:solidFill>
                <a:srgbClr val="CADCFC"/>
              </a:solidFill>
            </a:endParaRPr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Repository</a:t>
            </a:r>
            <a:endParaRPr lang="en-US" sz="2400" dirty="0">
              <a:solidFill>
                <a:srgbClr val="CADCFC"/>
              </a:solidFill>
            </a:endParaRPr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Archive</a:t>
            </a:r>
            <a:endParaRPr lang="en-US" sz="2400" dirty="0">
              <a:solidFill>
                <a:srgbClr val="CADCFC"/>
              </a:solidFill>
            </a:endParaRPr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Logs</a:t>
            </a:r>
            <a:endParaRPr lang="en-US" sz="2400" dirty="0">
              <a:solidFill>
                <a:srgbClr val="CADCFC"/>
              </a:solidFill>
            </a:endParaRPr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Management</a:t>
            </a:r>
            <a:endParaRPr lang="en-US" sz="2400" dirty="0">
              <a:solidFill>
                <a:srgbClr val="CADCFC"/>
              </a:solidFill>
            </a:endParaRPr>
          </a:p>
          <a:p>
            <a:pPr>
              <a:lnSpc>
                <a:spcPct val="105000"/>
              </a:lnSpc>
              <a:spcAft>
                <a:spcPts val="600"/>
              </a:spcAft>
              <a:buSzPct val="100000"/>
            </a:pPr>
            <a:endParaRPr lang="en-US" sz="2400" dirty="0">
              <a:solidFill>
                <a:srgbClr val="CADCFC"/>
              </a:solidFill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296400" y="6281928"/>
            <a:ext cx="6520773" cy="3429000"/>
          </a:xfrm>
          <a:prstGeom prst="roundRect">
            <a:avLst>
              <a:gd name="adj" fmla="val 36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31" name="Shape 29"/>
          <p:cNvSpPr/>
          <p:nvPr/>
        </p:nvSpPr>
        <p:spPr>
          <a:xfrm>
            <a:off x="9598152" y="6528816"/>
            <a:ext cx="685800" cy="466344"/>
          </a:xfrm>
          <a:prstGeom prst="roundRect">
            <a:avLst>
              <a:gd name="adj" fmla="val 17647"/>
            </a:avLst>
          </a:prstGeom>
          <a:solidFill>
            <a:srgbClr val="D9A441"/>
          </a:solidFill>
          <a:ln/>
        </p:spPr>
        <p:txBody>
          <a:bodyPr/>
          <a:lstStyle/>
          <a:p>
            <a:endParaRPr lang="en-US" sz="2700"/>
          </a:p>
        </p:txBody>
      </p:sp>
      <p:sp>
        <p:nvSpPr>
          <p:cNvPr id="32" name="Text 30"/>
          <p:cNvSpPr/>
          <p:nvPr/>
        </p:nvSpPr>
        <p:spPr>
          <a:xfrm>
            <a:off x="9598152" y="6528816"/>
            <a:ext cx="6858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0543916" y="6473952"/>
            <a:ext cx="4668927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Teleophthalmology Support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9721379" y="7214616"/>
            <a:ext cx="571479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Screening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Fundus Camera Support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Rural Healthcare Integration</a:t>
            </a:r>
            <a:endParaRPr lang="en-US" sz="2400" dirty="0"/>
          </a:p>
          <a:p>
            <a:pPr marL="228600" indent="-228600">
              <a:lnSpc>
                <a:spcPct val="105000"/>
              </a:lnSpc>
              <a:spcAft>
                <a:spcPts val="600"/>
              </a:spcAft>
              <a:buSzPct val="100000"/>
              <a:buChar char="●"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Specialist Consultation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6637508" y="9683496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500" dirty="0">
                <a:solidFill>
                  <a:srgbClr val="A9A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991</Words>
  <Application>Microsoft Office PowerPoint</Application>
  <PresentationFormat>Custom</PresentationFormat>
  <Paragraphs>278</Paragraphs>
  <Slides>14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4" baseType="lpstr">
      <vt:lpstr>Cambria Bold</vt:lpstr>
      <vt:lpstr>Aptos</vt:lpstr>
      <vt:lpstr>Cambria Bold Italics</vt:lpstr>
      <vt:lpstr>Cambria Italics</vt:lpstr>
      <vt:lpstr>Cambria</vt:lpstr>
      <vt:lpstr>Calibri</vt:lpstr>
      <vt:lpstr>Calibri (MS)</vt:lpstr>
      <vt:lpstr>Calibri (MS)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AFIO_ScanAI_Progress.pptx</dc:title>
  <dc:creator>Mashal</dc:creator>
  <cp:lastModifiedBy>Arsal Saeed</cp:lastModifiedBy>
  <cp:revision>38</cp:revision>
  <dcterms:created xsi:type="dcterms:W3CDTF">2006-08-16T00:00:00Z</dcterms:created>
  <dcterms:modified xsi:type="dcterms:W3CDTF">2026-08-04T06:11:54Z</dcterms:modified>
  <dc:identifier>DAHRCtm92rc</dc:identifier>
</cp:coreProperties>
</file>