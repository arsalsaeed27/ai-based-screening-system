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2" r:id="rId10"/>
    <p:sldId id="270" r:id="rId11"/>
    <p:sldId id="271" r:id="rId12"/>
    <p:sldId id="263" r:id="rId13"/>
    <p:sldId id="265" r:id="rId14"/>
  </p:sldIdLst>
  <p:sldSz cx="18288000" cy="10287000"/>
  <p:notesSz cx="6858000" cy="9144000"/>
  <p:embeddedFontLst>
    <p:embeddedFont>
      <p:font typeface="Calibri (MS)" panose="020B0604020202020204" charset="0"/>
      <p:regular r:id="rId16"/>
    </p:embeddedFont>
    <p:embeddedFont>
      <p:font typeface="Calibri (MS) Bold" panose="020B0604020202020204" charset="0"/>
      <p:regular r:id="rId17"/>
    </p:embeddedFon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Cambria Bold" panose="02040803050406030204" pitchFamily="18" charset="0"/>
      <p:regular r:id="rId22"/>
      <p:bold r:id="rId23"/>
    </p:embeddedFont>
    <p:embeddedFont>
      <p:font typeface="Cambria Bold Italics" panose="020B0604020202020204" charset="0"/>
      <p:regular r:id="rId24"/>
    </p:embeddedFont>
    <p:embeddedFont>
      <p:font typeface="Cambria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3C8"/>
    <a:srgbClr val="171D47"/>
    <a:srgbClr val="CAD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5" d="100"/>
          <a:sy n="55" d="100"/>
        </p:scale>
        <p:origin x="4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AC060-9986-456C-A904-A64FF9D6BA8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9B112-BFB5-4B85-88FE-D1CB19D54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7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46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64640" y="-2468880"/>
            <a:ext cx="7543800" cy="7543800"/>
            <a:chOff x="0" y="0"/>
            <a:chExt cx="10058400" cy="1005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0" cy="10058400"/>
            </a:xfrm>
            <a:custGeom>
              <a:avLst/>
              <a:gdLst/>
              <a:ahLst/>
              <a:cxnLst/>
              <a:rect l="l" t="t" r="r" b="b"/>
              <a:pathLst>
                <a:path w="10058400" h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2730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910560" y="-822960"/>
            <a:ext cx="4389120" cy="4389120"/>
            <a:chOff x="0" y="0"/>
            <a:chExt cx="5852160" cy="58521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0" cy="5852160"/>
            </a:xfrm>
            <a:custGeom>
              <a:avLst/>
              <a:gdLst/>
              <a:ahLst/>
              <a:cxnLst/>
              <a:rect l="l" t="t" r="r" b="b"/>
              <a:pathLst>
                <a:path w="5852160" h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766015"/>
            <a:ext cx="12344400" cy="2492220"/>
            <a:chOff x="0" y="0"/>
            <a:chExt cx="16459200" cy="3322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3322960"/>
            </a:xfrm>
            <a:custGeom>
              <a:avLst/>
              <a:gdLst/>
              <a:ahLst/>
              <a:cxnLst/>
              <a:rect l="l" t="t" r="r" b="b"/>
              <a:pathLst>
                <a:path w="16459200" h="3322960">
                  <a:moveTo>
                    <a:pt x="0" y="0"/>
                  </a:moveTo>
                  <a:lnTo>
                    <a:pt x="16459200" y="0"/>
                  </a:lnTo>
                  <a:lnTo>
                    <a:pt x="16459200" y="3322960"/>
                  </a:lnTo>
                  <a:lnTo>
                    <a:pt x="0" y="33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05" b="-75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6459200" cy="33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 spc="728">
                  <a:solidFill>
                    <a:srgbClr val="D9A4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AFIO SCANAI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766015"/>
            <a:ext cx="14401800" cy="5712661"/>
            <a:chOff x="0" y="0"/>
            <a:chExt cx="19202400" cy="76168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0" cy="7616881"/>
            </a:xfrm>
            <a:custGeom>
              <a:avLst/>
              <a:gdLst/>
              <a:ahLst/>
              <a:cxnLst/>
              <a:rect l="l" t="t" r="r" b="b"/>
              <a:pathLst>
                <a:path w="19202400" h="7616881">
                  <a:moveTo>
                    <a:pt x="0" y="0"/>
                  </a:moveTo>
                  <a:lnTo>
                    <a:pt x="19202400" y="0"/>
                  </a:lnTo>
                  <a:lnTo>
                    <a:pt x="19202400" y="7616881"/>
                  </a:lnTo>
                  <a:lnTo>
                    <a:pt x="0" y="76168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313" b="280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9202400" cy="76645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063"/>
                </a:lnSpc>
              </a:pPr>
              <a:r>
                <a:rPr lang="en-US" sz="6399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AFIO Meetings, Site Visit &amp;</a:t>
              </a:r>
            </a:p>
            <a:p>
              <a:pPr algn="l">
                <a:lnSpc>
                  <a:spcPts val="8063"/>
                </a:lnSpc>
              </a:pPr>
              <a:r>
                <a:rPr lang="en-US" sz="6399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 Refinement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0990" y="4838994"/>
            <a:ext cx="14038853" cy="3748682"/>
            <a:chOff x="0" y="0"/>
            <a:chExt cx="17373600" cy="46391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373600" cy="4639132"/>
            </a:xfrm>
            <a:custGeom>
              <a:avLst/>
              <a:gdLst/>
              <a:ahLst/>
              <a:cxnLst/>
              <a:rect l="l" t="t" r="r" b="b"/>
              <a:pathLst>
                <a:path w="17373600" h="4639132">
                  <a:moveTo>
                    <a:pt x="0" y="0"/>
                  </a:moveTo>
                  <a:lnTo>
                    <a:pt x="17373600" y="0"/>
                  </a:lnTo>
                  <a:lnTo>
                    <a:pt x="17373600" y="4639132"/>
                  </a:lnTo>
                  <a:lnTo>
                    <a:pt x="0" y="46391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145" b="152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7373600" cy="46391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99"/>
                </a:lnSpc>
              </a:pPr>
              <a:r>
                <a:rPr lang="en-US" sz="4249" i="1" dirty="0">
                  <a:solidFill>
                    <a:srgbClr val="CADCFC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Project Progress Review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28700" y="6035552"/>
            <a:ext cx="12481560" cy="0"/>
          </a:xfrm>
          <a:prstGeom prst="line">
            <a:avLst/>
          </a:prstGeom>
          <a:ln w="19050" cap="rnd">
            <a:solidFill>
              <a:srgbClr val="D9A4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7282160" y="9669780"/>
            <a:ext cx="822960" cy="1101198"/>
            <a:chOff x="0" y="0"/>
            <a:chExt cx="1097280" cy="14682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" cy="1468264"/>
            </a:xfrm>
            <a:custGeom>
              <a:avLst/>
              <a:gdLst/>
              <a:ahLst/>
              <a:cxnLst/>
              <a:rect l="l" t="t" r="r" b="b"/>
              <a:pathLst>
                <a:path w="1097280" h="1468264">
                  <a:moveTo>
                    <a:pt x="0" y="0"/>
                  </a:moveTo>
                  <a:lnTo>
                    <a:pt x="1097280" y="0"/>
                  </a:lnTo>
                  <a:lnTo>
                    <a:pt x="1097280" y="1468264"/>
                  </a:lnTo>
                  <a:lnTo>
                    <a:pt x="0" y="1468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6263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097280" cy="1477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891B5"/>
                  </a:solidFill>
                  <a:latin typeface="Cambria"/>
                  <a:ea typeface="Cambria"/>
                  <a:cs typeface="Cambria"/>
                  <a:sym typeface="Cambria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7649" y="-728249"/>
            <a:ext cx="19288285" cy="3936127"/>
            <a:chOff x="-3589233" y="-160741"/>
            <a:chExt cx="25717713" cy="52481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5087428"/>
            </a:xfrm>
            <a:custGeom>
              <a:avLst/>
              <a:gdLst/>
              <a:ahLst/>
              <a:cxnLst/>
              <a:rect l="l" t="t" r="r" b="b"/>
              <a:pathLst>
                <a:path w="22128480" h="5087428">
                  <a:moveTo>
                    <a:pt x="0" y="0"/>
                  </a:moveTo>
                  <a:lnTo>
                    <a:pt x="22128480" y="0"/>
                  </a:lnTo>
                  <a:lnTo>
                    <a:pt x="22128480" y="5087428"/>
                  </a:lnTo>
                  <a:lnTo>
                    <a:pt x="0" y="50874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576" b="-9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3589233" y="-160741"/>
              <a:ext cx="22128480" cy="50969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Progress &amp; AFIO Engagement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7649" y="2596380"/>
            <a:ext cx="16852702" cy="6481317"/>
            <a:chOff x="0" y="0"/>
            <a:chExt cx="22470269" cy="864175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2470269" cy="1386948"/>
              <a:chOff x="0" y="0"/>
              <a:chExt cx="22128480" cy="136585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2128480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365852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solidFill>
                <a:srgbClr val="F7F8F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64262" y="256052"/>
              <a:ext cx="779960" cy="896182"/>
              <a:chOff x="0" y="0"/>
              <a:chExt cx="768096" cy="8825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441275"/>
                    </a:moveTo>
                    <a:cubicBezTo>
                      <a:pt x="0" y="197582"/>
                      <a:pt x="171958" y="0"/>
                      <a:pt x="384048" y="0"/>
                    </a:cubicBezTo>
                    <a:cubicBezTo>
                      <a:pt x="596138" y="0"/>
                      <a:pt x="768096" y="197582"/>
                      <a:pt x="768096" y="441275"/>
                    </a:cubicBezTo>
                    <a:cubicBezTo>
                      <a:pt x="768096" y="684969"/>
                      <a:pt x="596138" y="882550"/>
                      <a:pt x="384048" y="882550"/>
                    </a:cubicBezTo>
                    <a:cubicBezTo>
                      <a:pt x="171958" y="882550"/>
                      <a:pt x="0" y="684969"/>
                      <a:pt x="0" y="441275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64262" y="256052"/>
              <a:ext cx="779960" cy="896182"/>
              <a:chOff x="0" y="0"/>
              <a:chExt cx="768096" cy="8825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768096" cy="9301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059"/>
                  </a:lnSpc>
                </a:pPr>
                <a:r>
                  <a:rPr lang="en-US" sz="254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671342" y="67222"/>
              <a:ext cx="20056108" cy="1319727"/>
              <a:chOff x="0" y="0"/>
              <a:chExt cx="19751040" cy="129965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751039" cy="1299653"/>
              </a:xfrm>
              <a:custGeom>
                <a:avLst/>
                <a:gdLst/>
                <a:ahLst/>
                <a:cxnLst/>
                <a:rect l="l" t="t" r="r" b="b"/>
                <a:pathLst>
                  <a:path w="19751039" h="1299653">
                    <a:moveTo>
                      <a:pt x="0" y="0"/>
                    </a:moveTo>
                    <a:lnTo>
                      <a:pt x="19751039" y="0"/>
                    </a:lnTo>
                    <a:lnTo>
                      <a:pt x="19751039" y="1299653"/>
                    </a:lnTo>
                    <a:lnTo>
                      <a:pt x="0" y="129965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50385" b="-24184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85725"/>
                <a:ext cx="19751040" cy="138537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799"/>
                  </a:lnSpc>
                </a:pPr>
                <a:r>
                  <a:rPr lang="en-US" sz="3999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Initial Commandant meeting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1813702"/>
              <a:ext cx="22470269" cy="1386948"/>
              <a:chOff x="0" y="0"/>
              <a:chExt cx="22128480" cy="136585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2128480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365852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solidFill>
                <a:srgbClr val="F7F8F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64262" y="2069754"/>
              <a:ext cx="779960" cy="896182"/>
              <a:chOff x="0" y="0"/>
              <a:chExt cx="768096" cy="8825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441275"/>
                    </a:moveTo>
                    <a:cubicBezTo>
                      <a:pt x="0" y="197582"/>
                      <a:pt x="171958" y="0"/>
                      <a:pt x="384048" y="0"/>
                    </a:cubicBezTo>
                    <a:cubicBezTo>
                      <a:pt x="596138" y="0"/>
                      <a:pt x="768096" y="197582"/>
                      <a:pt x="768096" y="441275"/>
                    </a:cubicBezTo>
                    <a:cubicBezTo>
                      <a:pt x="768096" y="684969"/>
                      <a:pt x="596138" y="882550"/>
                      <a:pt x="384048" y="882550"/>
                    </a:cubicBezTo>
                    <a:cubicBezTo>
                      <a:pt x="171958" y="882550"/>
                      <a:pt x="0" y="684969"/>
                      <a:pt x="0" y="441275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464262" y="2069754"/>
              <a:ext cx="779960" cy="896182"/>
              <a:chOff x="0" y="0"/>
              <a:chExt cx="768096" cy="8825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768096" cy="9301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059"/>
                  </a:lnSpc>
                </a:pPr>
                <a:r>
                  <a:rPr lang="en-US" sz="254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671342" y="1813702"/>
              <a:ext cx="20056108" cy="1386948"/>
              <a:chOff x="0" y="0"/>
              <a:chExt cx="19751040" cy="136585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751039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19751039" h="1365852">
                    <a:moveTo>
                      <a:pt x="0" y="0"/>
                    </a:moveTo>
                    <a:lnTo>
                      <a:pt x="19751039" y="0"/>
                    </a:lnTo>
                    <a:lnTo>
                      <a:pt x="19751039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38249" b="-2252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85725"/>
                <a:ext cx="19751040" cy="145157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799"/>
                  </a:lnSpc>
                </a:pPr>
                <a:r>
                  <a:rPr lang="en-US" sz="3999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AFIO hospital visit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3627404"/>
              <a:ext cx="22470269" cy="1386948"/>
              <a:chOff x="0" y="0"/>
              <a:chExt cx="22128480" cy="136585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2128480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365852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solidFill>
                <a:srgbClr val="F7F8F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64262" y="3883456"/>
              <a:ext cx="779960" cy="896182"/>
              <a:chOff x="0" y="0"/>
              <a:chExt cx="768096" cy="8825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441275"/>
                    </a:moveTo>
                    <a:cubicBezTo>
                      <a:pt x="0" y="197582"/>
                      <a:pt x="171958" y="0"/>
                      <a:pt x="384048" y="0"/>
                    </a:cubicBezTo>
                    <a:cubicBezTo>
                      <a:pt x="596138" y="0"/>
                      <a:pt x="768096" y="197582"/>
                      <a:pt x="768096" y="441275"/>
                    </a:cubicBezTo>
                    <a:cubicBezTo>
                      <a:pt x="768096" y="684969"/>
                      <a:pt x="596138" y="882550"/>
                      <a:pt x="384048" y="882550"/>
                    </a:cubicBezTo>
                    <a:cubicBezTo>
                      <a:pt x="171958" y="882550"/>
                      <a:pt x="0" y="684969"/>
                      <a:pt x="0" y="441275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64262" y="3883456"/>
              <a:ext cx="779960" cy="896182"/>
              <a:chOff x="0" y="0"/>
              <a:chExt cx="768096" cy="8825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768096" cy="9301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059"/>
                  </a:lnSpc>
                </a:pPr>
                <a:r>
                  <a:rPr lang="en-US" sz="254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671342" y="3627404"/>
              <a:ext cx="20056108" cy="1386948"/>
              <a:chOff x="0" y="0"/>
              <a:chExt cx="19751040" cy="136585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9751039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19751039" h="1365852">
                    <a:moveTo>
                      <a:pt x="0" y="0"/>
                    </a:moveTo>
                    <a:lnTo>
                      <a:pt x="19751039" y="0"/>
                    </a:lnTo>
                    <a:lnTo>
                      <a:pt x="19751039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38249" b="-2252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85725"/>
                <a:ext cx="19751040" cy="145157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799"/>
                  </a:lnSpc>
                </a:pPr>
                <a:r>
                  <a:rPr lang="en-US" sz="3999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Workflow observations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5441105"/>
              <a:ext cx="22470269" cy="1386948"/>
              <a:chOff x="0" y="0"/>
              <a:chExt cx="22128480" cy="136585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2128480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365852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solidFill>
                <a:srgbClr val="F7F8F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64262" y="5697157"/>
              <a:ext cx="779960" cy="896182"/>
              <a:chOff x="0" y="0"/>
              <a:chExt cx="768096" cy="8825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441275"/>
                    </a:moveTo>
                    <a:cubicBezTo>
                      <a:pt x="0" y="197582"/>
                      <a:pt x="171958" y="0"/>
                      <a:pt x="384048" y="0"/>
                    </a:cubicBezTo>
                    <a:cubicBezTo>
                      <a:pt x="596138" y="0"/>
                      <a:pt x="768096" y="197582"/>
                      <a:pt x="768096" y="441275"/>
                    </a:cubicBezTo>
                    <a:cubicBezTo>
                      <a:pt x="768096" y="684969"/>
                      <a:pt x="596138" y="882550"/>
                      <a:pt x="384048" y="882550"/>
                    </a:cubicBezTo>
                    <a:cubicBezTo>
                      <a:pt x="171958" y="882550"/>
                      <a:pt x="0" y="684969"/>
                      <a:pt x="0" y="441275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64262" y="5697157"/>
              <a:ext cx="779960" cy="896182"/>
              <a:chOff x="0" y="0"/>
              <a:chExt cx="768096" cy="8825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768096" cy="9301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059"/>
                  </a:lnSpc>
                </a:pPr>
                <a:r>
                  <a:rPr lang="en-US" sz="254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671342" y="5441105"/>
              <a:ext cx="20056108" cy="1386948"/>
              <a:chOff x="0" y="0"/>
              <a:chExt cx="19751040" cy="136585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9751039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19751039" h="1365852">
                    <a:moveTo>
                      <a:pt x="0" y="0"/>
                    </a:moveTo>
                    <a:lnTo>
                      <a:pt x="19751039" y="0"/>
                    </a:lnTo>
                    <a:lnTo>
                      <a:pt x="19751039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38249" b="-2252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85725"/>
                <a:ext cx="19751040" cy="145157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799"/>
                  </a:lnSpc>
                </a:pPr>
                <a:r>
                  <a:rPr lang="en-US" sz="3999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Refined project direction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0" y="7254807"/>
              <a:ext cx="22470269" cy="1386948"/>
              <a:chOff x="0" y="0"/>
              <a:chExt cx="22128480" cy="1365852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22128480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22128480" h="1365852">
                    <a:moveTo>
                      <a:pt x="0" y="0"/>
                    </a:moveTo>
                    <a:lnTo>
                      <a:pt x="22128480" y="0"/>
                    </a:lnTo>
                    <a:lnTo>
                      <a:pt x="22128480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solidFill>
                <a:srgbClr val="F7F8FC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64262" y="7510859"/>
              <a:ext cx="779960" cy="896182"/>
              <a:chOff x="0" y="0"/>
              <a:chExt cx="768096" cy="8825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441275"/>
                    </a:moveTo>
                    <a:cubicBezTo>
                      <a:pt x="0" y="197582"/>
                      <a:pt x="171958" y="0"/>
                      <a:pt x="384048" y="0"/>
                    </a:cubicBezTo>
                    <a:cubicBezTo>
                      <a:pt x="596138" y="0"/>
                      <a:pt x="768096" y="197582"/>
                      <a:pt x="768096" y="441275"/>
                    </a:cubicBezTo>
                    <a:cubicBezTo>
                      <a:pt x="768096" y="684969"/>
                      <a:pt x="596138" y="882550"/>
                      <a:pt x="384048" y="882550"/>
                    </a:cubicBezTo>
                    <a:cubicBezTo>
                      <a:pt x="171958" y="882550"/>
                      <a:pt x="0" y="684969"/>
                      <a:pt x="0" y="441275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64262" y="7510859"/>
              <a:ext cx="779960" cy="896182"/>
              <a:chOff x="0" y="0"/>
              <a:chExt cx="768096" cy="88255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768096" cy="9301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059"/>
                  </a:lnSpc>
                </a:pPr>
                <a:r>
                  <a:rPr lang="en-US" sz="254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671342" y="7254807"/>
              <a:ext cx="20056108" cy="1386948"/>
              <a:chOff x="0" y="0"/>
              <a:chExt cx="19751040" cy="136585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9751039" cy="1365852"/>
              </a:xfrm>
              <a:custGeom>
                <a:avLst/>
                <a:gdLst/>
                <a:ahLst/>
                <a:cxnLst/>
                <a:rect l="l" t="t" r="r" b="b"/>
                <a:pathLst>
                  <a:path w="19751039" h="1365852">
                    <a:moveTo>
                      <a:pt x="0" y="0"/>
                    </a:moveTo>
                    <a:lnTo>
                      <a:pt x="19751039" y="0"/>
                    </a:lnTo>
                    <a:lnTo>
                      <a:pt x="19751039" y="1365852"/>
                    </a:lnTo>
                    <a:lnTo>
                      <a:pt x="0" y="136585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38249" b="-22528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85725"/>
                <a:ext cx="19751040" cy="145157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4799"/>
                  </a:lnSpc>
                </a:pPr>
                <a:r>
                  <a:rPr lang="en-US" sz="3999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Next development roadmap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18095109" y="9983184"/>
            <a:ext cx="904755" cy="519787"/>
            <a:chOff x="0" y="0"/>
            <a:chExt cx="1097280" cy="63039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97280" cy="630393"/>
            </a:xfrm>
            <a:custGeom>
              <a:avLst/>
              <a:gdLst/>
              <a:ahLst/>
              <a:cxnLst/>
              <a:rect l="l" t="t" r="r" b="b"/>
              <a:pathLst>
                <a:path w="1097280" h="630393">
                  <a:moveTo>
                    <a:pt x="0" y="0"/>
                  </a:moveTo>
                  <a:lnTo>
                    <a:pt x="1097280" y="0"/>
                  </a:lnTo>
                  <a:lnTo>
                    <a:pt x="1097280" y="630393"/>
                  </a:lnTo>
                  <a:lnTo>
                    <a:pt x="0" y="6303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129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1097280" cy="6684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9AEC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8">
            <a:extLst>
              <a:ext uri="{FF2B5EF4-FFF2-40B4-BE49-F238E27FC236}">
                <a16:creationId xmlns:a16="http://schemas.microsoft.com/office/drawing/2014/main" id="{17EBF6C8-45DF-E144-0B66-1F81F4BF14E6}"/>
              </a:ext>
            </a:extLst>
          </p:cNvPr>
          <p:cNvGrpSpPr/>
          <p:nvPr/>
        </p:nvGrpSpPr>
        <p:grpSpPr>
          <a:xfrm>
            <a:off x="6229536" y="5957578"/>
            <a:ext cx="4692209" cy="1399040"/>
            <a:chOff x="0" y="0"/>
            <a:chExt cx="3849227" cy="1853932"/>
          </a:xfrm>
          <a:solidFill>
            <a:srgbClr val="EFE3C8"/>
          </a:solidFill>
        </p:grpSpPr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B0E6D60E-828C-1096-96E3-5396DE53A819}"/>
                </a:ext>
              </a:extLst>
            </p:cNvPr>
            <p:cNvSpPr/>
            <p:nvPr/>
          </p:nvSpPr>
          <p:spPr>
            <a:xfrm>
              <a:off x="0" y="0"/>
              <a:ext cx="3849227" cy="1853932"/>
            </a:xfrm>
            <a:custGeom>
              <a:avLst/>
              <a:gdLst/>
              <a:ahLst/>
              <a:cxnLst/>
              <a:rect l="l" t="t" r="r" b="b"/>
              <a:pathLst>
                <a:path w="3849227" h="1853932">
                  <a:moveTo>
                    <a:pt x="0" y="123595"/>
                  </a:moveTo>
                  <a:cubicBezTo>
                    <a:pt x="0" y="55360"/>
                    <a:pt x="36298" y="0"/>
                    <a:pt x="81036" y="0"/>
                  </a:cubicBezTo>
                  <a:lnTo>
                    <a:pt x="3768191" y="0"/>
                  </a:lnTo>
                  <a:cubicBezTo>
                    <a:pt x="3812929" y="0"/>
                    <a:pt x="3849227" y="55360"/>
                    <a:pt x="3849227" y="123595"/>
                  </a:cubicBezTo>
                  <a:lnTo>
                    <a:pt x="3849227" y="1730336"/>
                  </a:lnTo>
                  <a:cubicBezTo>
                    <a:pt x="3849227" y="1798571"/>
                    <a:pt x="3812929" y="1853932"/>
                    <a:pt x="3768191" y="1853932"/>
                  </a:cubicBezTo>
                  <a:lnTo>
                    <a:pt x="81036" y="1853932"/>
                  </a:lnTo>
                  <a:cubicBezTo>
                    <a:pt x="36298" y="1853932"/>
                    <a:pt x="0" y="1798571"/>
                    <a:pt x="0" y="1730336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8">
            <a:extLst>
              <a:ext uri="{FF2B5EF4-FFF2-40B4-BE49-F238E27FC236}">
                <a16:creationId xmlns:a16="http://schemas.microsoft.com/office/drawing/2014/main" id="{A01017C8-2C67-E7A0-A590-B6E594BC9222}"/>
              </a:ext>
            </a:extLst>
          </p:cNvPr>
          <p:cNvGrpSpPr/>
          <p:nvPr/>
        </p:nvGrpSpPr>
        <p:grpSpPr>
          <a:xfrm>
            <a:off x="786889" y="5977972"/>
            <a:ext cx="4692209" cy="1399040"/>
            <a:chOff x="0" y="0"/>
            <a:chExt cx="3849227" cy="1853932"/>
          </a:xfrm>
          <a:solidFill>
            <a:srgbClr val="EFE3C8"/>
          </a:solidFill>
        </p:grpSpPr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2F8982CA-2657-68D3-D764-1D179AC44548}"/>
                </a:ext>
              </a:extLst>
            </p:cNvPr>
            <p:cNvSpPr/>
            <p:nvPr/>
          </p:nvSpPr>
          <p:spPr>
            <a:xfrm>
              <a:off x="0" y="0"/>
              <a:ext cx="3849227" cy="1853932"/>
            </a:xfrm>
            <a:custGeom>
              <a:avLst/>
              <a:gdLst/>
              <a:ahLst/>
              <a:cxnLst/>
              <a:rect l="l" t="t" r="r" b="b"/>
              <a:pathLst>
                <a:path w="3849227" h="1853932">
                  <a:moveTo>
                    <a:pt x="0" y="123595"/>
                  </a:moveTo>
                  <a:cubicBezTo>
                    <a:pt x="0" y="55360"/>
                    <a:pt x="36298" y="0"/>
                    <a:pt x="81036" y="0"/>
                  </a:cubicBezTo>
                  <a:lnTo>
                    <a:pt x="3768191" y="0"/>
                  </a:lnTo>
                  <a:cubicBezTo>
                    <a:pt x="3812929" y="0"/>
                    <a:pt x="3849227" y="55360"/>
                    <a:pt x="3849227" y="123595"/>
                  </a:cubicBezTo>
                  <a:lnTo>
                    <a:pt x="3849227" y="1730336"/>
                  </a:lnTo>
                  <a:cubicBezTo>
                    <a:pt x="3849227" y="1798571"/>
                    <a:pt x="3812929" y="1853932"/>
                    <a:pt x="3768191" y="1853932"/>
                  </a:cubicBezTo>
                  <a:lnTo>
                    <a:pt x="81036" y="1853932"/>
                  </a:lnTo>
                  <a:cubicBezTo>
                    <a:pt x="36298" y="1853932"/>
                    <a:pt x="0" y="1798571"/>
                    <a:pt x="0" y="1730336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8">
            <a:extLst>
              <a:ext uri="{FF2B5EF4-FFF2-40B4-BE49-F238E27FC236}">
                <a16:creationId xmlns:a16="http://schemas.microsoft.com/office/drawing/2014/main" id="{4E8E27B8-5595-2559-4FD2-1C8AD0D5709A}"/>
              </a:ext>
            </a:extLst>
          </p:cNvPr>
          <p:cNvGrpSpPr/>
          <p:nvPr/>
        </p:nvGrpSpPr>
        <p:grpSpPr>
          <a:xfrm>
            <a:off x="6229536" y="3843246"/>
            <a:ext cx="4692209" cy="1399040"/>
            <a:chOff x="0" y="0"/>
            <a:chExt cx="3849227" cy="1853932"/>
          </a:xfrm>
          <a:solidFill>
            <a:srgbClr val="EFE3C8"/>
          </a:solidFill>
        </p:grpSpPr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7AF545DC-4FB0-A1E9-212C-186F28BEF05F}"/>
                </a:ext>
              </a:extLst>
            </p:cNvPr>
            <p:cNvSpPr/>
            <p:nvPr/>
          </p:nvSpPr>
          <p:spPr>
            <a:xfrm>
              <a:off x="0" y="0"/>
              <a:ext cx="3849227" cy="1853932"/>
            </a:xfrm>
            <a:custGeom>
              <a:avLst/>
              <a:gdLst/>
              <a:ahLst/>
              <a:cxnLst/>
              <a:rect l="l" t="t" r="r" b="b"/>
              <a:pathLst>
                <a:path w="3849227" h="1853932">
                  <a:moveTo>
                    <a:pt x="0" y="123595"/>
                  </a:moveTo>
                  <a:cubicBezTo>
                    <a:pt x="0" y="55360"/>
                    <a:pt x="36298" y="0"/>
                    <a:pt x="81036" y="0"/>
                  </a:cubicBezTo>
                  <a:lnTo>
                    <a:pt x="3768191" y="0"/>
                  </a:lnTo>
                  <a:cubicBezTo>
                    <a:pt x="3812929" y="0"/>
                    <a:pt x="3849227" y="55360"/>
                    <a:pt x="3849227" y="123595"/>
                  </a:cubicBezTo>
                  <a:lnTo>
                    <a:pt x="3849227" y="1730336"/>
                  </a:lnTo>
                  <a:cubicBezTo>
                    <a:pt x="3849227" y="1798571"/>
                    <a:pt x="3812929" y="1853932"/>
                    <a:pt x="3768191" y="1853932"/>
                  </a:cubicBezTo>
                  <a:lnTo>
                    <a:pt x="81036" y="1853932"/>
                  </a:lnTo>
                  <a:cubicBezTo>
                    <a:pt x="36298" y="1853932"/>
                    <a:pt x="0" y="1798571"/>
                    <a:pt x="0" y="1730336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717307" y="-583360"/>
            <a:ext cx="16596360" cy="3516209"/>
            <a:chOff x="0" y="0"/>
            <a:chExt cx="22128480" cy="4688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4688279"/>
            </a:xfrm>
            <a:custGeom>
              <a:avLst/>
              <a:gdLst/>
              <a:ahLst/>
              <a:cxnLst/>
              <a:rect l="l" t="t" r="r" b="b"/>
              <a:pathLst>
                <a:path w="22128480" h="4688279">
                  <a:moveTo>
                    <a:pt x="0" y="0"/>
                  </a:moveTo>
                  <a:lnTo>
                    <a:pt x="22128480" y="0"/>
                  </a:lnTo>
                  <a:lnTo>
                    <a:pt x="22128480" y="4688279"/>
                  </a:lnTo>
                  <a:lnTo>
                    <a:pt x="0" y="4688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4415" b="-95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46978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799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Commandant Meeting: Requirements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2476" y="0"/>
            <a:ext cx="7645637" cy="3548944"/>
            <a:chOff x="0" y="0"/>
            <a:chExt cx="11896107" cy="55219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96107" cy="4614253"/>
            </a:xfrm>
            <a:custGeom>
              <a:avLst/>
              <a:gdLst/>
              <a:ahLst/>
              <a:cxnLst/>
              <a:rect l="l" t="t" r="r" b="b"/>
              <a:pathLst>
                <a:path w="11896107" h="4614253">
                  <a:moveTo>
                    <a:pt x="0" y="0"/>
                  </a:moveTo>
                  <a:lnTo>
                    <a:pt x="11896107" y="0"/>
                  </a:lnTo>
                  <a:lnTo>
                    <a:pt x="11896107" y="4614253"/>
                  </a:lnTo>
                  <a:lnTo>
                    <a:pt x="0" y="46142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9399" r="7761" b="467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736963"/>
              <a:ext cx="11896107" cy="1784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59"/>
                </a:lnSpc>
              </a:pPr>
              <a:r>
                <a:rPr lang="en-US" sz="4049" b="1" dirty="0">
                  <a:solidFill>
                    <a:srgbClr val="1A1A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AFIO's Four Primary Agendas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6636" y="3822432"/>
            <a:ext cx="4692209" cy="1399040"/>
            <a:chOff x="0" y="0"/>
            <a:chExt cx="3849227" cy="1853932"/>
          </a:xfrm>
          <a:solidFill>
            <a:srgbClr val="EFE3C8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3849227" cy="1853932"/>
            </a:xfrm>
            <a:custGeom>
              <a:avLst/>
              <a:gdLst/>
              <a:ahLst/>
              <a:cxnLst/>
              <a:rect l="l" t="t" r="r" b="b"/>
              <a:pathLst>
                <a:path w="3849227" h="1853932">
                  <a:moveTo>
                    <a:pt x="0" y="123595"/>
                  </a:moveTo>
                  <a:cubicBezTo>
                    <a:pt x="0" y="55360"/>
                    <a:pt x="36298" y="0"/>
                    <a:pt x="81036" y="0"/>
                  </a:cubicBezTo>
                  <a:lnTo>
                    <a:pt x="3768191" y="0"/>
                  </a:lnTo>
                  <a:cubicBezTo>
                    <a:pt x="3812929" y="0"/>
                    <a:pt x="3849227" y="55360"/>
                    <a:pt x="3849227" y="123595"/>
                  </a:cubicBezTo>
                  <a:lnTo>
                    <a:pt x="3849227" y="1730336"/>
                  </a:lnTo>
                  <a:cubicBezTo>
                    <a:pt x="3849227" y="1798571"/>
                    <a:pt x="3812929" y="1853932"/>
                    <a:pt x="3768191" y="1853932"/>
                  </a:cubicBezTo>
                  <a:lnTo>
                    <a:pt x="81036" y="1853932"/>
                  </a:lnTo>
                  <a:cubicBezTo>
                    <a:pt x="36298" y="1853932"/>
                    <a:pt x="0" y="1798571"/>
                    <a:pt x="0" y="1730336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5099" y="3972938"/>
            <a:ext cx="4309610" cy="919843"/>
            <a:chOff x="0" y="0"/>
            <a:chExt cx="3673439" cy="29569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73439" cy="2956955"/>
            </a:xfrm>
            <a:custGeom>
              <a:avLst/>
              <a:gdLst/>
              <a:ahLst/>
              <a:cxnLst/>
              <a:rect l="l" t="t" r="r" b="b"/>
              <a:pathLst>
                <a:path w="3673439" h="2956955">
                  <a:moveTo>
                    <a:pt x="0" y="0"/>
                  </a:moveTo>
                  <a:lnTo>
                    <a:pt x="3673439" y="0"/>
                  </a:lnTo>
                  <a:lnTo>
                    <a:pt x="3673439" y="2956955"/>
                  </a:lnTo>
                  <a:lnTo>
                    <a:pt x="0" y="2956955"/>
                  </a:lnTo>
                  <a:close/>
                </a:path>
              </a:pathLst>
            </a:custGeom>
            <a:solidFill>
              <a:srgbClr val="313B82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3673439" cy="2966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919"/>
                </a:lnSpc>
              </a:pP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Memory Bank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21996" y="6231400"/>
            <a:ext cx="4817883" cy="957202"/>
            <a:chOff x="0" y="0"/>
            <a:chExt cx="3673439" cy="16459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73439" cy="1645920"/>
            </a:xfrm>
            <a:custGeom>
              <a:avLst/>
              <a:gdLst/>
              <a:ahLst/>
              <a:cxnLst/>
              <a:rect l="l" t="t" r="r" b="b"/>
              <a:pathLst>
                <a:path w="3673439" h="1645920">
                  <a:moveTo>
                    <a:pt x="0" y="0"/>
                  </a:moveTo>
                  <a:lnTo>
                    <a:pt x="3673439" y="0"/>
                  </a:lnTo>
                  <a:lnTo>
                    <a:pt x="3673439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313B82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3673439" cy="1731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919"/>
                </a:lnSpc>
              </a:pPr>
              <a:r>
                <a:rPr lang="en-US" sz="3600" b="1" dirty="0">
                  <a:solidFill>
                    <a:schemeClr val="tx2">
                      <a:lumMod val="75000"/>
                    </a:schemeClr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 Integration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69211" y="3875609"/>
            <a:ext cx="6206525" cy="4263079"/>
            <a:chOff x="0" y="0"/>
            <a:chExt cx="10054863" cy="69063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54862" cy="6906389"/>
            </a:xfrm>
            <a:custGeom>
              <a:avLst/>
              <a:gdLst/>
              <a:ahLst/>
              <a:cxnLst/>
              <a:rect l="l" t="t" r="r" b="b"/>
              <a:pathLst>
                <a:path w="10054862" h="6906389">
                  <a:moveTo>
                    <a:pt x="0" y="0"/>
                  </a:moveTo>
                  <a:lnTo>
                    <a:pt x="10054862" y="0"/>
                  </a:lnTo>
                  <a:lnTo>
                    <a:pt x="10054862" y="6906389"/>
                  </a:lnTo>
                  <a:lnTo>
                    <a:pt x="0" y="6906389"/>
                  </a:ln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79767" y="4223940"/>
            <a:ext cx="6025921" cy="3440561"/>
            <a:chOff x="0" y="-349098"/>
            <a:chExt cx="9375936" cy="954346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48325" cy="9194365"/>
            </a:xfrm>
            <a:custGeom>
              <a:avLst/>
              <a:gdLst/>
              <a:ahLst/>
              <a:cxnLst/>
              <a:rect l="l" t="t" r="r" b="b"/>
              <a:pathLst>
                <a:path w="9048325" h="9194365">
                  <a:moveTo>
                    <a:pt x="0" y="0"/>
                  </a:moveTo>
                  <a:lnTo>
                    <a:pt x="9048325" y="0"/>
                  </a:lnTo>
                  <a:lnTo>
                    <a:pt x="9048325" y="9194365"/>
                  </a:lnTo>
                  <a:lnTo>
                    <a:pt x="0" y="91943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17" r="-144558" b="4912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7611" y="-349098"/>
              <a:ext cx="9048325" cy="9194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49"/>
                </a:lnSpc>
              </a:pPr>
              <a:r>
                <a:rPr lang="en-US" sz="2800" b="1" i="1" dirty="0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Additional requests: </a:t>
              </a:r>
            </a:p>
            <a:p>
              <a:pPr marL="782627" lvl="1" indent="-391314" algn="l">
                <a:lnSpc>
                  <a:spcPts val="4349"/>
                </a:lnSpc>
                <a:buFont typeface="Arial"/>
                <a:buChar char="•"/>
              </a:pPr>
              <a:r>
                <a:rPr lang="en-US" sz="2800" i="1" dirty="0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continuous ophthalmologist feedback  </a:t>
              </a:r>
            </a:p>
            <a:p>
              <a:pPr marL="782627" lvl="1" indent="-391314" algn="l">
                <a:lnSpc>
                  <a:spcPts val="4349"/>
                </a:lnSpc>
                <a:buFont typeface="Arial"/>
                <a:buChar char="•"/>
              </a:pPr>
              <a:r>
                <a:rPr lang="en-US" sz="2800" i="1" dirty="0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local clinical datasets  </a:t>
              </a:r>
            </a:p>
            <a:p>
              <a:pPr marL="782627" lvl="1" indent="-391314" algn="l">
                <a:lnSpc>
                  <a:spcPts val="4349"/>
                </a:lnSpc>
                <a:buFont typeface="Arial"/>
                <a:buChar char="•"/>
              </a:pPr>
              <a:r>
                <a:rPr lang="en-US" sz="2800" i="1" dirty="0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validation using AFIO images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259300" y="9185802"/>
            <a:ext cx="822960" cy="1101198"/>
            <a:chOff x="0" y="0"/>
            <a:chExt cx="1097280" cy="14682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7280" cy="1468264"/>
            </a:xfrm>
            <a:custGeom>
              <a:avLst/>
              <a:gdLst/>
              <a:ahLst/>
              <a:cxnLst/>
              <a:rect l="l" t="t" r="r" b="b"/>
              <a:pathLst>
                <a:path w="1097280" h="1468264">
                  <a:moveTo>
                    <a:pt x="0" y="0"/>
                  </a:moveTo>
                  <a:lnTo>
                    <a:pt x="1097280" y="0"/>
                  </a:lnTo>
                  <a:lnTo>
                    <a:pt x="1097280" y="1468264"/>
                  </a:lnTo>
                  <a:lnTo>
                    <a:pt x="0" y="1468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6263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097280" cy="1477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9AEC2"/>
                  </a:solidFill>
                  <a:latin typeface="Cambria"/>
                  <a:ea typeface="Cambria"/>
                  <a:cs typeface="Cambria"/>
                  <a:sym typeface="Cambria"/>
                </a:rPr>
                <a:t>03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315977" y="6068845"/>
            <a:ext cx="4309610" cy="124152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4919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AI-based Report Generation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C068E093-97F0-1FDA-B3A8-6063067DF4AC}"/>
              </a:ext>
            </a:extLst>
          </p:cNvPr>
          <p:cNvSpPr txBox="1"/>
          <p:nvPr/>
        </p:nvSpPr>
        <p:spPr>
          <a:xfrm>
            <a:off x="6390849" y="4033135"/>
            <a:ext cx="4309610" cy="92280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4919"/>
              </a:lnSpc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Cambria Bold"/>
                <a:ea typeface="Cambria Bold"/>
                <a:cs typeface="Cambria Bold"/>
                <a:sym typeface="Cambria Bold"/>
              </a:rPr>
              <a:t>Teleophthalmology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8303" y="120530"/>
            <a:ext cx="16706757" cy="3509464"/>
            <a:chOff x="-147196" y="-274493"/>
            <a:chExt cx="22275676" cy="46792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4404792"/>
            </a:xfrm>
            <a:custGeom>
              <a:avLst/>
              <a:gdLst/>
              <a:ahLst/>
              <a:cxnLst/>
              <a:rect l="l" t="t" r="r" b="b"/>
              <a:pathLst>
                <a:path w="22128480" h="4404792">
                  <a:moveTo>
                    <a:pt x="0" y="0"/>
                  </a:moveTo>
                  <a:lnTo>
                    <a:pt x="22128480" y="0"/>
                  </a:lnTo>
                  <a:lnTo>
                    <a:pt x="2212848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204" b="-165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47196" y="-274493"/>
              <a:ext cx="22128480" cy="4423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AFIO Visit: Current Hospital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8303" y="3206344"/>
            <a:ext cx="3465377" cy="1624718"/>
            <a:chOff x="0" y="0"/>
            <a:chExt cx="2596896" cy="1554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96896" cy="1554480"/>
            </a:xfrm>
            <a:custGeom>
              <a:avLst/>
              <a:gdLst/>
              <a:ahLst/>
              <a:cxnLst/>
              <a:rect l="l" t="t" r="r" b="b"/>
              <a:pathLst>
                <a:path w="2596896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487168" y="0"/>
                  </a:lnTo>
                  <a:cubicBezTo>
                    <a:pt x="2547747" y="0"/>
                    <a:pt x="2596896" y="49149"/>
                    <a:pt x="2596896" y="109728"/>
                  </a:cubicBezTo>
                  <a:lnTo>
                    <a:pt x="2596896" y="1444752"/>
                  </a:lnTo>
                  <a:cubicBezTo>
                    <a:pt x="2596896" y="1505331"/>
                    <a:pt x="2547747" y="1554480"/>
                    <a:pt x="2487168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7884" y="3606071"/>
            <a:ext cx="2341704" cy="719854"/>
            <a:chOff x="0" y="0"/>
            <a:chExt cx="2113989" cy="33423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13989" cy="3342337"/>
            </a:xfrm>
            <a:custGeom>
              <a:avLst/>
              <a:gdLst/>
              <a:ahLst/>
              <a:cxnLst/>
              <a:rect l="l" t="t" r="r" b="b"/>
              <a:pathLst>
                <a:path w="2113989" h="3342337">
                  <a:moveTo>
                    <a:pt x="0" y="0"/>
                  </a:moveTo>
                  <a:lnTo>
                    <a:pt x="2113989" y="0"/>
                  </a:lnTo>
                  <a:lnTo>
                    <a:pt x="2113989" y="3342337"/>
                  </a:lnTo>
                  <a:lnTo>
                    <a:pt x="0" y="3342337"/>
                  </a:lnTo>
                  <a:close/>
                </a:path>
              </a:pathLst>
            </a:custGeom>
            <a:solidFill>
              <a:srgbClr val="F7F8FC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113989" cy="3342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9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Patient Vitals &amp; AR check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82160" y="9669780"/>
            <a:ext cx="822960" cy="1101198"/>
            <a:chOff x="0" y="0"/>
            <a:chExt cx="1097280" cy="1468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" cy="1468264"/>
            </a:xfrm>
            <a:custGeom>
              <a:avLst/>
              <a:gdLst/>
              <a:ahLst/>
              <a:cxnLst/>
              <a:rect l="l" t="t" r="r" b="b"/>
              <a:pathLst>
                <a:path w="1097280" h="1468264">
                  <a:moveTo>
                    <a:pt x="0" y="0"/>
                  </a:moveTo>
                  <a:lnTo>
                    <a:pt x="1097280" y="0"/>
                  </a:lnTo>
                  <a:lnTo>
                    <a:pt x="1097280" y="1468264"/>
                  </a:lnTo>
                  <a:lnTo>
                    <a:pt x="0" y="1468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6263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097280" cy="1477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891B5"/>
                  </a:solidFill>
                  <a:latin typeface="Cambria"/>
                  <a:ea typeface="Cambria"/>
                  <a:cs typeface="Cambria"/>
                  <a:sym typeface="Cambria"/>
                </a:rPr>
                <a:t>04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08870" y="3206343"/>
            <a:ext cx="3465377" cy="1624718"/>
            <a:chOff x="0" y="0"/>
            <a:chExt cx="2596896" cy="15544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96896" cy="1554480"/>
            </a:xfrm>
            <a:custGeom>
              <a:avLst/>
              <a:gdLst/>
              <a:ahLst/>
              <a:cxnLst/>
              <a:rect l="l" t="t" r="r" b="b"/>
              <a:pathLst>
                <a:path w="2596896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487168" y="0"/>
                  </a:lnTo>
                  <a:cubicBezTo>
                    <a:pt x="2547747" y="0"/>
                    <a:pt x="2596896" y="49149"/>
                    <a:pt x="2596896" y="109728"/>
                  </a:cubicBezTo>
                  <a:lnTo>
                    <a:pt x="2596896" y="1444752"/>
                  </a:lnTo>
                  <a:cubicBezTo>
                    <a:pt x="2596896" y="1505331"/>
                    <a:pt x="2547747" y="1554480"/>
                    <a:pt x="2487168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699437" y="3206343"/>
            <a:ext cx="3465377" cy="1624718"/>
            <a:chOff x="0" y="0"/>
            <a:chExt cx="2596896" cy="15544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96896" cy="1554480"/>
            </a:xfrm>
            <a:custGeom>
              <a:avLst/>
              <a:gdLst/>
              <a:ahLst/>
              <a:cxnLst/>
              <a:rect l="l" t="t" r="r" b="b"/>
              <a:pathLst>
                <a:path w="2596896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487168" y="0"/>
                  </a:lnTo>
                  <a:cubicBezTo>
                    <a:pt x="2547747" y="0"/>
                    <a:pt x="2596896" y="49149"/>
                    <a:pt x="2596896" y="109728"/>
                  </a:cubicBezTo>
                  <a:lnTo>
                    <a:pt x="2596896" y="1444752"/>
                  </a:lnTo>
                  <a:cubicBezTo>
                    <a:pt x="2596896" y="1505331"/>
                    <a:pt x="2547747" y="1554480"/>
                    <a:pt x="2487168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64316" y="3489022"/>
            <a:ext cx="2941509" cy="961041"/>
            <a:chOff x="0" y="0"/>
            <a:chExt cx="2640295" cy="334233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40295" cy="3342337"/>
            </a:xfrm>
            <a:custGeom>
              <a:avLst/>
              <a:gdLst/>
              <a:ahLst/>
              <a:cxnLst/>
              <a:rect l="l" t="t" r="r" b="b"/>
              <a:pathLst>
                <a:path w="2640295" h="3342337">
                  <a:moveTo>
                    <a:pt x="0" y="0"/>
                  </a:moveTo>
                  <a:lnTo>
                    <a:pt x="2640295" y="0"/>
                  </a:lnTo>
                  <a:lnTo>
                    <a:pt x="2640295" y="3342337"/>
                  </a:lnTo>
                  <a:lnTo>
                    <a:pt x="0" y="3342337"/>
                  </a:lnTo>
                  <a:close/>
                </a:path>
              </a:pathLst>
            </a:custGeom>
            <a:solidFill>
              <a:srgbClr val="F7F8FC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1026" y="1289868"/>
              <a:ext cx="2013613" cy="717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23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Scan Requested</a:t>
              </a:r>
            </a:p>
            <a:p>
              <a:pPr algn="ctr">
                <a:lnSpc>
                  <a:spcPts val="4223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(on suspicion)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90004" y="3206343"/>
            <a:ext cx="3465377" cy="1624718"/>
            <a:chOff x="0" y="0"/>
            <a:chExt cx="2596896" cy="15544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96896" cy="1554480"/>
            </a:xfrm>
            <a:custGeom>
              <a:avLst/>
              <a:gdLst/>
              <a:ahLst/>
              <a:cxnLst/>
              <a:rect l="l" t="t" r="r" b="b"/>
              <a:pathLst>
                <a:path w="2596896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487168" y="0"/>
                  </a:lnTo>
                  <a:cubicBezTo>
                    <a:pt x="2547747" y="0"/>
                    <a:pt x="2596896" y="49149"/>
                    <a:pt x="2596896" y="109728"/>
                  </a:cubicBezTo>
                  <a:lnTo>
                    <a:pt x="2596896" y="1444752"/>
                  </a:lnTo>
                  <a:cubicBezTo>
                    <a:pt x="2596896" y="1505331"/>
                    <a:pt x="2547747" y="1554480"/>
                    <a:pt x="2487168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468873" y="3462857"/>
            <a:ext cx="2552436" cy="987206"/>
            <a:chOff x="0" y="0"/>
            <a:chExt cx="2113989" cy="33423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13989" cy="3342337"/>
            </a:xfrm>
            <a:custGeom>
              <a:avLst/>
              <a:gdLst/>
              <a:ahLst/>
              <a:cxnLst/>
              <a:rect l="l" t="t" r="r" b="b"/>
              <a:pathLst>
                <a:path w="2113989" h="3342337">
                  <a:moveTo>
                    <a:pt x="0" y="0"/>
                  </a:moveTo>
                  <a:lnTo>
                    <a:pt x="2113989" y="0"/>
                  </a:lnTo>
                  <a:lnTo>
                    <a:pt x="2113989" y="3342337"/>
                  </a:lnTo>
                  <a:lnTo>
                    <a:pt x="0" y="3342337"/>
                  </a:lnTo>
                  <a:close/>
                </a:path>
              </a:pathLst>
            </a:custGeom>
            <a:solidFill>
              <a:srgbClr val="F7F8FC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2113989" cy="3342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4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Technician performs scan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452703" y="3477168"/>
            <a:ext cx="588146" cy="804224"/>
            <a:chOff x="0" y="0"/>
            <a:chExt cx="2836887" cy="411495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36887" cy="4114958"/>
            </a:xfrm>
            <a:custGeom>
              <a:avLst/>
              <a:gdLst/>
              <a:ahLst/>
              <a:cxnLst/>
              <a:rect l="l" t="t" r="r" b="b"/>
              <a:pathLst>
                <a:path w="2836887" h="4114958">
                  <a:moveTo>
                    <a:pt x="0" y="0"/>
                  </a:moveTo>
                  <a:lnTo>
                    <a:pt x="2836887" y="0"/>
                  </a:lnTo>
                  <a:lnTo>
                    <a:pt x="2836887" y="4114958"/>
                  </a:lnTo>
                  <a:lnTo>
                    <a:pt x="0" y="411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02" r="23893" b="622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2836887" cy="41244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19"/>
                </a:lnSpc>
              </a:pPr>
              <a:r>
                <a:rPr lang="en-US" sz="5099" b="1" dirty="0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090004" y="6453685"/>
            <a:ext cx="3465377" cy="1624718"/>
            <a:chOff x="0" y="0"/>
            <a:chExt cx="2596896" cy="15544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596896" cy="1554480"/>
            </a:xfrm>
            <a:custGeom>
              <a:avLst/>
              <a:gdLst/>
              <a:ahLst/>
              <a:cxnLst/>
              <a:rect l="l" t="t" r="r" b="b"/>
              <a:pathLst>
                <a:path w="2596896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487168" y="0"/>
                  </a:lnTo>
                  <a:cubicBezTo>
                    <a:pt x="2547747" y="0"/>
                    <a:pt x="2596896" y="49149"/>
                    <a:pt x="2596896" y="109728"/>
                  </a:cubicBezTo>
                  <a:lnTo>
                    <a:pt x="2596896" y="1444752"/>
                  </a:lnTo>
                  <a:cubicBezTo>
                    <a:pt x="2596896" y="1505331"/>
                    <a:pt x="2547747" y="1554480"/>
                    <a:pt x="2487168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623716" y="6661542"/>
            <a:ext cx="2330805" cy="1101199"/>
            <a:chOff x="0" y="0"/>
            <a:chExt cx="2113989" cy="334233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13989" cy="3342337"/>
            </a:xfrm>
            <a:custGeom>
              <a:avLst/>
              <a:gdLst/>
              <a:ahLst/>
              <a:cxnLst/>
              <a:rect l="l" t="t" r="r" b="b"/>
              <a:pathLst>
                <a:path w="2113989" h="3342337">
                  <a:moveTo>
                    <a:pt x="0" y="0"/>
                  </a:moveTo>
                  <a:lnTo>
                    <a:pt x="2113989" y="0"/>
                  </a:lnTo>
                  <a:lnTo>
                    <a:pt x="2113989" y="3342337"/>
                  </a:lnTo>
                  <a:lnTo>
                    <a:pt x="0" y="3342337"/>
                  </a:lnTo>
                  <a:close/>
                </a:path>
              </a:pathLst>
            </a:custGeom>
            <a:solidFill>
              <a:srgbClr val="F7F8FC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2113989" cy="3342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64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Software Report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691947" y="6350120"/>
            <a:ext cx="3465377" cy="1624718"/>
            <a:chOff x="0" y="0"/>
            <a:chExt cx="2596896" cy="15544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596896" cy="1554480"/>
            </a:xfrm>
            <a:custGeom>
              <a:avLst/>
              <a:gdLst/>
              <a:ahLst/>
              <a:cxnLst/>
              <a:rect l="l" t="t" r="r" b="b"/>
              <a:pathLst>
                <a:path w="2596896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487168" y="0"/>
                  </a:lnTo>
                  <a:cubicBezTo>
                    <a:pt x="2547747" y="0"/>
                    <a:pt x="2596896" y="49149"/>
                    <a:pt x="2596896" y="109728"/>
                  </a:cubicBezTo>
                  <a:lnTo>
                    <a:pt x="2596896" y="1444752"/>
                  </a:lnTo>
                  <a:cubicBezTo>
                    <a:pt x="2596896" y="1505331"/>
                    <a:pt x="2547747" y="1554480"/>
                    <a:pt x="2487168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155630" y="6661542"/>
            <a:ext cx="2352348" cy="779289"/>
            <a:chOff x="0" y="0"/>
            <a:chExt cx="2113989" cy="334233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13989" cy="3342337"/>
            </a:xfrm>
            <a:custGeom>
              <a:avLst/>
              <a:gdLst/>
              <a:ahLst/>
              <a:cxnLst/>
              <a:rect l="l" t="t" r="r" b="b"/>
              <a:pathLst>
                <a:path w="2113989" h="3342337">
                  <a:moveTo>
                    <a:pt x="0" y="0"/>
                  </a:moveTo>
                  <a:lnTo>
                    <a:pt x="2113989" y="0"/>
                  </a:lnTo>
                  <a:lnTo>
                    <a:pt x="2113989" y="3342337"/>
                  </a:lnTo>
                  <a:lnTo>
                    <a:pt x="0" y="3342337"/>
                  </a:lnTo>
                  <a:close/>
                </a:path>
              </a:pathLst>
            </a:custGeom>
            <a:solidFill>
              <a:srgbClr val="F7F8FC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2113989" cy="3342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69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Print Report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63430" y="6362070"/>
            <a:ext cx="3465377" cy="1624718"/>
            <a:chOff x="0" y="0"/>
            <a:chExt cx="2596896" cy="15544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596896" cy="1554480"/>
            </a:xfrm>
            <a:custGeom>
              <a:avLst/>
              <a:gdLst/>
              <a:ahLst/>
              <a:cxnLst/>
              <a:rect l="l" t="t" r="r" b="b"/>
              <a:pathLst>
                <a:path w="2596896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487168" y="0"/>
                  </a:lnTo>
                  <a:cubicBezTo>
                    <a:pt x="2547747" y="0"/>
                    <a:pt x="2596896" y="49149"/>
                    <a:pt x="2596896" y="109728"/>
                  </a:cubicBezTo>
                  <a:lnTo>
                    <a:pt x="2596896" y="1444752"/>
                  </a:lnTo>
                  <a:cubicBezTo>
                    <a:pt x="2596896" y="1505331"/>
                    <a:pt x="2547747" y="1554480"/>
                    <a:pt x="2487168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313B82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40664" y="6507008"/>
            <a:ext cx="2554886" cy="1101199"/>
            <a:chOff x="0" y="0"/>
            <a:chExt cx="2113989" cy="334233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13989" cy="3342337"/>
            </a:xfrm>
            <a:custGeom>
              <a:avLst/>
              <a:gdLst/>
              <a:ahLst/>
              <a:cxnLst/>
              <a:rect l="l" t="t" r="r" b="b"/>
              <a:pathLst>
                <a:path w="2113989" h="3342337">
                  <a:moveTo>
                    <a:pt x="0" y="0"/>
                  </a:moveTo>
                  <a:lnTo>
                    <a:pt x="2113989" y="0"/>
                  </a:lnTo>
                  <a:lnTo>
                    <a:pt x="2113989" y="3342337"/>
                  </a:lnTo>
                  <a:lnTo>
                    <a:pt x="0" y="3342337"/>
                  </a:lnTo>
                  <a:close/>
                </a:path>
              </a:pathLst>
            </a:custGeom>
            <a:solidFill>
              <a:srgbClr val="F7F8FC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2113989" cy="3342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469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Return to consultant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22968" y="6453685"/>
            <a:ext cx="3465377" cy="1624718"/>
            <a:chOff x="0" y="0"/>
            <a:chExt cx="2596896" cy="15544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96896" cy="1554480"/>
            </a:xfrm>
            <a:custGeom>
              <a:avLst/>
              <a:gdLst/>
              <a:ahLst/>
              <a:cxnLst/>
              <a:rect l="l" t="t" r="r" b="b"/>
              <a:pathLst>
                <a:path w="2596896" h="155448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487168" y="0"/>
                  </a:lnTo>
                  <a:cubicBezTo>
                    <a:pt x="2547747" y="0"/>
                    <a:pt x="2596896" y="49149"/>
                    <a:pt x="2596896" y="109728"/>
                  </a:cubicBezTo>
                  <a:lnTo>
                    <a:pt x="2596896" y="1444752"/>
                  </a:lnTo>
                  <a:cubicBezTo>
                    <a:pt x="2596896" y="1505331"/>
                    <a:pt x="2547747" y="1554480"/>
                    <a:pt x="2487168" y="1554480"/>
                  </a:cubicBezTo>
                  <a:lnTo>
                    <a:pt x="109728" y="1554480"/>
                  </a:lnTo>
                  <a:cubicBezTo>
                    <a:pt x="49149" y="1554480"/>
                    <a:pt x="0" y="1505331"/>
                    <a:pt x="0" y="1444752"/>
                  </a:cubicBezTo>
                  <a:close/>
                </a:path>
              </a:pathLst>
            </a:custGeom>
            <a:solidFill>
              <a:srgbClr val="D9A441"/>
            </a:solidFill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50340" y="6603253"/>
            <a:ext cx="2646099" cy="1217776"/>
            <a:chOff x="0" y="0"/>
            <a:chExt cx="2113989" cy="3342337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13989" cy="3342337"/>
            </a:xfrm>
            <a:custGeom>
              <a:avLst/>
              <a:gdLst/>
              <a:ahLst/>
              <a:cxnLst/>
              <a:rect l="l" t="t" r="r" b="b"/>
              <a:pathLst>
                <a:path w="2113989" h="3342337">
                  <a:moveTo>
                    <a:pt x="0" y="0"/>
                  </a:moveTo>
                  <a:lnTo>
                    <a:pt x="2113989" y="0"/>
                  </a:lnTo>
                  <a:lnTo>
                    <a:pt x="2113989" y="3342337"/>
                  </a:lnTo>
                  <a:lnTo>
                    <a:pt x="0" y="3342337"/>
                  </a:lnTo>
                  <a:close/>
                </a:path>
              </a:pathLst>
            </a:custGeom>
            <a:solidFill>
              <a:srgbClr val="F7F8FC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2113989" cy="3342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9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Referred to specialist</a:t>
              </a:r>
            </a:p>
            <a:p>
              <a:pPr algn="ctr">
                <a:lnSpc>
                  <a:spcPts val="3629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(if required)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878116" y="3626222"/>
            <a:ext cx="562249" cy="643197"/>
            <a:chOff x="0" y="0"/>
            <a:chExt cx="2836887" cy="411495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836887" cy="4114958"/>
            </a:xfrm>
            <a:custGeom>
              <a:avLst/>
              <a:gdLst/>
              <a:ahLst/>
              <a:cxnLst/>
              <a:rect l="l" t="t" r="r" b="b"/>
              <a:pathLst>
                <a:path w="2836887" h="4114958">
                  <a:moveTo>
                    <a:pt x="0" y="0"/>
                  </a:moveTo>
                  <a:lnTo>
                    <a:pt x="2836887" y="0"/>
                  </a:lnTo>
                  <a:lnTo>
                    <a:pt x="2836887" y="4114958"/>
                  </a:lnTo>
                  <a:lnTo>
                    <a:pt x="0" y="411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02" r="23893" b="622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2836887" cy="41244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19"/>
                </a:lnSpc>
              </a:pPr>
              <a:r>
                <a:rPr lang="en-US" sz="5099" b="1" dirty="0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→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 rot="5400000">
            <a:off x="15482691" y="5137368"/>
            <a:ext cx="612856" cy="822960"/>
            <a:chOff x="0" y="0"/>
            <a:chExt cx="2836887" cy="411495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836887" cy="4114958"/>
            </a:xfrm>
            <a:custGeom>
              <a:avLst/>
              <a:gdLst/>
              <a:ahLst/>
              <a:cxnLst/>
              <a:rect l="l" t="t" r="r" b="b"/>
              <a:pathLst>
                <a:path w="2836887" h="4114958">
                  <a:moveTo>
                    <a:pt x="0" y="0"/>
                  </a:moveTo>
                  <a:lnTo>
                    <a:pt x="2836887" y="0"/>
                  </a:lnTo>
                  <a:lnTo>
                    <a:pt x="2836887" y="4114958"/>
                  </a:lnTo>
                  <a:lnTo>
                    <a:pt x="0" y="411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02" r="23893" b="622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6449" y="1548339"/>
              <a:ext cx="813998" cy="9058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19"/>
                </a:lnSpc>
              </a:pPr>
              <a:r>
                <a:rPr lang="en-US" sz="5099" b="1" dirty="0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→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 rot="-10800000">
            <a:off x="13321631" y="7120527"/>
            <a:ext cx="509263" cy="487680"/>
            <a:chOff x="0" y="0"/>
            <a:chExt cx="2836887" cy="411495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836887" cy="4114958"/>
            </a:xfrm>
            <a:custGeom>
              <a:avLst/>
              <a:gdLst/>
              <a:ahLst/>
              <a:cxnLst/>
              <a:rect l="l" t="t" r="r" b="b"/>
              <a:pathLst>
                <a:path w="2836887" h="4114958">
                  <a:moveTo>
                    <a:pt x="0" y="0"/>
                  </a:moveTo>
                  <a:lnTo>
                    <a:pt x="2836887" y="0"/>
                  </a:lnTo>
                  <a:lnTo>
                    <a:pt x="2836887" y="4114958"/>
                  </a:lnTo>
                  <a:lnTo>
                    <a:pt x="0" y="411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02" r="23893" b="622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2836887" cy="41244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19"/>
                </a:lnSpc>
              </a:pPr>
              <a:r>
                <a:rPr lang="en-US" sz="5099" b="1" dirty="0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→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 rot="-10800000">
            <a:off x="8878116" y="7006084"/>
            <a:ext cx="562249" cy="665575"/>
            <a:chOff x="0" y="0"/>
            <a:chExt cx="2836887" cy="411495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836887" cy="4114958"/>
            </a:xfrm>
            <a:custGeom>
              <a:avLst/>
              <a:gdLst/>
              <a:ahLst/>
              <a:cxnLst/>
              <a:rect l="l" t="t" r="r" b="b"/>
              <a:pathLst>
                <a:path w="2836887" h="4114958">
                  <a:moveTo>
                    <a:pt x="0" y="0"/>
                  </a:moveTo>
                  <a:lnTo>
                    <a:pt x="2836887" y="0"/>
                  </a:lnTo>
                  <a:lnTo>
                    <a:pt x="2836887" y="4114958"/>
                  </a:lnTo>
                  <a:lnTo>
                    <a:pt x="0" y="411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02" r="23893" b="622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2836887" cy="41244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19"/>
                </a:lnSpc>
              </a:pPr>
              <a:r>
                <a:rPr lang="en-US" sz="5099" b="1" dirty="0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→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 rot="-10800000">
            <a:off x="4475886" y="6978618"/>
            <a:ext cx="516301" cy="563880"/>
            <a:chOff x="0" y="0"/>
            <a:chExt cx="2836887" cy="411495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836887" cy="4114958"/>
            </a:xfrm>
            <a:custGeom>
              <a:avLst/>
              <a:gdLst/>
              <a:ahLst/>
              <a:cxnLst/>
              <a:rect l="l" t="t" r="r" b="b"/>
              <a:pathLst>
                <a:path w="2836887" h="4114958">
                  <a:moveTo>
                    <a:pt x="0" y="0"/>
                  </a:moveTo>
                  <a:lnTo>
                    <a:pt x="2836887" y="0"/>
                  </a:lnTo>
                  <a:lnTo>
                    <a:pt x="2836887" y="4114958"/>
                  </a:lnTo>
                  <a:lnTo>
                    <a:pt x="0" y="411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02" r="23893" b="622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2836887" cy="41244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19"/>
                </a:lnSpc>
              </a:pPr>
              <a:r>
                <a:rPr lang="en-US" sz="5099" b="1" dirty="0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→</a:t>
              </a:r>
            </a:p>
          </p:txBody>
        </p:sp>
      </p:grpSp>
      <p:grpSp>
        <p:nvGrpSpPr>
          <p:cNvPr id="76" name="Group 31">
            <a:extLst>
              <a:ext uri="{FF2B5EF4-FFF2-40B4-BE49-F238E27FC236}">
                <a16:creationId xmlns:a16="http://schemas.microsoft.com/office/drawing/2014/main" id="{6F98B151-DBC5-7E5B-ABA7-4734100F6942}"/>
              </a:ext>
            </a:extLst>
          </p:cNvPr>
          <p:cNvGrpSpPr/>
          <p:nvPr/>
        </p:nvGrpSpPr>
        <p:grpSpPr>
          <a:xfrm>
            <a:off x="13261736" y="3477168"/>
            <a:ext cx="588146" cy="804224"/>
            <a:chOff x="0" y="0"/>
            <a:chExt cx="2836887" cy="4114958"/>
          </a:xfrm>
        </p:grpSpPr>
        <p:sp>
          <p:nvSpPr>
            <p:cNvPr id="77" name="Freeform 32">
              <a:extLst>
                <a:ext uri="{FF2B5EF4-FFF2-40B4-BE49-F238E27FC236}">
                  <a16:creationId xmlns:a16="http://schemas.microsoft.com/office/drawing/2014/main" id="{415C225C-9F69-651B-BAA1-3BD43447D827}"/>
                </a:ext>
              </a:extLst>
            </p:cNvPr>
            <p:cNvSpPr/>
            <p:nvPr/>
          </p:nvSpPr>
          <p:spPr>
            <a:xfrm>
              <a:off x="0" y="0"/>
              <a:ext cx="2836887" cy="4114958"/>
            </a:xfrm>
            <a:custGeom>
              <a:avLst/>
              <a:gdLst/>
              <a:ahLst/>
              <a:cxnLst/>
              <a:rect l="l" t="t" r="r" b="b"/>
              <a:pathLst>
                <a:path w="2836887" h="4114958">
                  <a:moveTo>
                    <a:pt x="0" y="0"/>
                  </a:moveTo>
                  <a:lnTo>
                    <a:pt x="2836887" y="0"/>
                  </a:lnTo>
                  <a:lnTo>
                    <a:pt x="2836887" y="4114958"/>
                  </a:lnTo>
                  <a:lnTo>
                    <a:pt x="0" y="41149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502" r="23893" b="6222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33">
              <a:extLst>
                <a:ext uri="{FF2B5EF4-FFF2-40B4-BE49-F238E27FC236}">
                  <a16:creationId xmlns:a16="http://schemas.microsoft.com/office/drawing/2014/main" id="{B78A45E3-570D-0665-E90F-AA37D9583D7A}"/>
                </a:ext>
              </a:extLst>
            </p:cNvPr>
            <p:cNvSpPr txBox="1"/>
            <p:nvPr/>
          </p:nvSpPr>
          <p:spPr>
            <a:xfrm>
              <a:off x="0" y="-9525"/>
              <a:ext cx="2836887" cy="41244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19"/>
                </a:lnSpc>
              </a:pPr>
              <a:r>
                <a:rPr lang="en-US" sz="5099" b="1" dirty="0">
                  <a:solidFill>
                    <a:srgbClr val="CADCF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→</a:t>
              </a:r>
            </a:p>
          </p:txBody>
        </p:sp>
      </p:grpSp>
      <p:grpSp>
        <p:nvGrpSpPr>
          <p:cNvPr id="79" name="Group 7">
            <a:extLst>
              <a:ext uri="{FF2B5EF4-FFF2-40B4-BE49-F238E27FC236}">
                <a16:creationId xmlns:a16="http://schemas.microsoft.com/office/drawing/2014/main" id="{B9E32505-658C-343B-D1B2-ED8E4D5EC940}"/>
              </a:ext>
            </a:extLst>
          </p:cNvPr>
          <p:cNvGrpSpPr/>
          <p:nvPr/>
        </p:nvGrpSpPr>
        <p:grpSpPr>
          <a:xfrm>
            <a:off x="5823586" y="3606071"/>
            <a:ext cx="2341704" cy="719854"/>
            <a:chOff x="0" y="0"/>
            <a:chExt cx="2113989" cy="3342337"/>
          </a:xfrm>
        </p:grpSpPr>
        <p:sp>
          <p:nvSpPr>
            <p:cNvPr id="80" name="Freeform 8">
              <a:extLst>
                <a:ext uri="{FF2B5EF4-FFF2-40B4-BE49-F238E27FC236}">
                  <a16:creationId xmlns:a16="http://schemas.microsoft.com/office/drawing/2014/main" id="{B41A74C1-A394-8976-B962-496439A0AD60}"/>
                </a:ext>
              </a:extLst>
            </p:cNvPr>
            <p:cNvSpPr/>
            <p:nvPr/>
          </p:nvSpPr>
          <p:spPr>
            <a:xfrm>
              <a:off x="0" y="0"/>
              <a:ext cx="2113989" cy="3342337"/>
            </a:xfrm>
            <a:custGeom>
              <a:avLst/>
              <a:gdLst/>
              <a:ahLst/>
              <a:cxnLst/>
              <a:rect l="l" t="t" r="r" b="b"/>
              <a:pathLst>
                <a:path w="2113989" h="3342337">
                  <a:moveTo>
                    <a:pt x="0" y="0"/>
                  </a:moveTo>
                  <a:lnTo>
                    <a:pt x="2113989" y="0"/>
                  </a:lnTo>
                  <a:lnTo>
                    <a:pt x="2113989" y="3342337"/>
                  </a:lnTo>
                  <a:lnTo>
                    <a:pt x="0" y="3342337"/>
                  </a:lnTo>
                  <a:close/>
                </a:path>
              </a:pathLst>
            </a:custGeom>
            <a:solidFill>
              <a:srgbClr val="F7F8FC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1" name="TextBox 9">
              <a:extLst>
                <a:ext uri="{FF2B5EF4-FFF2-40B4-BE49-F238E27FC236}">
                  <a16:creationId xmlns:a16="http://schemas.microsoft.com/office/drawing/2014/main" id="{1758391B-85FD-BB0D-05A3-3AF697F6AF89}"/>
                </a:ext>
              </a:extLst>
            </p:cNvPr>
            <p:cNvSpPr txBox="1"/>
            <p:nvPr/>
          </p:nvSpPr>
          <p:spPr>
            <a:xfrm>
              <a:off x="0" y="0"/>
              <a:ext cx="2113989" cy="33423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49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Referred to Clinician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8220" y="3583071"/>
            <a:ext cx="6621780" cy="4929493"/>
            <a:chOff x="0" y="0"/>
            <a:chExt cx="22735629" cy="8535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35628" cy="8535819"/>
            </a:xfrm>
            <a:custGeom>
              <a:avLst/>
              <a:gdLst/>
              <a:ahLst/>
              <a:cxnLst/>
              <a:rect l="l" t="t" r="r" b="b"/>
              <a:pathLst>
                <a:path w="22735628" h="8535819">
                  <a:moveTo>
                    <a:pt x="0" y="0"/>
                  </a:moveTo>
                  <a:lnTo>
                    <a:pt x="22735628" y="0"/>
                  </a:lnTo>
                  <a:lnTo>
                    <a:pt x="22735628" y="8535819"/>
                  </a:lnTo>
                  <a:lnTo>
                    <a:pt x="0" y="8535819"/>
                  </a:lnTo>
                  <a:close/>
                </a:path>
              </a:pathLst>
            </a:custGeom>
            <a:solidFill>
              <a:srgbClr val="232C6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45820" y="802352"/>
            <a:ext cx="8526780" cy="941775"/>
            <a:chOff x="0" y="0"/>
            <a:chExt cx="22128480" cy="4404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28480" cy="4404792"/>
            </a:xfrm>
            <a:custGeom>
              <a:avLst/>
              <a:gdLst/>
              <a:ahLst/>
              <a:cxnLst/>
              <a:rect l="l" t="t" r="r" b="b"/>
              <a:pathLst>
                <a:path w="22128480" h="4404792">
                  <a:moveTo>
                    <a:pt x="0" y="0"/>
                  </a:moveTo>
                  <a:lnTo>
                    <a:pt x="22128480" y="0"/>
                  </a:lnTo>
                  <a:lnTo>
                    <a:pt x="2212848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9204" b="-165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2128480" cy="4423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AFIO Visit: Further Observations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8220" y="2392478"/>
            <a:ext cx="5255294" cy="941775"/>
            <a:chOff x="0" y="0"/>
            <a:chExt cx="10607040" cy="39541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07040" cy="3954112"/>
            </a:xfrm>
            <a:custGeom>
              <a:avLst/>
              <a:gdLst/>
              <a:ahLst/>
              <a:cxnLst/>
              <a:rect l="l" t="t" r="r" b="b"/>
              <a:pathLst>
                <a:path w="10607040" h="3954112">
                  <a:moveTo>
                    <a:pt x="0" y="0"/>
                  </a:moveTo>
                  <a:lnTo>
                    <a:pt x="10607040" y="0"/>
                  </a:lnTo>
                  <a:lnTo>
                    <a:pt x="10607040" y="3954112"/>
                  </a:lnTo>
                  <a:lnTo>
                    <a:pt x="0" y="3954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175" b="3963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0607040" cy="3963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59"/>
                </a:lnSpc>
              </a:pPr>
              <a:r>
                <a:rPr lang="en-US" sz="4049" b="1" dirty="0">
                  <a:solidFill>
                    <a:srgbClr val="D9A4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Equipment Observed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282160" y="9669780"/>
            <a:ext cx="822960" cy="1101198"/>
            <a:chOff x="0" y="0"/>
            <a:chExt cx="1097280" cy="14682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" cy="1468264"/>
            </a:xfrm>
            <a:custGeom>
              <a:avLst/>
              <a:gdLst/>
              <a:ahLst/>
              <a:cxnLst/>
              <a:rect l="l" t="t" r="r" b="b"/>
              <a:pathLst>
                <a:path w="1097280" h="1468264">
                  <a:moveTo>
                    <a:pt x="0" y="0"/>
                  </a:moveTo>
                  <a:lnTo>
                    <a:pt x="1097280" y="0"/>
                  </a:lnTo>
                  <a:lnTo>
                    <a:pt x="1097280" y="1468264"/>
                  </a:lnTo>
                  <a:lnTo>
                    <a:pt x="0" y="1468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6263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97280" cy="1477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891B5"/>
                  </a:solidFill>
                  <a:latin typeface="Cambria"/>
                  <a:ea typeface="Cambria"/>
                  <a:cs typeface="Cambria"/>
                  <a:sym typeface="Cambria"/>
                </a:rPr>
                <a:t>04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9200" y="4202335"/>
            <a:ext cx="5592639" cy="2317119"/>
            <a:chOff x="0" y="0"/>
            <a:chExt cx="12358928" cy="93389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58928" cy="9338996"/>
            </a:xfrm>
            <a:custGeom>
              <a:avLst/>
              <a:gdLst/>
              <a:ahLst/>
              <a:cxnLst/>
              <a:rect l="l" t="t" r="r" b="b"/>
              <a:pathLst>
                <a:path w="12358928" h="9338996">
                  <a:moveTo>
                    <a:pt x="0" y="0"/>
                  </a:moveTo>
                  <a:lnTo>
                    <a:pt x="12358928" y="0"/>
                  </a:lnTo>
                  <a:lnTo>
                    <a:pt x="12358928" y="9338996"/>
                  </a:lnTo>
                  <a:lnTo>
                    <a:pt x="0" y="93389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45" r="2029" b="43211"/>
              </a:stretch>
            </a:blipFill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2358928" cy="9424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4243" lvl="1" indent="-282122" algn="l"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Topcon OCT Systems                                     OCT </a:t>
              </a:r>
            </a:p>
            <a:p>
              <a:pPr algn="l"/>
              <a:endParaRPr lang="en-US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564243" lvl="1" indent="-282122" algn="l"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Heidelberg OCT                                               </a:t>
              </a:r>
              <a:r>
                <a:rPr lang="en-US" dirty="0" err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OCT</a:t>
              </a:r>
              <a:endParaRPr lang="en-US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/>
              <a:endParaRPr lang="en-US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564243" lvl="1" indent="-282122" algn="l"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Optovue</a:t>
              </a:r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 OCT                                                    Retinal</a:t>
              </a:r>
            </a:p>
            <a:p>
              <a:pPr algn="l"/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   </a:t>
              </a:r>
            </a:p>
            <a:p>
              <a:pPr marL="564243" lvl="1" indent="-282122" algn="l">
                <a:buFont typeface="Arial"/>
                <a:buChar char="•"/>
              </a:pPr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Specular Microscope                                     Corneal </a:t>
              </a:r>
            </a:p>
            <a:p>
              <a:pPr algn="l"/>
              <a:endParaRPr lang="en-US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/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13413" y="6209442"/>
            <a:ext cx="5826335" cy="1465607"/>
            <a:chOff x="0" y="-85726"/>
            <a:chExt cx="12860781" cy="70556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04320" cy="6969950"/>
            </a:xfrm>
            <a:custGeom>
              <a:avLst/>
              <a:gdLst/>
              <a:ahLst/>
              <a:cxnLst/>
              <a:rect l="l" t="t" r="r" b="b"/>
              <a:pathLst>
                <a:path w="11704320" h="6969950">
                  <a:moveTo>
                    <a:pt x="0" y="0"/>
                  </a:moveTo>
                  <a:lnTo>
                    <a:pt x="11704320" y="0"/>
                  </a:lnTo>
                  <a:lnTo>
                    <a:pt x="11704320" y="6969950"/>
                  </a:lnTo>
                  <a:lnTo>
                    <a:pt x="0" y="6969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825" r="-3450" b="23908"/>
              </a:stretch>
            </a:blipFill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6"/>
              <a:ext cx="12860781" cy="70556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4243" lvl="1" indent="-282122" algn="l"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Galilie</a:t>
              </a:r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 Corneal Topography                         Corneal</a:t>
              </a:r>
            </a:p>
            <a:p>
              <a:pPr algn="l"/>
              <a:endParaRPr lang="en-US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564243" lvl="1" indent="-282122" algn="l"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Hamphrey</a:t>
              </a:r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 Field Analyzer                            Glaucoma</a:t>
              </a:r>
            </a:p>
            <a:p>
              <a:pPr algn="l"/>
              <a:endParaRPr lang="en-US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564243" lvl="1" indent="-282122" algn="l">
                <a:buFont typeface="Arial"/>
                <a:buChar char="•"/>
              </a:pPr>
              <a:r>
                <a:rPr lang="en-US" dirty="0" err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Optos</a:t>
              </a:r>
              <a:r>
                <a:rPr lang="en-US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 Ultra-widefield Fundus Camera</a:t>
              </a:r>
            </a:p>
          </p:txBody>
        </p:sp>
      </p:grpSp>
      <p:sp>
        <p:nvSpPr>
          <p:cNvPr id="22" name="Shape 27">
            <a:extLst>
              <a:ext uri="{FF2B5EF4-FFF2-40B4-BE49-F238E27FC236}">
                <a16:creationId xmlns:a16="http://schemas.microsoft.com/office/drawing/2014/main" id="{55C10A78-B9CC-B2A0-23D1-5059E5404374}"/>
              </a:ext>
            </a:extLst>
          </p:cNvPr>
          <p:cNvSpPr/>
          <p:nvPr/>
        </p:nvSpPr>
        <p:spPr>
          <a:xfrm>
            <a:off x="8610600" y="3619500"/>
            <a:ext cx="7543800" cy="4893063"/>
          </a:xfrm>
          <a:prstGeom prst="rect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8C7A3533-C954-BE8A-410F-EFFB6FF71FE5}"/>
              </a:ext>
            </a:extLst>
          </p:cNvPr>
          <p:cNvSpPr/>
          <p:nvPr/>
        </p:nvSpPr>
        <p:spPr>
          <a:xfrm>
            <a:off x="8613058" y="2739157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Observed</a:t>
            </a:r>
            <a:endParaRPr lang="en-US" sz="4050" dirty="0"/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DE90C09B-F120-8689-E304-222F8A661487}"/>
              </a:ext>
            </a:extLst>
          </p:cNvPr>
          <p:cNvSpPr/>
          <p:nvPr/>
        </p:nvSpPr>
        <p:spPr>
          <a:xfrm>
            <a:off x="8877300" y="3940564"/>
            <a:ext cx="7010400" cy="3935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software already performs image analysis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printed immediately after scan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available digitally inside software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patient database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electronic storage and report sharing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review only selected patients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334873"/>
            <a:ext cx="8463327" cy="1108342"/>
            <a:chOff x="0" y="0"/>
            <a:chExt cx="22128480" cy="46882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4688279"/>
            </a:xfrm>
            <a:custGeom>
              <a:avLst/>
              <a:gdLst/>
              <a:ahLst/>
              <a:cxnLst/>
              <a:rect l="l" t="t" r="r" b="b"/>
              <a:pathLst>
                <a:path w="22128480" h="4688279">
                  <a:moveTo>
                    <a:pt x="0" y="0"/>
                  </a:moveTo>
                  <a:lnTo>
                    <a:pt x="22128480" y="0"/>
                  </a:lnTo>
                  <a:lnTo>
                    <a:pt x="22128480" y="4688279"/>
                  </a:lnTo>
                  <a:lnTo>
                    <a:pt x="0" y="46882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4415" b="-95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46978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799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Problems Identified at AFIO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2105" y="6921646"/>
            <a:ext cx="16596360" cy="2050144"/>
            <a:chOff x="0" y="0"/>
            <a:chExt cx="22128480" cy="2091027"/>
          </a:xfrm>
          <a:solidFill>
            <a:srgbClr val="EFE3C8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2091027"/>
            </a:xfrm>
            <a:custGeom>
              <a:avLst/>
              <a:gdLst/>
              <a:ahLst/>
              <a:cxnLst/>
              <a:rect l="l" t="t" r="r" b="b"/>
              <a:pathLst>
                <a:path w="22128480" h="2091027">
                  <a:moveTo>
                    <a:pt x="0" y="0"/>
                  </a:moveTo>
                  <a:lnTo>
                    <a:pt x="22128480" y="0"/>
                  </a:lnTo>
                  <a:lnTo>
                    <a:pt x="22128480" y="2091027"/>
                  </a:lnTo>
                  <a:lnTo>
                    <a:pt x="0" y="209102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35754" y="7027440"/>
            <a:ext cx="7055745" cy="651255"/>
            <a:chOff x="0" y="0"/>
            <a:chExt cx="7315200" cy="19255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15200" cy="1925586"/>
            </a:xfrm>
            <a:custGeom>
              <a:avLst/>
              <a:gdLst/>
              <a:ahLst/>
              <a:cxnLst/>
              <a:rect l="l" t="t" r="r" b="b"/>
              <a:pathLst>
                <a:path w="7315200" h="1925586">
                  <a:moveTo>
                    <a:pt x="0" y="0"/>
                  </a:moveTo>
                  <a:lnTo>
                    <a:pt x="7315200" y="0"/>
                  </a:lnTo>
                  <a:lnTo>
                    <a:pt x="7315200" y="1925586"/>
                  </a:lnTo>
                  <a:lnTo>
                    <a:pt x="0" y="1925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776" b="117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7315200" cy="193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2800" b="1" spc="188" dirty="0">
                  <a:solidFill>
                    <a:srgbClr val="6B4E1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CONSULTANT FEEDBACK (Col. Aamir)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1817" y="7799757"/>
            <a:ext cx="16390621" cy="61218"/>
          </a:xfrm>
          <a:custGeom>
            <a:avLst/>
            <a:gdLst/>
            <a:ahLst/>
            <a:cxnLst/>
            <a:rect l="l" t="t" r="r" b="b"/>
            <a:pathLst>
              <a:path w="21854161" h="4844107">
                <a:moveTo>
                  <a:pt x="0" y="0"/>
                </a:moveTo>
                <a:lnTo>
                  <a:pt x="21854161" y="0"/>
                </a:lnTo>
                <a:lnTo>
                  <a:pt x="21854161" y="4844107"/>
                </a:lnTo>
                <a:lnTo>
                  <a:pt x="0" y="4844107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74214" r="3765" b="50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120515" y="7566035"/>
            <a:ext cx="16390620" cy="243262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3269"/>
              </a:lnSpc>
            </a:pPr>
            <a:r>
              <a:rPr lang="en-US" sz="2724" b="1" i="1" dirty="0">
                <a:solidFill>
                  <a:srgbClr val="5C4315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AI prediction was accurate, but the report format didn't fit hospital workflows, highlighting the need to prioritize report usability alongside model accuracy.</a:t>
            </a:r>
          </a:p>
          <a:p>
            <a:pPr algn="l">
              <a:lnSpc>
                <a:spcPts val="3269"/>
              </a:lnSpc>
            </a:pPr>
            <a:endParaRPr lang="en-US" sz="2724" b="1" i="1" dirty="0">
              <a:solidFill>
                <a:srgbClr val="5C4315"/>
              </a:solidFill>
              <a:latin typeface="Cambria Bold Italics"/>
              <a:ea typeface="Cambria Bold Italics"/>
              <a:cs typeface="Cambria Bold Italics"/>
              <a:sym typeface="Cambria Bold Italics"/>
            </a:endParaRPr>
          </a:p>
          <a:p>
            <a:pPr algn="l">
              <a:lnSpc>
                <a:spcPts val="3269"/>
              </a:lnSpc>
            </a:pPr>
            <a:endParaRPr lang="en-US" sz="2724" b="1" i="1" dirty="0">
              <a:solidFill>
                <a:srgbClr val="5C4315"/>
              </a:solidFill>
              <a:latin typeface="Cambria Bold Italics"/>
              <a:ea typeface="Cambria Bold Italics"/>
              <a:cs typeface="Cambria Bold Italics"/>
              <a:sym typeface="Cambria Bold Italics"/>
            </a:endParaRPr>
          </a:p>
          <a:p>
            <a:pPr algn="l">
              <a:lnSpc>
                <a:spcPts val="3269"/>
              </a:lnSpc>
            </a:pPr>
            <a:endParaRPr lang="en-US" sz="2724" b="1" i="1" dirty="0">
              <a:solidFill>
                <a:srgbClr val="5C4315"/>
              </a:solidFill>
              <a:latin typeface="Cambria Bold Italics"/>
              <a:ea typeface="Cambria Bold Italics"/>
              <a:cs typeface="Cambria Bold Italics"/>
              <a:sym typeface="Cambria Bold Italic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282160" y="9669780"/>
            <a:ext cx="822960" cy="1101198"/>
            <a:chOff x="0" y="0"/>
            <a:chExt cx="1097280" cy="14682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" cy="1468264"/>
            </a:xfrm>
            <a:custGeom>
              <a:avLst/>
              <a:gdLst/>
              <a:ahLst/>
              <a:cxnLst/>
              <a:rect l="l" t="t" r="r" b="b"/>
              <a:pathLst>
                <a:path w="1097280" h="1468264">
                  <a:moveTo>
                    <a:pt x="0" y="0"/>
                  </a:moveTo>
                  <a:lnTo>
                    <a:pt x="1097280" y="0"/>
                  </a:lnTo>
                  <a:lnTo>
                    <a:pt x="1097280" y="1468264"/>
                  </a:lnTo>
                  <a:lnTo>
                    <a:pt x="0" y="1468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6263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097280" cy="1477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9AEC2"/>
                  </a:solidFill>
                  <a:latin typeface="Cambria"/>
                  <a:ea typeface="Cambria"/>
                  <a:cs typeface="Cambria"/>
                  <a:sym typeface="Cambria"/>
                </a:rPr>
                <a:t>05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72640" y="1764684"/>
            <a:ext cx="6103620" cy="1733009"/>
            <a:chOff x="0" y="0"/>
            <a:chExt cx="10698480" cy="33832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98480" cy="3383280"/>
            </a:xfrm>
            <a:custGeom>
              <a:avLst/>
              <a:gdLst/>
              <a:ahLst/>
              <a:cxnLst/>
              <a:rect l="l" t="t" r="r" b="b"/>
              <a:pathLst>
                <a:path w="10698480" h="3383280">
                  <a:moveTo>
                    <a:pt x="0" y="0"/>
                  </a:moveTo>
                  <a:lnTo>
                    <a:pt x="10698480" y="0"/>
                  </a:lnTo>
                  <a:lnTo>
                    <a:pt x="10698480" y="3383280"/>
                  </a:lnTo>
                  <a:lnTo>
                    <a:pt x="0" y="338328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53414" y="2220313"/>
            <a:ext cx="4983536" cy="716199"/>
            <a:chOff x="0" y="0"/>
            <a:chExt cx="8503920" cy="39862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503920" cy="3986207"/>
            </a:xfrm>
            <a:custGeom>
              <a:avLst/>
              <a:gdLst/>
              <a:ahLst/>
              <a:cxnLst/>
              <a:rect l="l" t="t" r="r" b="b"/>
              <a:pathLst>
                <a:path w="8503920" h="3986207">
                  <a:moveTo>
                    <a:pt x="0" y="0"/>
                  </a:moveTo>
                  <a:lnTo>
                    <a:pt x="8503920" y="0"/>
                  </a:lnTo>
                  <a:lnTo>
                    <a:pt x="8503920" y="3986207"/>
                  </a:lnTo>
                  <a:lnTo>
                    <a:pt x="0" y="3986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45" b="48109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8503920" cy="39862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89"/>
                </a:lnSpc>
              </a:pPr>
              <a:r>
                <a:rPr lang="en-US" sz="3200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 Central Memory Bank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605A04D-C526-5DE5-2A2A-07DC1CC6632C}"/>
              </a:ext>
            </a:extLst>
          </p:cNvPr>
          <p:cNvGrpSpPr/>
          <p:nvPr/>
        </p:nvGrpSpPr>
        <p:grpSpPr>
          <a:xfrm>
            <a:off x="2332203" y="2310296"/>
            <a:ext cx="678180" cy="714290"/>
            <a:chOff x="1216274" y="2567850"/>
            <a:chExt cx="909705" cy="909705"/>
          </a:xfrm>
        </p:grpSpPr>
        <p:grpSp>
          <p:nvGrpSpPr>
            <p:cNvPr id="19" name="Group 19"/>
            <p:cNvGrpSpPr/>
            <p:nvPr/>
          </p:nvGrpSpPr>
          <p:grpSpPr>
            <a:xfrm>
              <a:off x="1216274" y="2567850"/>
              <a:ext cx="909705" cy="909705"/>
              <a:chOff x="-1" y="46409"/>
              <a:chExt cx="914400" cy="914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-1" y="46409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 sz="1200" dirty="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447663" y="2803023"/>
              <a:ext cx="446928" cy="342140"/>
              <a:chOff x="0" y="0"/>
              <a:chExt cx="768096" cy="88255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76200"/>
                <a:ext cx="768096" cy="9587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139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9356338" y="1764684"/>
            <a:ext cx="6103620" cy="1733009"/>
            <a:chOff x="0" y="0"/>
            <a:chExt cx="10698480" cy="33832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98480" cy="3383280"/>
            </a:xfrm>
            <a:custGeom>
              <a:avLst/>
              <a:gdLst/>
              <a:ahLst/>
              <a:cxnLst/>
              <a:rect l="l" t="t" r="r" b="b"/>
              <a:pathLst>
                <a:path w="10698480" h="3383280">
                  <a:moveTo>
                    <a:pt x="0" y="0"/>
                  </a:moveTo>
                  <a:lnTo>
                    <a:pt x="10698480" y="0"/>
                  </a:lnTo>
                  <a:lnTo>
                    <a:pt x="10698480" y="3383280"/>
                  </a:lnTo>
                  <a:lnTo>
                    <a:pt x="0" y="338328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632476" y="2274043"/>
            <a:ext cx="3783325" cy="548778"/>
            <a:chOff x="0" y="0"/>
            <a:chExt cx="8503920" cy="398620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503920" cy="3986207"/>
            </a:xfrm>
            <a:custGeom>
              <a:avLst/>
              <a:gdLst/>
              <a:ahLst/>
              <a:cxnLst/>
              <a:rect l="l" t="t" r="r" b="b"/>
              <a:pathLst>
                <a:path w="8503920" h="3986207">
                  <a:moveTo>
                    <a:pt x="0" y="0"/>
                  </a:moveTo>
                  <a:lnTo>
                    <a:pt x="8503920" y="0"/>
                  </a:lnTo>
                  <a:lnTo>
                    <a:pt x="8503920" y="3986207"/>
                  </a:lnTo>
                  <a:lnTo>
                    <a:pt x="0" y="3986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45" b="48109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8503920" cy="39862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89"/>
                </a:lnSpc>
              </a:pPr>
              <a:r>
                <a:rPr lang="en-US" sz="3200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Fragmented Data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AF584BB-DD4E-3917-34CE-D336C2215EB3}"/>
              </a:ext>
            </a:extLst>
          </p:cNvPr>
          <p:cNvGrpSpPr/>
          <p:nvPr/>
        </p:nvGrpSpPr>
        <p:grpSpPr>
          <a:xfrm>
            <a:off x="9655317" y="2302563"/>
            <a:ext cx="678180" cy="714290"/>
            <a:chOff x="9788775" y="2552477"/>
            <a:chExt cx="909705" cy="909705"/>
          </a:xfrm>
        </p:grpSpPr>
        <p:grpSp>
          <p:nvGrpSpPr>
            <p:cNvPr id="30" name="Group 30"/>
            <p:cNvGrpSpPr/>
            <p:nvPr/>
          </p:nvGrpSpPr>
          <p:grpSpPr>
            <a:xfrm>
              <a:off x="9788775" y="2552477"/>
              <a:ext cx="909705" cy="909705"/>
              <a:chOff x="0" y="0"/>
              <a:chExt cx="914400" cy="9144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0006385" y="2767958"/>
              <a:ext cx="474483" cy="394985"/>
              <a:chOff x="0" y="-217049"/>
              <a:chExt cx="768096" cy="109959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17049"/>
                <a:ext cx="768096" cy="9587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139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2072640" y="4507747"/>
            <a:ext cx="6103620" cy="1733009"/>
            <a:chOff x="0" y="0"/>
            <a:chExt cx="10698480" cy="33832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698480" cy="3383280"/>
            </a:xfrm>
            <a:custGeom>
              <a:avLst/>
              <a:gdLst/>
              <a:ahLst/>
              <a:cxnLst/>
              <a:rect l="l" t="t" r="r" b="b"/>
              <a:pathLst>
                <a:path w="10698480" h="3383280">
                  <a:moveTo>
                    <a:pt x="0" y="0"/>
                  </a:moveTo>
                  <a:lnTo>
                    <a:pt x="10698480" y="0"/>
                  </a:lnTo>
                  <a:lnTo>
                    <a:pt x="10698480" y="3383280"/>
                  </a:lnTo>
                  <a:lnTo>
                    <a:pt x="0" y="338328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253414" y="4942257"/>
            <a:ext cx="4306925" cy="776387"/>
            <a:chOff x="0" y="0"/>
            <a:chExt cx="8503920" cy="398620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503920" cy="3986207"/>
            </a:xfrm>
            <a:custGeom>
              <a:avLst/>
              <a:gdLst/>
              <a:ahLst/>
              <a:cxnLst/>
              <a:rect l="l" t="t" r="r" b="b"/>
              <a:pathLst>
                <a:path w="8503920" h="3986207">
                  <a:moveTo>
                    <a:pt x="0" y="0"/>
                  </a:moveTo>
                  <a:lnTo>
                    <a:pt x="8503920" y="0"/>
                  </a:lnTo>
                  <a:lnTo>
                    <a:pt x="8503920" y="3986207"/>
                  </a:lnTo>
                  <a:lnTo>
                    <a:pt x="0" y="3986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45" b="48109"/>
              </a:stretch>
            </a:blipFill>
          </p:spPr>
          <p:txBody>
            <a:bodyPr/>
            <a:lstStyle/>
            <a:p>
              <a:endParaRPr lang="en-US" sz="1200" dirty="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8503920" cy="39862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89"/>
                </a:lnSpc>
              </a:pPr>
              <a:r>
                <a:rPr lang="en-US" sz="3200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Reporting Needed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4ADA161-F817-3693-CBF9-211522B08D1A}"/>
              </a:ext>
            </a:extLst>
          </p:cNvPr>
          <p:cNvGrpSpPr/>
          <p:nvPr/>
        </p:nvGrpSpPr>
        <p:grpSpPr>
          <a:xfrm>
            <a:off x="2332203" y="5050084"/>
            <a:ext cx="678180" cy="714290"/>
            <a:chOff x="1216275" y="5264742"/>
            <a:chExt cx="909705" cy="909705"/>
          </a:xfrm>
        </p:grpSpPr>
        <p:grpSp>
          <p:nvGrpSpPr>
            <p:cNvPr id="41" name="Group 41"/>
            <p:cNvGrpSpPr/>
            <p:nvPr/>
          </p:nvGrpSpPr>
          <p:grpSpPr>
            <a:xfrm>
              <a:off x="1216275" y="5264742"/>
              <a:ext cx="909705" cy="909705"/>
              <a:chOff x="0" y="0"/>
              <a:chExt cx="914400" cy="9144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479052" y="5482936"/>
              <a:ext cx="395219" cy="433331"/>
              <a:chOff x="0" y="-225489"/>
              <a:chExt cx="768096" cy="1108039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225489"/>
                <a:ext cx="768096" cy="95875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139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9356338" y="4527545"/>
            <a:ext cx="6103620" cy="1733009"/>
            <a:chOff x="0" y="0"/>
            <a:chExt cx="10698480" cy="338328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698480" cy="3383280"/>
            </a:xfrm>
            <a:custGeom>
              <a:avLst/>
              <a:gdLst/>
              <a:ahLst/>
              <a:cxnLst/>
              <a:rect l="l" t="t" r="r" b="b"/>
              <a:pathLst>
                <a:path w="10698480" h="3383280">
                  <a:moveTo>
                    <a:pt x="0" y="0"/>
                  </a:moveTo>
                  <a:lnTo>
                    <a:pt x="10698480" y="0"/>
                  </a:lnTo>
                  <a:lnTo>
                    <a:pt x="10698480" y="3383280"/>
                  </a:lnTo>
                  <a:lnTo>
                    <a:pt x="0" y="338328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804674" y="4974246"/>
            <a:ext cx="3483870" cy="719559"/>
            <a:chOff x="0" y="0"/>
            <a:chExt cx="8503920" cy="398620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503920" cy="3986207"/>
            </a:xfrm>
            <a:custGeom>
              <a:avLst/>
              <a:gdLst/>
              <a:ahLst/>
              <a:cxnLst/>
              <a:rect l="l" t="t" r="r" b="b"/>
              <a:pathLst>
                <a:path w="8503920" h="3986207">
                  <a:moveTo>
                    <a:pt x="0" y="0"/>
                  </a:moveTo>
                  <a:lnTo>
                    <a:pt x="8503920" y="0"/>
                  </a:lnTo>
                  <a:lnTo>
                    <a:pt x="8503920" y="3986207"/>
                  </a:lnTo>
                  <a:lnTo>
                    <a:pt x="0" y="3986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45" b="48109"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8503920" cy="39862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89"/>
                </a:lnSpc>
              </a:pPr>
              <a:r>
                <a:rPr lang="en-US" sz="3200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Workflow Issues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E17931E-74DA-86D5-F802-5D2FBF215D53}"/>
              </a:ext>
            </a:extLst>
          </p:cNvPr>
          <p:cNvGrpSpPr/>
          <p:nvPr/>
        </p:nvGrpSpPr>
        <p:grpSpPr>
          <a:xfrm>
            <a:off x="9707637" y="5050084"/>
            <a:ext cx="678180" cy="714290"/>
            <a:chOff x="9788775" y="5284581"/>
            <a:chExt cx="909705" cy="909705"/>
          </a:xfrm>
        </p:grpSpPr>
        <p:grpSp>
          <p:nvGrpSpPr>
            <p:cNvPr id="52" name="Group 52"/>
            <p:cNvGrpSpPr/>
            <p:nvPr/>
          </p:nvGrpSpPr>
          <p:grpSpPr>
            <a:xfrm>
              <a:off x="9788775" y="5284581"/>
              <a:ext cx="909705" cy="909705"/>
              <a:chOff x="0" y="0"/>
              <a:chExt cx="914400" cy="9144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914400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914400">
                    <a:moveTo>
                      <a:pt x="0" y="457200"/>
                    </a:moveTo>
                    <a:cubicBezTo>
                      <a:pt x="0" y="204724"/>
                      <a:pt x="204724" y="0"/>
                      <a:pt x="457200" y="0"/>
                    </a:cubicBezTo>
                    <a:cubicBezTo>
                      <a:pt x="709676" y="0"/>
                      <a:pt x="914400" y="204724"/>
                      <a:pt x="914400" y="457200"/>
                    </a:cubicBezTo>
                    <a:cubicBezTo>
                      <a:pt x="914400" y="709676"/>
                      <a:pt x="709676" y="914400"/>
                      <a:pt x="457200" y="914400"/>
                    </a:cubicBezTo>
                    <a:cubicBezTo>
                      <a:pt x="204724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1E2761"/>
              </a:solidFill>
            </p:spPr>
            <p:txBody>
              <a:bodyPr/>
              <a:lstStyle/>
              <a:p>
                <a:endParaRPr lang="en-US" sz="1200"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0044484" y="5532137"/>
              <a:ext cx="398283" cy="384130"/>
              <a:chOff x="0" y="-291378"/>
              <a:chExt cx="768096" cy="117392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768096" cy="882550"/>
              </a:xfrm>
              <a:custGeom>
                <a:avLst/>
                <a:gdLst/>
                <a:ahLst/>
                <a:cxnLst/>
                <a:rect l="l" t="t" r="r" b="b"/>
                <a:pathLst>
                  <a:path w="768096" h="882550">
                    <a:moveTo>
                      <a:pt x="0" y="0"/>
                    </a:moveTo>
                    <a:lnTo>
                      <a:pt x="768096" y="0"/>
                    </a:lnTo>
                    <a:lnTo>
                      <a:pt x="768096" y="882550"/>
                    </a:lnTo>
                    <a:lnTo>
                      <a:pt x="0" y="8825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r="-78303" b="12968"/>
                </a:stretch>
              </a:blip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291378"/>
                <a:ext cx="768096" cy="95875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139"/>
                  </a:lnSpc>
                </a:pPr>
                <a:r>
                  <a:rPr lang="en-US" sz="2400" b="1" dirty="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76072"/>
            <a:ext cx="1371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166375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1: AI-Based Image Analysis (Continue Our Original Project)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728216"/>
            <a:ext cx="166375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with our current AI models: raw ophthalmic images (Fundus, OCT, Corneal, etc.) are analyzed directly to generate disease predictions, and the doctor verifies the AI output before finalizing the diagnosis.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18845" y="3561146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887425" y="3561146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Device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14061" y="3561146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43245" y="3561146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0" name="Text 8"/>
          <p:cNvSpPr/>
          <p:nvPr/>
        </p:nvSpPr>
        <p:spPr>
          <a:xfrm>
            <a:off x="3311825" y="3561146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 (JPG/DICOM)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8463" y="3561146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667647" y="3561146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3" name="Text 11"/>
          <p:cNvSpPr/>
          <p:nvPr/>
        </p:nvSpPr>
        <p:spPr>
          <a:xfrm>
            <a:off x="5736227" y="3561146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AFIO ScanAI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62863" y="3561146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092048" y="3561146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6" name="Text 14"/>
          <p:cNvSpPr/>
          <p:nvPr/>
        </p:nvSpPr>
        <p:spPr>
          <a:xfrm>
            <a:off x="8228870" y="3595116"/>
            <a:ext cx="18215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+ Grad-CAM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187264" y="3561146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0516448" y="3561146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9" name="Text 17"/>
          <p:cNvSpPr/>
          <p:nvPr/>
        </p:nvSpPr>
        <p:spPr>
          <a:xfrm>
            <a:off x="10585028" y="3561146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611666" y="3561146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2940850" y="3561146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2" name="Text 20"/>
          <p:cNvSpPr/>
          <p:nvPr/>
        </p:nvSpPr>
        <p:spPr>
          <a:xfrm>
            <a:off x="13009430" y="3561146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Validation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036066" y="3561146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5365251" y="3561146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5" name="Text 23"/>
          <p:cNvSpPr/>
          <p:nvPr/>
        </p:nvSpPr>
        <p:spPr>
          <a:xfrm>
            <a:off x="15433831" y="3561146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Database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22960" y="5295900"/>
            <a:ext cx="5272887" cy="459486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7" name="Text 25"/>
          <p:cNvSpPr/>
          <p:nvPr/>
        </p:nvSpPr>
        <p:spPr>
          <a:xfrm>
            <a:off x="1152144" y="5570220"/>
            <a:ext cx="46145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152144" y="6334531"/>
            <a:ext cx="4614519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work already completed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manufacturer software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different hospitals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via Grad-CAM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easily to smartphone cameras &amp; teleophthalmology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07327" y="5295900"/>
            <a:ext cx="5272887" cy="4594860"/>
          </a:xfrm>
          <a:prstGeom prst="roundRect">
            <a:avLst>
              <a:gd name="adj" fmla="val 238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0" name="Text 28"/>
          <p:cNvSpPr/>
          <p:nvPr/>
        </p:nvSpPr>
        <p:spPr>
          <a:xfrm>
            <a:off x="6836511" y="5570220"/>
            <a:ext cx="46145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36511" y="6334531"/>
            <a:ext cx="4614519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on image quality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require retraining on AFIO images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may differ from manufacturer reports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2191696" y="5295900"/>
            <a:ext cx="5272887" cy="459486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3" name="Text 31"/>
          <p:cNvSpPr/>
          <p:nvPr/>
        </p:nvSpPr>
        <p:spPr>
          <a:xfrm>
            <a:off x="12520880" y="5570220"/>
            <a:ext cx="46145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2543085" y="6295644"/>
            <a:ext cx="4614519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→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 JPG/DICOM images from AFIO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→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validation, with fine-tuning if needed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76072"/>
            <a:ext cx="1371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166375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2: AI-Assisted Clinical Reporting (Use Machine Results)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728216"/>
            <a:ext cx="166375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diagnostic machines to perform the medical analysis. AI interprets the machine-generated findings into structured, clinician-friendly reports — acting as a clinical assistant, not the primary diagnostician.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18845" y="3512820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976665" y="3512820"/>
            <a:ext cx="17795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Machine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14061" y="3512820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43245" y="3512820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0" name="Text 8"/>
          <p:cNvSpPr/>
          <p:nvPr/>
        </p:nvSpPr>
        <p:spPr>
          <a:xfrm>
            <a:off x="3311825" y="3512820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Report / DICOM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8463" y="3512820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667647" y="3512820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3" name="Text 11"/>
          <p:cNvSpPr/>
          <p:nvPr/>
        </p:nvSpPr>
        <p:spPr>
          <a:xfrm>
            <a:off x="5736227" y="3512820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AFIO ScanAI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62863" y="3512820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092048" y="3512820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6" name="Text 14"/>
          <p:cNvSpPr/>
          <p:nvPr/>
        </p:nvSpPr>
        <p:spPr>
          <a:xfrm>
            <a:off x="8160628" y="3512820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Interpretation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187264" y="3512820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0516448" y="3512820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9" name="Text 17"/>
          <p:cNvSpPr/>
          <p:nvPr/>
        </p:nvSpPr>
        <p:spPr>
          <a:xfrm>
            <a:off x="10585028" y="3512820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Risk Stratification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611666" y="3512820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2940850" y="3512820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2" name="Text 20"/>
          <p:cNvSpPr/>
          <p:nvPr/>
        </p:nvSpPr>
        <p:spPr>
          <a:xfrm>
            <a:off x="13009430" y="3512820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Report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036066" y="3512820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5365251" y="3512820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5" name="Text 23"/>
          <p:cNvSpPr/>
          <p:nvPr/>
        </p:nvSpPr>
        <p:spPr>
          <a:xfrm>
            <a:off x="15433831" y="3512820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Database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22960" y="5295900"/>
            <a:ext cx="8046492" cy="459486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7" name="Text 25"/>
          <p:cNvSpPr/>
          <p:nvPr/>
        </p:nvSpPr>
        <p:spPr>
          <a:xfrm>
            <a:off x="1152144" y="5570220"/>
            <a:ext cx="73881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152144" y="6501187"/>
            <a:ext cx="7388124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clinical reliability</a:t>
            </a:r>
            <a:endParaRPr lang="en-US" sz="24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closely with current AFIO workflow</a:t>
            </a:r>
            <a:endParaRPr lang="en-US" sz="24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</a:t>
            </a:r>
            <a:endParaRPr lang="en-US" sz="24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dependence on AI accuracy</a:t>
            </a:r>
            <a:endParaRPr lang="en-US" sz="24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acceptance by clinicians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418092" y="5295900"/>
            <a:ext cx="8046492" cy="4594860"/>
          </a:xfrm>
          <a:prstGeom prst="roundRect">
            <a:avLst>
              <a:gd name="adj" fmla="val 238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0" name="Text 28"/>
          <p:cNvSpPr/>
          <p:nvPr/>
        </p:nvSpPr>
        <p:spPr>
          <a:xfrm>
            <a:off x="9747276" y="5570220"/>
            <a:ext cx="73881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747276" y="6338316"/>
            <a:ext cx="7388124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access to DICOM or machine-generated data</a:t>
            </a:r>
            <a:endParaRPr lang="en-US" sz="24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depends on manufacturer outputs</a:t>
            </a:r>
            <a:endParaRPr lang="en-US" sz="24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emphasis on independent disease detection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DC586E-7D8C-464B-29FC-E75FD9358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82674" y="-1190920"/>
            <a:ext cx="10122651" cy="126688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5929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76072"/>
            <a:ext cx="1371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OPTION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166375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3: Hybrid Intelligent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728216"/>
            <a:ext cx="166375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approaches: the diagnostic machine performs its analysis while our AI independently analyzes the raw image, and the system merges both into one unified clinician report.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0502" y="2888545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45884" y="3637395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1044765" y="3637395"/>
            <a:ext cx="169745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Device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41100" y="3637395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70284" y="3637395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0" name="Text 8"/>
          <p:cNvSpPr/>
          <p:nvPr/>
        </p:nvSpPr>
        <p:spPr>
          <a:xfrm>
            <a:off x="3338864" y="3637395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Analysis + Raw Image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65502" y="3637395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694686" y="3637395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3" name="Text 11"/>
          <p:cNvSpPr/>
          <p:nvPr/>
        </p:nvSpPr>
        <p:spPr>
          <a:xfrm>
            <a:off x="5763266" y="3637395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AFIO ScanAI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89902" y="3637395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119087" y="3637395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6" name="Text 14"/>
          <p:cNvSpPr/>
          <p:nvPr/>
        </p:nvSpPr>
        <p:spPr>
          <a:xfrm>
            <a:off x="8187667" y="3637395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 + Machine Findings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214303" y="3637395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0543487" y="3637395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9" name="Text 17"/>
          <p:cNvSpPr/>
          <p:nvPr/>
        </p:nvSpPr>
        <p:spPr>
          <a:xfrm>
            <a:off x="10612067" y="3637395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Clinical Report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638705" y="3637395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2967889" y="3637395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2" name="Text 20"/>
          <p:cNvSpPr/>
          <p:nvPr/>
        </p:nvSpPr>
        <p:spPr>
          <a:xfrm>
            <a:off x="13036469" y="3637395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063105" y="3637395"/>
            <a:ext cx="329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5392290" y="3637395"/>
            <a:ext cx="2095217" cy="109728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5" name="Text 23"/>
          <p:cNvSpPr/>
          <p:nvPr/>
        </p:nvSpPr>
        <p:spPr>
          <a:xfrm>
            <a:off x="15460870" y="3637395"/>
            <a:ext cx="19580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Database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22960" y="5600700"/>
            <a:ext cx="8046492" cy="413766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27" name="Text 25"/>
          <p:cNvSpPr/>
          <p:nvPr/>
        </p:nvSpPr>
        <p:spPr>
          <a:xfrm>
            <a:off x="1152144" y="5829300"/>
            <a:ext cx="73881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152144" y="6496812"/>
            <a:ext cx="7388124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machine analysis &amp; AI strengths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 of machine findings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explainability and richer reports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manual and evolve into full DICOM integration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scalable, future-proof solution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418092" y="5600700"/>
            <a:ext cx="8046492" cy="4137660"/>
          </a:xfrm>
          <a:prstGeom prst="roundRect">
            <a:avLst>
              <a:gd name="adj" fmla="val 2388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0" name="Text 28"/>
          <p:cNvSpPr/>
          <p:nvPr/>
        </p:nvSpPr>
        <p:spPr>
          <a:xfrm>
            <a:off x="9747276" y="5798550"/>
            <a:ext cx="73881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767493" y="6450060"/>
            <a:ext cx="7388124" cy="341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implementation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synchronization between images and machine reports</a:t>
            </a:r>
            <a:endParaRPr lang="en-US" sz="2000" dirty="0"/>
          </a:p>
          <a:p>
            <a:pPr marL="304800" indent="-304800">
              <a:lnSpc>
                <a:spcPct val="108000"/>
              </a:lnSpc>
              <a:spcAft>
                <a:spcPts val="1350"/>
              </a:spcAft>
              <a:buSzPct val="100000"/>
              <a:buChar char="●"/>
            </a:pPr>
            <a:r>
              <a:rPr lang="en-US" sz="2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local validation before deployment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76072"/>
            <a:ext cx="1371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166375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Three Approaches</a:t>
            </a:r>
            <a:endParaRPr lang="en-US" sz="4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739623"/>
              </p:ext>
            </p:extLst>
          </p:nvPr>
        </p:nvGraphicFramePr>
        <p:xfrm>
          <a:off x="822960" y="1929679"/>
          <a:ext cx="16640253" cy="7780020"/>
        </p:xfrm>
        <a:graphic>
          <a:graphicData uri="http://schemas.openxmlformats.org/drawingml/2006/table">
            <a:tbl>
              <a:tblPr/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6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6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65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8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1</a:t>
                      </a:r>
                      <a:endParaRPr lang="en-US" sz="28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8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Image Analysis</a:t>
                      </a:r>
                      <a:endParaRPr lang="en-US" sz="28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2</a:t>
                      </a:r>
                      <a:endParaRPr lang="en-US" sz="28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800" b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Clinical Reporting</a:t>
                      </a:r>
                      <a:endParaRPr lang="en-US" sz="28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3</a:t>
                      </a:r>
                      <a:endParaRPr lang="en-US" sz="28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28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Platform </a:t>
                      </a:r>
                      <a:endParaRPr lang="en-US" sz="28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analyzes raw images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machine-generated reports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disease detection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explains machine findings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 with existing workflow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retraining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Possibly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DICOM integration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Memory Bank &amp; Database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5A61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24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165952"/>
            <a:ext cx="13716000" cy="1825795"/>
            <a:chOff x="0" y="0"/>
            <a:chExt cx="18288000" cy="24343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2434393"/>
            </a:xfrm>
            <a:custGeom>
              <a:avLst/>
              <a:gdLst/>
              <a:ahLst/>
              <a:cxnLst/>
              <a:rect l="l" t="t" r="r" b="b"/>
              <a:pathLst>
                <a:path w="18288000" h="2434393">
                  <a:moveTo>
                    <a:pt x="0" y="0"/>
                  </a:moveTo>
                  <a:lnTo>
                    <a:pt x="18288000" y="0"/>
                  </a:lnTo>
                  <a:lnTo>
                    <a:pt x="18288000" y="2434393"/>
                  </a:lnTo>
                  <a:lnTo>
                    <a:pt x="0" y="24343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3231" b="-595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8288000" cy="2443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 spc="416">
                  <a:solidFill>
                    <a:srgbClr val="D9A4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STAKEHOLDER VALUE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080044"/>
            <a:ext cx="16596360" cy="1234440"/>
            <a:chOff x="0" y="0"/>
            <a:chExt cx="22128480" cy="1645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1645920"/>
            </a:xfrm>
            <a:custGeom>
              <a:avLst/>
              <a:gdLst/>
              <a:ahLst/>
              <a:cxnLst/>
              <a:rect l="l" t="t" r="r" b="b"/>
              <a:pathLst>
                <a:path w="22128480" h="164592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1965" b="-2119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212848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This Solution Fits AFIO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743200"/>
            <a:ext cx="3977640" cy="6035040"/>
            <a:chOff x="0" y="0"/>
            <a:chExt cx="5303520" cy="80467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03520" cy="8046720"/>
            </a:xfrm>
            <a:custGeom>
              <a:avLst/>
              <a:gdLst/>
              <a:ahLst/>
              <a:cxnLst/>
              <a:rect l="l" t="t" r="r" b="b"/>
              <a:pathLst>
                <a:path w="5303520" h="8046720">
                  <a:moveTo>
                    <a:pt x="0" y="0"/>
                  </a:moveTo>
                  <a:lnTo>
                    <a:pt x="5303520" y="0"/>
                  </a:lnTo>
                  <a:lnTo>
                    <a:pt x="530352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7F8F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5860" y="2933465"/>
            <a:ext cx="685800" cy="685800"/>
            <a:chOff x="0" y="0"/>
            <a:chExt cx="914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5860" y="2313289"/>
            <a:ext cx="685800" cy="1903021"/>
            <a:chOff x="0" y="0"/>
            <a:chExt cx="914400" cy="25373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2537361"/>
            </a:xfrm>
            <a:custGeom>
              <a:avLst/>
              <a:gdLst/>
              <a:ahLst/>
              <a:cxnLst/>
              <a:rect l="l" t="t" r="r" b="b"/>
              <a:pathLst>
                <a:path w="914400" h="2537361">
                  <a:moveTo>
                    <a:pt x="0" y="0"/>
                  </a:moveTo>
                  <a:lnTo>
                    <a:pt x="914400" y="0"/>
                  </a:lnTo>
                  <a:lnTo>
                    <a:pt x="914400" y="2537361"/>
                  </a:lnTo>
                  <a:lnTo>
                    <a:pt x="0" y="25373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 b="639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914400" cy="2556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23110" y="2240830"/>
            <a:ext cx="3291840" cy="2047939"/>
            <a:chOff x="0" y="0"/>
            <a:chExt cx="4389120" cy="273058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89120" cy="2730586"/>
            </a:xfrm>
            <a:custGeom>
              <a:avLst/>
              <a:gdLst/>
              <a:ahLst/>
              <a:cxnLst/>
              <a:rect l="l" t="t" r="r" b="b"/>
              <a:pathLst>
                <a:path w="4389120" h="2730586">
                  <a:moveTo>
                    <a:pt x="0" y="0"/>
                  </a:moveTo>
                  <a:lnTo>
                    <a:pt x="4389120" y="0"/>
                  </a:lnTo>
                  <a:lnTo>
                    <a:pt x="4389120" y="2730586"/>
                  </a:lnTo>
                  <a:lnTo>
                    <a:pt x="0" y="273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50" b="536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389120" cy="2740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Technicians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5860" y="3188970"/>
            <a:ext cx="3291840" cy="3909060"/>
            <a:chOff x="0" y="0"/>
            <a:chExt cx="4389120" cy="52120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89120" cy="5212080"/>
            </a:xfrm>
            <a:custGeom>
              <a:avLst/>
              <a:gdLst/>
              <a:ahLst/>
              <a:cxnLst/>
              <a:rect l="l" t="t" r="r" b="b"/>
              <a:pathLst>
                <a:path w="4389120" h="5212080">
                  <a:moveTo>
                    <a:pt x="0" y="0"/>
                  </a:moveTo>
                  <a:lnTo>
                    <a:pt x="4389120" y="0"/>
                  </a:lnTo>
                  <a:lnTo>
                    <a:pt x="4389120" y="5212080"/>
                  </a:lnTo>
                  <a:lnTo>
                    <a:pt x="0" y="5212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360" r="-1023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4389120" cy="5278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171D47"/>
                  </a:solidFill>
                  <a:latin typeface="Cambria"/>
                  <a:ea typeface="Cambria"/>
                  <a:cs typeface="Cambria"/>
                  <a:sym typeface="Cambria"/>
                </a:rPr>
                <a:t>No repeated documentation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171D47"/>
                  </a:solidFill>
                  <a:latin typeface="Cambria"/>
                  <a:ea typeface="Cambria"/>
                  <a:cs typeface="Cambria"/>
                  <a:sym typeface="Cambria"/>
                </a:rPr>
                <a:t>Faster report generation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43500" y="2743200"/>
            <a:ext cx="3977640" cy="6035040"/>
            <a:chOff x="0" y="0"/>
            <a:chExt cx="5303520" cy="8046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03520" cy="8046720"/>
            </a:xfrm>
            <a:custGeom>
              <a:avLst/>
              <a:gdLst/>
              <a:ahLst/>
              <a:cxnLst/>
              <a:rect l="l" t="t" r="r" b="b"/>
              <a:pathLst>
                <a:path w="5303520" h="8046720">
                  <a:moveTo>
                    <a:pt x="0" y="0"/>
                  </a:moveTo>
                  <a:lnTo>
                    <a:pt x="5303520" y="0"/>
                  </a:lnTo>
                  <a:lnTo>
                    <a:pt x="530352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7F8F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486400" y="2933465"/>
            <a:ext cx="685800" cy="685800"/>
            <a:chOff x="0" y="0"/>
            <a:chExt cx="9144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486400" y="2324855"/>
            <a:ext cx="685800" cy="1903021"/>
            <a:chOff x="0" y="0"/>
            <a:chExt cx="914400" cy="25373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" cy="2537361"/>
            </a:xfrm>
            <a:custGeom>
              <a:avLst/>
              <a:gdLst/>
              <a:ahLst/>
              <a:cxnLst/>
              <a:rect l="l" t="t" r="r" b="b"/>
              <a:pathLst>
                <a:path w="914400" h="2537361">
                  <a:moveTo>
                    <a:pt x="0" y="0"/>
                  </a:moveTo>
                  <a:lnTo>
                    <a:pt x="914400" y="0"/>
                  </a:lnTo>
                  <a:lnTo>
                    <a:pt x="914400" y="2537361"/>
                  </a:lnTo>
                  <a:lnTo>
                    <a:pt x="0" y="25373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 b="639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914400" cy="2556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29375" y="2179936"/>
            <a:ext cx="3291840" cy="2047939"/>
            <a:chOff x="0" y="0"/>
            <a:chExt cx="4389120" cy="273058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389120" cy="2730586"/>
            </a:xfrm>
            <a:custGeom>
              <a:avLst/>
              <a:gdLst/>
              <a:ahLst/>
              <a:cxnLst/>
              <a:rect l="l" t="t" r="r" b="b"/>
              <a:pathLst>
                <a:path w="4389120" h="2730586">
                  <a:moveTo>
                    <a:pt x="0" y="0"/>
                  </a:moveTo>
                  <a:lnTo>
                    <a:pt x="4389120" y="0"/>
                  </a:lnTo>
                  <a:lnTo>
                    <a:pt x="4389120" y="2730586"/>
                  </a:lnTo>
                  <a:lnTo>
                    <a:pt x="0" y="273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50" b="536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4389120" cy="2740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dirty="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Clinicians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86400" y="3459895"/>
            <a:ext cx="3291840" cy="4148880"/>
            <a:chOff x="0" y="0"/>
            <a:chExt cx="4389120" cy="55318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389120" cy="5531840"/>
            </a:xfrm>
            <a:custGeom>
              <a:avLst/>
              <a:gdLst/>
              <a:ahLst/>
              <a:cxnLst/>
              <a:rect l="l" t="t" r="r" b="b"/>
              <a:pathLst>
                <a:path w="4389120" h="5531840">
                  <a:moveTo>
                    <a:pt x="0" y="0"/>
                  </a:moveTo>
                  <a:lnTo>
                    <a:pt x="4389120" y="0"/>
                  </a:lnTo>
                  <a:lnTo>
                    <a:pt x="4389120" y="5531840"/>
                  </a:lnTo>
                  <a:lnTo>
                    <a:pt x="0" y="553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360" r="-102360" b="57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4389120" cy="5598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171D47"/>
                  </a:solidFill>
                  <a:latin typeface="Cambria"/>
                  <a:ea typeface="Cambria"/>
                  <a:cs typeface="Cambria"/>
                  <a:sym typeface="Cambria"/>
                </a:rPr>
                <a:t>AI-assisted interpretation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171D47"/>
                  </a:solidFill>
                  <a:latin typeface="Cambria"/>
                  <a:ea typeface="Cambria"/>
                  <a:cs typeface="Cambria"/>
                  <a:sym typeface="Cambria"/>
                </a:rPr>
                <a:t>Standardized reporting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171D47"/>
                  </a:solidFill>
                  <a:latin typeface="Cambria"/>
                  <a:ea typeface="Cambria"/>
                  <a:cs typeface="Cambria"/>
                  <a:sym typeface="Cambria"/>
                </a:rPr>
                <a:t>Faster decision support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64040" y="2743200"/>
            <a:ext cx="3977640" cy="6035040"/>
            <a:chOff x="0" y="0"/>
            <a:chExt cx="5303520" cy="80467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03520" cy="8046720"/>
            </a:xfrm>
            <a:custGeom>
              <a:avLst/>
              <a:gdLst/>
              <a:ahLst/>
              <a:cxnLst/>
              <a:rect l="l" t="t" r="r" b="b"/>
              <a:pathLst>
                <a:path w="5303520" h="8046720">
                  <a:moveTo>
                    <a:pt x="0" y="0"/>
                  </a:moveTo>
                  <a:lnTo>
                    <a:pt x="5303520" y="0"/>
                  </a:lnTo>
                  <a:lnTo>
                    <a:pt x="530352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7F8F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806940" y="2933465"/>
            <a:ext cx="685800" cy="685800"/>
            <a:chOff x="0" y="0"/>
            <a:chExt cx="914400" cy="914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806940" y="2324855"/>
            <a:ext cx="685800" cy="1903021"/>
            <a:chOff x="0" y="0"/>
            <a:chExt cx="914400" cy="253736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2537361"/>
            </a:xfrm>
            <a:custGeom>
              <a:avLst/>
              <a:gdLst/>
              <a:ahLst/>
              <a:cxnLst/>
              <a:rect l="l" t="t" r="r" b="b"/>
              <a:pathLst>
                <a:path w="914400" h="2537361">
                  <a:moveTo>
                    <a:pt x="0" y="0"/>
                  </a:moveTo>
                  <a:lnTo>
                    <a:pt x="914400" y="0"/>
                  </a:lnTo>
                  <a:lnTo>
                    <a:pt x="914400" y="2537361"/>
                  </a:lnTo>
                  <a:lnTo>
                    <a:pt x="0" y="25373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 b="639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914400" cy="2556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749915" y="2240830"/>
            <a:ext cx="3291840" cy="2047939"/>
            <a:chOff x="0" y="0"/>
            <a:chExt cx="4389120" cy="27305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389120" cy="2730586"/>
            </a:xfrm>
            <a:custGeom>
              <a:avLst/>
              <a:gdLst/>
              <a:ahLst/>
              <a:cxnLst/>
              <a:rect l="l" t="t" r="r" b="b"/>
              <a:pathLst>
                <a:path w="4389120" h="2730586">
                  <a:moveTo>
                    <a:pt x="0" y="0"/>
                  </a:moveTo>
                  <a:lnTo>
                    <a:pt x="4389120" y="0"/>
                  </a:lnTo>
                  <a:lnTo>
                    <a:pt x="4389120" y="2730586"/>
                  </a:lnTo>
                  <a:lnTo>
                    <a:pt x="0" y="273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50" b="536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389120" cy="2740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Specialists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806940" y="3459895"/>
            <a:ext cx="3291840" cy="4148880"/>
            <a:chOff x="0" y="0"/>
            <a:chExt cx="4389120" cy="55318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89120" cy="5531840"/>
            </a:xfrm>
            <a:custGeom>
              <a:avLst/>
              <a:gdLst/>
              <a:ahLst/>
              <a:cxnLst/>
              <a:rect l="l" t="t" r="r" b="b"/>
              <a:pathLst>
                <a:path w="4389120" h="5531840">
                  <a:moveTo>
                    <a:pt x="0" y="0"/>
                  </a:moveTo>
                  <a:lnTo>
                    <a:pt x="4389120" y="0"/>
                  </a:lnTo>
                  <a:lnTo>
                    <a:pt x="4389120" y="5531840"/>
                  </a:lnTo>
                  <a:lnTo>
                    <a:pt x="0" y="553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360" r="-102360" b="57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4389120" cy="5598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171D47"/>
                  </a:solidFill>
                  <a:latin typeface="Cambria"/>
                  <a:ea typeface="Cambria"/>
                  <a:cs typeface="Cambria"/>
                  <a:sym typeface="Cambria"/>
                </a:rPr>
                <a:t>Complete patient history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171D47"/>
                  </a:solidFill>
                  <a:latin typeface="Cambria"/>
                  <a:ea typeface="Cambria"/>
                  <a:cs typeface="Cambria"/>
                  <a:sym typeface="Cambria"/>
                </a:rPr>
                <a:t>Previous scans available instantly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171D47"/>
                  </a:solidFill>
                  <a:latin typeface="Cambria"/>
                  <a:ea typeface="Cambria"/>
                  <a:cs typeface="Cambria"/>
                  <a:sym typeface="Cambria"/>
                </a:rPr>
                <a:t>Unified report across modalities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800624" y="2743200"/>
            <a:ext cx="4182576" cy="6035040"/>
            <a:chOff x="0" y="0"/>
            <a:chExt cx="5576768" cy="80467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576769" cy="8046720"/>
            </a:xfrm>
            <a:custGeom>
              <a:avLst/>
              <a:gdLst/>
              <a:ahLst/>
              <a:cxnLst/>
              <a:rect l="l" t="t" r="r" b="b"/>
              <a:pathLst>
                <a:path w="5576769" h="8046720">
                  <a:moveTo>
                    <a:pt x="0" y="0"/>
                  </a:moveTo>
                  <a:lnTo>
                    <a:pt x="5576769" y="0"/>
                  </a:lnTo>
                  <a:lnTo>
                    <a:pt x="5576769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E276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127480" y="2933465"/>
            <a:ext cx="685800" cy="685800"/>
            <a:chOff x="0" y="0"/>
            <a:chExt cx="914400" cy="914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9A44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127480" y="2324855"/>
            <a:ext cx="685800" cy="1903021"/>
            <a:chOff x="0" y="0"/>
            <a:chExt cx="914400" cy="253736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4400" cy="2537361"/>
            </a:xfrm>
            <a:custGeom>
              <a:avLst/>
              <a:gdLst/>
              <a:ahLst/>
              <a:cxnLst/>
              <a:rect l="l" t="t" r="r" b="b"/>
              <a:pathLst>
                <a:path w="914400" h="2537361">
                  <a:moveTo>
                    <a:pt x="0" y="0"/>
                  </a:moveTo>
                  <a:lnTo>
                    <a:pt x="914400" y="0"/>
                  </a:lnTo>
                  <a:lnTo>
                    <a:pt x="914400" y="2537361"/>
                  </a:lnTo>
                  <a:lnTo>
                    <a:pt x="0" y="25373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 b="639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914400" cy="2556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899005" y="2252395"/>
            <a:ext cx="3291840" cy="2047939"/>
            <a:chOff x="0" y="0"/>
            <a:chExt cx="4389120" cy="273058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89120" cy="2730586"/>
            </a:xfrm>
            <a:custGeom>
              <a:avLst/>
              <a:gdLst/>
              <a:ahLst/>
              <a:cxnLst/>
              <a:rect l="l" t="t" r="r" b="b"/>
              <a:pathLst>
                <a:path w="4389120" h="2730586">
                  <a:moveTo>
                    <a:pt x="0" y="0"/>
                  </a:moveTo>
                  <a:lnTo>
                    <a:pt x="4389120" y="0"/>
                  </a:lnTo>
                  <a:lnTo>
                    <a:pt x="4389120" y="2730586"/>
                  </a:lnTo>
                  <a:lnTo>
                    <a:pt x="0" y="273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50" b="536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389120" cy="2740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AFIO (Institution)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127480" y="3459895"/>
            <a:ext cx="3291840" cy="5063280"/>
            <a:chOff x="0" y="0"/>
            <a:chExt cx="4389120" cy="67510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389120" cy="6751040"/>
            </a:xfrm>
            <a:custGeom>
              <a:avLst/>
              <a:gdLst/>
              <a:ahLst/>
              <a:cxnLst/>
              <a:rect l="l" t="t" r="r" b="b"/>
              <a:pathLst>
                <a:path w="4389120" h="6751040">
                  <a:moveTo>
                    <a:pt x="0" y="0"/>
                  </a:moveTo>
                  <a:lnTo>
                    <a:pt x="4389120" y="0"/>
                  </a:lnTo>
                  <a:lnTo>
                    <a:pt x="4389120" y="6751040"/>
                  </a:lnTo>
                  <a:lnTo>
                    <a:pt x="0" y="6751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360" r="-102360" b="227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66675"/>
              <a:ext cx="4389120" cy="6817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Digital Memory Bank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Centralized database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Image integration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Future teleophthalmology</a:t>
              </a:r>
            </a:p>
            <a:p>
              <a:pPr marL="461482" lvl="1" indent="-230741" algn="l">
                <a:lnSpc>
                  <a:spcPts val="3671"/>
                </a:lnSpc>
                <a:buFont typeface="Arial"/>
                <a:buChar char="•"/>
              </a:pPr>
              <a:r>
                <a:rPr lang="en-US" sz="2549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Scalable AI platform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7282160" y="9669780"/>
            <a:ext cx="822960" cy="1101198"/>
            <a:chOff x="0" y="0"/>
            <a:chExt cx="1097280" cy="14682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97280" cy="1468264"/>
            </a:xfrm>
            <a:custGeom>
              <a:avLst/>
              <a:gdLst/>
              <a:ahLst/>
              <a:cxnLst/>
              <a:rect l="l" t="t" r="r" b="b"/>
              <a:pathLst>
                <a:path w="1097280" h="1468264">
                  <a:moveTo>
                    <a:pt x="0" y="0"/>
                  </a:moveTo>
                  <a:lnTo>
                    <a:pt x="1097280" y="0"/>
                  </a:lnTo>
                  <a:lnTo>
                    <a:pt x="1097280" y="1468264"/>
                  </a:lnTo>
                  <a:lnTo>
                    <a:pt x="0" y="1468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 b="6263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1097280" cy="1477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9AEC2"/>
                  </a:solidFill>
                  <a:latin typeface="Cambria"/>
                  <a:ea typeface="Cambria"/>
                  <a:cs typeface="Cambria"/>
                  <a:sym typeface="Cambria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AFIO SCANAI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987552"/>
            <a:ext cx="166375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Components for All Solutions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66375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the implementation strategy, every proposed solution includes the following core components.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66548" y="2625901"/>
            <a:ext cx="6535521" cy="3429000"/>
          </a:xfrm>
          <a:prstGeom prst="roundRect">
            <a:avLst>
              <a:gd name="adj" fmla="val 36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341988" y="2764487"/>
            <a:ext cx="648667" cy="466344"/>
          </a:xfrm>
          <a:prstGeom prst="roundRect">
            <a:avLst>
              <a:gd name="adj" fmla="val 17647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2318203" y="2768174"/>
            <a:ext cx="648667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2966" y="2764487"/>
            <a:ext cx="44161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Clinical Dashboard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08259" y="3512722"/>
            <a:ext cx="5668438" cy="246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Dashboard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Dashboard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81652" y="2578608"/>
            <a:ext cx="6535521" cy="3429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1" name="Shape 9"/>
          <p:cNvSpPr/>
          <p:nvPr/>
        </p:nvSpPr>
        <p:spPr>
          <a:xfrm>
            <a:off x="9583404" y="2825496"/>
            <a:ext cx="685800" cy="466344"/>
          </a:xfrm>
          <a:prstGeom prst="roundRect">
            <a:avLst>
              <a:gd name="adj" fmla="val 17647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2" name="Text 10"/>
          <p:cNvSpPr/>
          <p:nvPr/>
        </p:nvSpPr>
        <p:spPr>
          <a:xfrm>
            <a:off x="9583404" y="2825496"/>
            <a:ext cx="685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543917" y="2825496"/>
            <a:ext cx="4668927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 Management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082886" y="6336792"/>
            <a:ext cx="6519184" cy="3429000"/>
          </a:xfrm>
          <a:prstGeom prst="roundRect">
            <a:avLst>
              <a:gd name="adj" fmla="val 3600"/>
            </a:avLst>
          </a:prstGeom>
          <a:solidFill>
            <a:srgbClr val="F7F8FC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6" name="Shape 14"/>
          <p:cNvSpPr/>
          <p:nvPr/>
        </p:nvSpPr>
        <p:spPr>
          <a:xfrm>
            <a:off x="2373727" y="6623402"/>
            <a:ext cx="685800" cy="466344"/>
          </a:xfrm>
          <a:prstGeom prst="roundRect">
            <a:avLst>
              <a:gd name="adj" fmla="val 17647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17" name="Text 15"/>
          <p:cNvSpPr/>
          <p:nvPr/>
        </p:nvSpPr>
        <p:spPr>
          <a:xfrm>
            <a:off x="2373727" y="6623402"/>
            <a:ext cx="685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02966" y="6589874"/>
            <a:ext cx="4668927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Reporting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08259" y="7309300"/>
            <a:ext cx="5802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Disease Prediction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Clinical Summary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/ Explainable AI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Verification before Finalization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733669" y="3483864"/>
            <a:ext cx="4668927" cy="2290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Database</a:t>
            </a:r>
            <a:endParaRPr lang="en-US" sz="2400" dirty="0">
              <a:solidFill>
                <a:srgbClr val="CADCFC"/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Repository</a:t>
            </a:r>
            <a:endParaRPr lang="en-US" sz="2400" dirty="0">
              <a:solidFill>
                <a:srgbClr val="CADCFC"/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Archive</a:t>
            </a:r>
            <a:endParaRPr lang="en-US" sz="2400" dirty="0">
              <a:solidFill>
                <a:srgbClr val="CADCFC"/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2400" dirty="0">
              <a:solidFill>
                <a:srgbClr val="CADCFC"/>
              </a:solidFill>
            </a:endParaRPr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2400" dirty="0">
              <a:solidFill>
                <a:srgbClr val="CADCFC"/>
              </a:solidFill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SzPct val="100000"/>
            </a:pPr>
            <a:endParaRPr lang="en-US" sz="2400" dirty="0">
              <a:solidFill>
                <a:srgbClr val="CADCFC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296400" y="6281928"/>
            <a:ext cx="6520773" cy="3429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1" name="Shape 29"/>
          <p:cNvSpPr/>
          <p:nvPr/>
        </p:nvSpPr>
        <p:spPr>
          <a:xfrm>
            <a:off x="9598152" y="6528816"/>
            <a:ext cx="685800" cy="466344"/>
          </a:xfrm>
          <a:prstGeom prst="roundRect">
            <a:avLst>
              <a:gd name="adj" fmla="val 17647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US" sz="2700"/>
          </a:p>
        </p:txBody>
      </p:sp>
      <p:sp>
        <p:nvSpPr>
          <p:cNvPr id="32" name="Text 30"/>
          <p:cNvSpPr/>
          <p:nvPr/>
        </p:nvSpPr>
        <p:spPr>
          <a:xfrm>
            <a:off x="9598152" y="6528816"/>
            <a:ext cx="685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543916" y="6473952"/>
            <a:ext cx="4668927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Teleophthalmology Support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721379" y="7214616"/>
            <a:ext cx="571479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Screening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Fundus Camera Support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Healthcare Integration</a:t>
            </a:r>
            <a:endParaRPr lang="en-US" sz="2400" dirty="0"/>
          </a:p>
          <a:p>
            <a:pPr marL="228600" indent="-2286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Specialist Consultation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6637508" y="96834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5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Custom</PresentationFormat>
  <Paragraphs>272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Cambria Bold Italics</vt:lpstr>
      <vt:lpstr>Cambria Italics</vt:lpstr>
      <vt:lpstr>Calibri</vt:lpstr>
      <vt:lpstr>Cambria</vt:lpstr>
      <vt:lpstr>Calibri (MS) Bold</vt:lpstr>
      <vt:lpstr>Arial</vt:lpstr>
      <vt:lpstr>Calibri (MS)</vt:lpstr>
      <vt:lpstr>Aptos</vt:lpstr>
      <vt:lpstr>Cambria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AFIO_ScanAI_Progress.pptx</dc:title>
  <dc:creator>Mashal</dc:creator>
  <cp:lastModifiedBy>Arsal Saeed</cp:lastModifiedBy>
  <cp:revision>4</cp:revision>
  <dcterms:created xsi:type="dcterms:W3CDTF">2006-08-16T00:00:00Z</dcterms:created>
  <dcterms:modified xsi:type="dcterms:W3CDTF">2026-08-03T05:22:45Z</dcterms:modified>
  <dc:identifier>DAHRCtm92rc</dc:identifier>
</cp:coreProperties>
</file>