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0" r:id="rId4"/>
    <p:sldId id="268" r:id="rId5"/>
    <p:sldId id="282" r:id="rId6"/>
    <p:sldId id="283" r:id="rId7"/>
    <p:sldId id="271" r:id="rId8"/>
    <p:sldId id="258" r:id="rId9"/>
    <p:sldId id="274" r:id="rId10"/>
    <p:sldId id="273" r:id="rId11"/>
    <p:sldId id="275" r:id="rId12"/>
    <p:sldId id="276" r:id="rId13"/>
    <p:sldId id="277" r:id="rId14"/>
    <p:sldId id="280" r:id="rId15"/>
    <p:sldId id="278" r:id="rId16"/>
    <p:sldId id="259" r:id="rId17"/>
    <p:sldId id="260" r:id="rId18"/>
    <p:sldId id="261" r:id="rId19"/>
    <p:sldId id="262" r:id="rId20"/>
    <p:sldId id="263" r:id="rId21"/>
    <p:sldId id="264" r:id="rId22"/>
    <p:sldId id="265" r:id="rId23"/>
    <p:sldId id="266" r:id="rId24"/>
    <p:sldId id="26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1AB445-B6DB-4F7C-B0B5-A0F0F95EEC36}">
          <p14:sldIdLst>
            <p14:sldId id="256"/>
          </p14:sldIdLst>
        </p14:section>
        <p14:section name="Untitled Section" id="{05171141-B925-4150-B1AD-7DD5120B105B}">
          <p14:sldIdLst>
            <p14:sldId id="257"/>
            <p14:sldId id="270"/>
            <p14:sldId id="268"/>
            <p14:sldId id="282"/>
            <p14:sldId id="283"/>
            <p14:sldId id="271"/>
            <p14:sldId id="258"/>
            <p14:sldId id="274"/>
            <p14:sldId id="273"/>
            <p14:sldId id="275"/>
            <p14:sldId id="276"/>
            <p14:sldId id="277"/>
            <p14:sldId id="280"/>
            <p14:sldId id="27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7197"/>
    <a:srgbClr val="192C4F"/>
    <a:srgbClr val="107269"/>
    <a:srgbClr val="18A99B"/>
    <a:srgbClr val="F4F7FA"/>
    <a:srgbClr val="0EA29E"/>
    <a:srgbClr val="0B7F7B"/>
    <a:srgbClr val="C9D6E8"/>
    <a:srgbClr val="556A8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6" d="100"/>
          <a:sy n="86" d="100"/>
        </p:scale>
        <p:origin x="30" y="14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840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this, we looked at what already exists. A generic AI screening tool isn't trained for these specific conditions. Building three separate applications means a technician has to learn three different systems — unrealistic in a busy hospital. And staying fully manual doesn't scale — you stay dependent on a small number of specialists. None of these were good enough, so we built something else.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FAEA-2782-C40E-4C16-384C841F55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4BD0E-B779-9AC8-CFBB-DFFEFF367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39123-72A8-C602-A0B4-9FF9096C6B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45D35A-0205-11F8-B3CA-7AF8E1E2566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68066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1A317-1BEF-BCEF-0D32-6FFBB4255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9339D-5840-779D-0583-BE08A6653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FE388-2586-B956-7A62-32F1941F02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050A2B-DDF8-7409-2A8C-11AA087BC95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6651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AFIO ScanAI is one common interface, with three purpose-built AI engines running underneath it — RetinalAI, OCT Analyzer, and VKG. To the technician, it's one login, one dashboard, one workflow. Underneath, each engine is independently trained for its specific disease. One face. Three individual solutions.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that matters most. A traditional specialist-led screening takes twenty to thirty minutes per patient. With AFIO, a technician screens a patient in about three minutes, and the specialist only needs to personally review the cases the AI flags — not every patient. In practice, that means a clinic could screen up to ten times more patients in a single day, without needing ten times the specialist staff.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terms — each model is shown thousands of labeled example images, some healthy, some diseased, until it learns the visual patterns doctors look for. It's then tested on images it's never seen, to check it generalizes rather than memorizes. RetinalAI reaches up to 98% accuracy on fundus photographs, the OCT Analyzer 97% on OCT scans, and VKG 92.6% on corneal imaging. Training data came from public research datasets combined with what we could source institutionally. These are strong internal evaluation results — real hospital data, which we'll get to, is the next step to confirm them locally.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this from research to clinic, we're proposing a partnership, not asking for a favor. We'd need de-identified patient images to validate the models specifically on the local population — our current data is largely public datasets. We'd need your ophthalmologists' feedback reviewing sample predictions, which directly improves the system. And we'd need a pilot in one OPD for four to eight weeks, under your supervision. Technically, this is lightweight — it runs on a standard hospital laptop with internet access, no GPU or special hardware. In return, AFIO gets early access to a validated screening tool built specifically on Pakistani clinical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team, and I'll remain your point of contact for any feedback or pilot coordination going forward — my details are on screen. To close: AI doesn't replace your ophthalmologists' judgment. It makes sure no patient falls through the cracks because of time or distance. Thank you, sir — we're glad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4.png"/><Relationship Id="rId9"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2.png"/><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2C4F"/>
        </a:solidFill>
        <a:effectLst/>
      </p:bgPr>
    </p:bg>
    <p:spTree>
      <p:nvGrpSpPr>
        <p:cNvPr id="1" name=""/>
        <p:cNvGrpSpPr/>
        <p:nvPr/>
      </p:nvGrpSpPr>
      <p:grpSpPr>
        <a:xfrm>
          <a:off x="0" y="0"/>
          <a:ext cx="0" cy="0"/>
          <a:chOff x="0" y="0"/>
          <a:chExt cx="0" cy="0"/>
        </a:xfrm>
      </p:grpSpPr>
      <p:sp>
        <p:nvSpPr>
          <p:cNvPr id="2" name="Shape 0"/>
          <p:cNvSpPr/>
          <p:nvPr/>
        </p:nvSpPr>
        <p:spPr>
          <a:xfrm>
            <a:off x="10198303" y="932688"/>
            <a:ext cx="1243584" cy="1243584"/>
          </a:xfrm>
          <a:prstGeom prst="ellipse">
            <a:avLst/>
          </a:prstGeom>
          <a:ln w="13970">
            <a:solidFill>
              <a:srgbClr val="18A99B">
                <a:alpha val="14000"/>
              </a:srgbClr>
            </a:solidFill>
            <a:prstDash val="solid"/>
          </a:ln>
        </p:spPr>
        <p:txBody>
          <a:bodyPr/>
          <a:lstStyle/>
          <a:p>
            <a:endParaRPr lang="en-US"/>
          </a:p>
        </p:txBody>
      </p:sp>
      <p:sp>
        <p:nvSpPr>
          <p:cNvPr id="3" name="Shape 1"/>
          <p:cNvSpPr/>
          <p:nvPr/>
        </p:nvSpPr>
        <p:spPr>
          <a:xfrm>
            <a:off x="9576511" y="310896"/>
            <a:ext cx="2487168" cy="2487168"/>
          </a:xfrm>
          <a:prstGeom prst="ellipse">
            <a:avLst/>
          </a:prstGeom>
          <a:ln w="13970">
            <a:solidFill>
              <a:srgbClr val="18A99B">
                <a:alpha val="14000"/>
              </a:srgbClr>
            </a:solidFill>
            <a:prstDash val="solid"/>
          </a:ln>
        </p:spPr>
        <p:txBody>
          <a:bodyPr/>
          <a:lstStyle/>
          <a:p>
            <a:endParaRPr lang="en-US"/>
          </a:p>
        </p:txBody>
      </p:sp>
      <p:sp>
        <p:nvSpPr>
          <p:cNvPr id="4" name="Shape 2"/>
          <p:cNvSpPr/>
          <p:nvPr/>
        </p:nvSpPr>
        <p:spPr>
          <a:xfrm>
            <a:off x="8954719" y="-310896"/>
            <a:ext cx="3730752" cy="3730752"/>
          </a:xfrm>
          <a:prstGeom prst="ellipse">
            <a:avLst/>
          </a:prstGeom>
          <a:ln w="13970">
            <a:solidFill>
              <a:srgbClr val="18A99B">
                <a:alpha val="14000"/>
              </a:srgbClr>
            </a:solidFill>
            <a:prstDash val="solid"/>
          </a:ln>
        </p:spPr>
        <p:txBody>
          <a:bodyPr/>
          <a:lstStyle/>
          <a:p>
            <a:endParaRPr lang="en-US"/>
          </a:p>
        </p:txBody>
      </p:sp>
      <p:sp>
        <p:nvSpPr>
          <p:cNvPr id="5" name="Shape 3"/>
          <p:cNvSpPr/>
          <p:nvPr/>
        </p:nvSpPr>
        <p:spPr>
          <a:xfrm>
            <a:off x="8332927" y="-932688"/>
            <a:ext cx="4974336" cy="4974336"/>
          </a:xfrm>
          <a:prstGeom prst="ellipse">
            <a:avLst/>
          </a:prstGeom>
          <a:ln w="13970">
            <a:solidFill>
              <a:srgbClr val="18A99B">
                <a:alpha val="14000"/>
              </a:srgbClr>
            </a:solidFill>
            <a:prstDash val="solid"/>
          </a:ln>
        </p:spPr>
        <p:txBody>
          <a:bodyPr/>
          <a:lstStyle/>
          <a:p>
            <a:endParaRPr lang="en-US"/>
          </a:p>
        </p:txBody>
      </p:sp>
      <p:sp>
        <p:nvSpPr>
          <p:cNvPr id="6" name="Shape 4"/>
          <p:cNvSpPr/>
          <p:nvPr/>
        </p:nvSpPr>
        <p:spPr>
          <a:xfrm>
            <a:off x="7711135" y="-1554480"/>
            <a:ext cx="6217920" cy="6217920"/>
          </a:xfrm>
          <a:prstGeom prst="ellipse">
            <a:avLst/>
          </a:prstGeom>
          <a:ln w="13970">
            <a:solidFill>
              <a:srgbClr val="18A99B">
                <a:alpha val="14000"/>
              </a:srgbClr>
            </a:solidFill>
            <a:prstDash val="solid"/>
          </a:ln>
        </p:spPr>
        <p:txBody>
          <a:bodyPr/>
          <a:lstStyle/>
          <a:p>
            <a:endParaRPr lang="en-US"/>
          </a:p>
        </p:txBody>
      </p:sp>
      <p:sp>
        <p:nvSpPr>
          <p:cNvPr id="7" name="Shape 5"/>
          <p:cNvSpPr/>
          <p:nvPr/>
        </p:nvSpPr>
        <p:spPr>
          <a:xfrm>
            <a:off x="-121920" y="5821680"/>
            <a:ext cx="975360" cy="975360"/>
          </a:xfrm>
          <a:prstGeom prst="ellipse">
            <a:avLst/>
          </a:prstGeom>
          <a:ln w="13970">
            <a:solidFill>
              <a:srgbClr val="18A99B">
                <a:alpha val="10000"/>
              </a:srgbClr>
            </a:solidFill>
            <a:prstDash val="solid"/>
          </a:ln>
        </p:spPr>
        <p:txBody>
          <a:bodyPr/>
          <a:lstStyle/>
          <a:p>
            <a:endParaRPr lang="en-US"/>
          </a:p>
        </p:txBody>
      </p:sp>
      <p:sp>
        <p:nvSpPr>
          <p:cNvPr id="8" name="Shape 6"/>
          <p:cNvSpPr/>
          <p:nvPr/>
        </p:nvSpPr>
        <p:spPr>
          <a:xfrm>
            <a:off x="-609600" y="5334000"/>
            <a:ext cx="1950720" cy="1950720"/>
          </a:xfrm>
          <a:prstGeom prst="ellipse">
            <a:avLst/>
          </a:prstGeom>
          <a:ln w="13970">
            <a:solidFill>
              <a:srgbClr val="18A99B">
                <a:alpha val="10000"/>
              </a:srgbClr>
            </a:solidFill>
            <a:prstDash val="solid"/>
          </a:ln>
        </p:spPr>
        <p:txBody>
          <a:bodyPr/>
          <a:lstStyle/>
          <a:p>
            <a:endParaRPr lang="en-US"/>
          </a:p>
        </p:txBody>
      </p:sp>
      <p:sp>
        <p:nvSpPr>
          <p:cNvPr id="9" name="Shape 7"/>
          <p:cNvSpPr/>
          <p:nvPr/>
        </p:nvSpPr>
        <p:spPr>
          <a:xfrm>
            <a:off x="-1097280" y="4846320"/>
            <a:ext cx="2926080" cy="2926080"/>
          </a:xfrm>
          <a:prstGeom prst="ellipse">
            <a:avLst/>
          </a:prstGeom>
          <a:ln w="13970">
            <a:solidFill>
              <a:srgbClr val="18A99B">
                <a:alpha val="10000"/>
              </a:srgbClr>
            </a:solidFill>
            <a:prstDash val="solid"/>
          </a:ln>
        </p:spPr>
        <p:txBody>
          <a:bodyPr/>
          <a:lstStyle/>
          <a:p>
            <a:endParaRPr lang="en-US"/>
          </a:p>
        </p:txBody>
      </p:sp>
      <p:sp>
        <p:nvSpPr>
          <p:cNvPr id="10" name="Shape 8"/>
          <p:cNvSpPr/>
          <p:nvPr/>
        </p:nvSpPr>
        <p:spPr>
          <a:xfrm>
            <a:off x="540492" y="645073"/>
            <a:ext cx="800628" cy="875880"/>
          </a:xfrm>
          <a:prstGeom prst="ellipse">
            <a:avLst/>
          </a:prstGeom>
          <a:solidFill>
            <a:srgbClr val="18A99B"/>
          </a:solidFill>
          <a:ln/>
        </p:spPr>
        <p:txBody>
          <a:bodyPr/>
          <a:lstStyle/>
          <a:p>
            <a:endParaRPr lang="en-US"/>
          </a:p>
        </p:txBody>
      </p:sp>
      <p:pic>
        <p:nvPicPr>
          <p:cNvPr id="11" name="Image 0" descr="/home/claude/work/assets/icons/eye-white.png"/>
          <p:cNvPicPr>
            <a:picLocks noChangeAspect="1"/>
          </p:cNvPicPr>
          <p:nvPr/>
        </p:nvPicPr>
        <p:blipFill>
          <a:blip r:embed="rId3"/>
          <a:stretch>
            <a:fillRect/>
          </a:stretch>
        </p:blipFill>
        <p:spPr>
          <a:xfrm>
            <a:off x="591324" y="721193"/>
            <a:ext cx="698874" cy="723639"/>
          </a:xfrm>
          <a:prstGeom prst="rect">
            <a:avLst/>
          </a:prstGeom>
        </p:spPr>
      </p:pic>
      <p:sp>
        <p:nvSpPr>
          <p:cNvPr id="12" name="Text 9"/>
          <p:cNvSpPr/>
          <p:nvPr/>
        </p:nvSpPr>
        <p:spPr>
          <a:xfrm>
            <a:off x="1505476" y="694388"/>
            <a:ext cx="1342492" cy="51941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AFIO</a:t>
            </a:r>
            <a:endParaRPr lang="en-US" sz="3600" dirty="0"/>
          </a:p>
        </p:txBody>
      </p:sp>
      <p:sp>
        <p:nvSpPr>
          <p:cNvPr id="13" name="Text 10"/>
          <p:cNvSpPr/>
          <p:nvPr/>
        </p:nvSpPr>
        <p:spPr>
          <a:xfrm>
            <a:off x="1505476" y="1146029"/>
            <a:ext cx="4817059" cy="441960"/>
          </a:xfrm>
          <a:prstGeom prst="rect">
            <a:avLst/>
          </a:prstGeom>
          <a:noFill/>
          <a:ln/>
        </p:spPr>
        <p:txBody>
          <a:bodyPr wrap="square" lIns="0" tIns="0" rIns="0" bIns="0" rtlCol="0" anchor="ctr"/>
          <a:lstStyle/>
          <a:p>
            <a:pPr marL="0" indent="0">
              <a:buNone/>
            </a:pPr>
            <a:r>
              <a:rPr lang="en-US" b="1" kern="0" spc="240" dirty="0">
                <a:solidFill>
                  <a:srgbClr val="18A99B"/>
                </a:solidFill>
                <a:latin typeface="Calibri" pitchFamily="34" charset="0"/>
                <a:ea typeface="Calibri" pitchFamily="34" charset="-122"/>
                <a:cs typeface="Calibri" pitchFamily="34" charset="-120"/>
              </a:rPr>
              <a:t>CLINICAL PLATFORM</a:t>
            </a:r>
            <a:endParaRPr lang="en-US" dirty="0"/>
          </a:p>
        </p:txBody>
      </p:sp>
      <p:sp>
        <p:nvSpPr>
          <p:cNvPr id="14" name="Text 11"/>
          <p:cNvSpPr/>
          <p:nvPr/>
        </p:nvSpPr>
        <p:spPr>
          <a:xfrm>
            <a:off x="502920" y="2331720"/>
            <a:ext cx="8778240" cy="1737360"/>
          </a:xfrm>
          <a:prstGeom prst="rect">
            <a:avLst/>
          </a:prstGeom>
          <a:noFill/>
          <a:ln/>
        </p:spPr>
        <p:txBody>
          <a:bodyPr wrap="square" lIns="0" tIns="0" rIns="0" bIns="0" rtlCol="0" anchor="t"/>
          <a:lstStyle/>
          <a:p>
            <a:pPr marL="0" indent="0">
              <a:lnSpc>
                <a:spcPct val="108000"/>
              </a:lnSpc>
              <a:buNone/>
            </a:pPr>
            <a:r>
              <a:rPr lang="en-US" sz="4600" b="1" dirty="0">
                <a:solidFill>
                  <a:srgbClr val="FFFFFF"/>
                </a:solidFill>
                <a:latin typeface="Cambria" pitchFamily="34" charset="0"/>
                <a:ea typeface="Cambria" pitchFamily="34" charset="-122"/>
                <a:cs typeface="Cambria" pitchFamily="34" charset="-120"/>
              </a:rPr>
              <a:t>AI-Assisted Ophthalmic</a:t>
            </a:r>
            <a:endParaRPr lang="en-US" sz="4600" dirty="0"/>
          </a:p>
          <a:p>
            <a:pPr marL="0" indent="0">
              <a:lnSpc>
                <a:spcPct val="108000"/>
              </a:lnSpc>
              <a:buNone/>
            </a:pPr>
            <a:r>
              <a:rPr lang="en-US" sz="4600" b="1" dirty="0">
                <a:solidFill>
                  <a:srgbClr val="FFFFFF"/>
                </a:solidFill>
                <a:latin typeface="Cambria" pitchFamily="34" charset="0"/>
                <a:ea typeface="Cambria" pitchFamily="34" charset="-122"/>
                <a:cs typeface="Cambria" pitchFamily="34" charset="-120"/>
              </a:rPr>
              <a:t>Screening Platform</a:t>
            </a:r>
            <a:endParaRPr lang="en-US" sz="4600" dirty="0"/>
          </a:p>
        </p:txBody>
      </p:sp>
      <p:sp>
        <p:nvSpPr>
          <p:cNvPr id="15" name="Text 12"/>
          <p:cNvSpPr/>
          <p:nvPr/>
        </p:nvSpPr>
        <p:spPr>
          <a:xfrm>
            <a:off x="502920" y="4052316"/>
            <a:ext cx="8595360" cy="777240"/>
          </a:xfrm>
          <a:prstGeom prst="rect">
            <a:avLst/>
          </a:prstGeom>
          <a:noFill/>
          <a:ln/>
        </p:spPr>
        <p:txBody>
          <a:bodyPr wrap="square" lIns="0" tIns="0" rIns="0" bIns="0" rtlCol="0" anchor="ctr"/>
          <a:lstStyle/>
          <a:p>
            <a:pPr>
              <a:spcBef>
                <a:spcPts val="810"/>
              </a:spcBef>
            </a:pPr>
            <a:r>
              <a:rPr lang="en-US" sz="2000" kern="0" spc="9" dirty="0">
                <a:solidFill>
                  <a:schemeClr val="bg1"/>
                </a:solidFill>
                <a:latin typeface="Inter" pitchFamily="34" charset="0"/>
                <a:ea typeface="Inter" pitchFamily="34" charset="-122"/>
                <a:cs typeface="Inter" pitchFamily="34" charset="-120"/>
              </a:rPr>
              <a:t>Faster detection. Greater consistency. More time for patient care.</a:t>
            </a:r>
            <a:endParaRPr lang="en-US" sz="2000" dirty="0">
              <a:solidFill>
                <a:schemeClr val="bg1"/>
              </a:solidFill>
            </a:endParaRPr>
          </a:p>
        </p:txBody>
      </p:sp>
      <p:sp>
        <p:nvSpPr>
          <p:cNvPr id="16" name="Shape 13"/>
          <p:cNvSpPr/>
          <p:nvPr/>
        </p:nvSpPr>
        <p:spPr>
          <a:xfrm>
            <a:off x="502920" y="5074920"/>
            <a:ext cx="1470355" cy="384048"/>
          </a:xfrm>
          <a:prstGeom prst="roundRect">
            <a:avLst>
              <a:gd name="adj" fmla="val 50000"/>
            </a:avLst>
          </a:prstGeom>
          <a:ln w="15875">
            <a:solidFill>
              <a:srgbClr val="3E5C7C"/>
            </a:solidFill>
            <a:prstDash val="solid"/>
          </a:ln>
        </p:spPr>
        <p:txBody>
          <a:bodyPr/>
          <a:lstStyle/>
          <a:p>
            <a:endParaRPr lang="en-US"/>
          </a:p>
        </p:txBody>
      </p:sp>
      <p:sp>
        <p:nvSpPr>
          <p:cNvPr id="17" name="Text 14"/>
          <p:cNvSpPr/>
          <p:nvPr/>
        </p:nvSpPr>
        <p:spPr>
          <a:xfrm>
            <a:off x="502920" y="5074920"/>
            <a:ext cx="1470355" cy="384048"/>
          </a:xfrm>
          <a:prstGeom prst="rect">
            <a:avLst/>
          </a:prstGeom>
          <a:noFill/>
          <a:ln/>
        </p:spPr>
        <p:txBody>
          <a:bodyPr wrap="square" lIns="0" tIns="0" rIns="0" bIns="0" rtlCol="0" anchor="ctr"/>
          <a:lstStyle/>
          <a:p>
            <a:pPr marL="0" indent="0" algn="ctr">
              <a:buNone/>
            </a:pPr>
            <a:r>
              <a:rPr lang="en-US" sz="1400" b="1" dirty="0">
                <a:solidFill>
                  <a:srgbClr val="D9E4F1"/>
                </a:solidFill>
                <a:latin typeface="Calibri" pitchFamily="34" charset="0"/>
                <a:ea typeface="Calibri" pitchFamily="34" charset="-122"/>
                <a:cs typeface="Calibri" pitchFamily="34" charset="-120"/>
              </a:rPr>
              <a:t>OCT Analysis</a:t>
            </a:r>
            <a:endParaRPr lang="en-US" sz="1400" dirty="0"/>
          </a:p>
        </p:txBody>
      </p:sp>
      <p:sp>
        <p:nvSpPr>
          <p:cNvPr id="18" name="Shape 15"/>
          <p:cNvSpPr/>
          <p:nvPr/>
        </p:nvSpPr>
        <p:spPr>
          <a:xfrm>
            <a:off x="2156155" y="5074920"/>
            <a:ext cx="1945843" cy="384048"/>
          </a:xfrm>
          <a:prstGeom prst="roundRect">
            <a:avLst>
              <a:gd name="adj" fmla="val 50000"/>
            </a:avLst>
          </a:prstGeom>
          <a:ln w="15875">
            <a:solidFill>
              <a:srgbClr val="3E5C7C"/>
            </a:solidFill>
            <a:prstDash val="solid"/>
          </a:ln>
        </p:spPr>
        <p:txBody>
          <a:bodyPr/>
          <a:lstStyle/>
          <a:p>
            <a:endParaRPr lang="en-US"/>
          </a:p>
        </p:txBody>
      </p:sp>
      <p:sp>
        <p:nvSpPr>
          <p:cNvPr id="19" name="Text 16"/>
          <p:cNvSpPr/>
          <p:nvPr/>
        </p:nvSpPr>
        <p:spPr>
          <a:xfrm>
            <a:off x="2156155" y="5074920"/>
            <a:ext cx="1945843" cy="384048"/>
          </a:xfrm>
          <a:prstGeom prst="rect">
            <a:avLst/>
          </a:prstGeom>
          <a:noFill/>
          <a:ln/>
        </p:spPr>
        <p:txBody>
          <a:bodyPr wrap="square" lIns="0" tIns="0" rIns="0" bIns="0" rtlCol="0" anchor="ctr"/>
          <a:lstStyle/>
          <a:p>
            <a:pPr marL="0" indent="0" algn="ctr">
              <a:buNone/>
            </a:pPr>
            <a:r>
              <a:rPr lang="en-US" sz="1400" b="1" dirty="0">
                <a:solidFill>
                  <a:srgbClr val="D9E4F1"/>
                </a:solidFill>
                <a:latin typeface="Calibri" pitchFamily="34" charset="0"/>
                <a:ea typeface="Calibri" pitchFamily="34" charset="-122"/>
                <a:cs typeface="Calibri" pitchFamily="34" charset="-120"/>
              </a:rPr>
              <a:t>Retinal Screening</a:t>
            </a:r>
            <a:endParaRPr lang="en-US" sz="1400" dirty="0"/>
          </a:p>
        </p:txBody>
      </p:sp>
      <p:sp>
        <p:nvSpPr>
          <p:cNvPr id="20" name="Shape 17"/>
          <p:cNvSpPr/>
          <p:nvPr/>
        </p:nvSpPr>
        <p:spPr>
          <a:xfrm>
            <a:off x="4284878" y="5074920"/>
            <a:ext cx="1565453" cy="384048"/>
          </a:xfrm>
          <a:prstGeom prst="roundRect">
            <a:avLst>
              <a:gd name="adj" fmla="val 50000"/>
            </a:avLst>
          </a:prstGeom>
          <a:ln w="15875">
            <a:solidFill>
              <a:srgbClr val="3E5C7C"/>
            </a:solidFill>
            <a:prstDash val="solid"/>
          </a:ln>
        </p:spPr>
        <p:txBody>
          <a:bodyPr/>
          <a:lstStyle/>
          <a:p>
            <a:endParaRPr lang="en-US"/>
          </a:p>
        </p:txBody>
      </p:sp>
      <p:sp>
        <p:nvSpPr>
          <p:cNvPr id="21" name="Text 18"/>
          <p:cNvSpPr/>
          <p:nvPr/>
        </p:nvSpPr>
        <p:spPr>
          <a:xfrm>
            <a:off x="4284878" y="5074920"/>
            <a:ext cx="1565453" cy="384048"/>
          </a:xfrm>
          <a:prstGeom prst="rect">
            <a:avLst/>
          </a:prstGeom>
          <a:noFill/>
          <a:ln/>
        </p:spPr>
        <p:txBody>
          <a:bodyPr wrap="square" lIns="0" tIns="0" rIns="0" bIns="0" rtlCol="0" anchor="ctr"/>
          <a:lstStyle/>
          <a:p>
            <a:pPr marL="0" indent="0" algn="ctr">
              <a:buNone/>
            </a:pPr>
            <a:r>
              <a:rPr lang="en-US" sz="1400" b="1" dirty="0">
                <a:solidFill>
                  <a:srgbClr val="D9E4F1"/>
                </a:solidFill>
                <a:latin typeface="Calibri" pitchFamily="34" charset="0"/>
                <a:ea typeface="Calibri" pitchFamily="34" charset="-122"/>
                <a:cs typeface="Calibri" pitchFamily="34" charset="-120"/>
              </a:rPr>
              <a:t>VKG</a:t>
            </a:r>
            <a:endParaRPr lang="en-US" sz="1400" dirty="0"/>
          </a:p>
        </p:txBody>
      </p:sp>
      <p:sp>
        <p:nvSpPr>
          <p:cNvPr id="22" name="Shape 19"/>
          <p:cNvSpPr/>
          <p:nvPr/>
        </p:nvSpPr>
        <p:spPr>
          <a:xfrm>
            <a:off x="6033211" y="5074920"/>
            <a:ext cx="1565453" cy="384048"/>
          </a:xfrm>
          <a:prstGeom prst="roundRect">
            <a:avLst>
              <a:gd name="adj" fmla="val 50000"/>
            </a:avLst>
          </a:prstGeom>
          <a:ln w="15875">
            <a:solidFill>
              <a:srgbClr val="3E5C7C"/>
            </a:solidFill>
            <a:prstDash val="solid"/>
          </a:ln>
        </p:spPr>
        <p:txBody>
          <a:bodyPr/>
          <a:lstStyle/>
          <a:p>
            <a:endParaRPr lang="en-US"/>
          </a:p>
        </p:txBody>
      </p:sp>
      <p:sp>
        <p:nvSpPr>
          <p:cNvPr id="23" name="Text 20"/>
          <p:cNvSpPr/>
          <p:nvPr/>
        </p:nvSpPr>
        <p:spPr>
          <a:xfrm>
            <a:off x="6033211" y="5074920"/>
            <a:ext cx="1565453" cy="384048"/>
          </a:xfrm>
          <a:prstGeom prst="rect">
            <a:avLst/>
          </a:prstGeom>
          <a:noFill/>
          <a:ln/>
        </p:spPr>
        <p:txBody>
          <a:bodyPr wrap="square" lIns="0" tIns="0" rIns="0" bIns="0" rtlCol="0" anchor="ctr"/>
          <a:lstStyle/>
          <a:p>
            <a:pPr marL="0" indent="0" algn="ctr">
              <a:buNone/>
            </a:pPr>
            <a:r>
              <a:rPr lang="en-US" sz="1400" b="1" dirty="0">
                <a:solidFill>
                  <a:srgbClr val="D9E4F1"/>
                </a:solidFill>
                <a:latin typeface="Calibri" pitchFamily="34" charset="0"/>
                <a:ea typeface="Calibri" pitchFamily="34" charset="-122"/>
                <a:cs typeface="Calibri" pitchFamily="34" charset="-120"/>
              </a:rPr>
              <a:t>Corneal Ulcer</a:t>
            </a:r>
            <a:endParaRPr lang="en-US" sz="1400" dirty="0"/>
          </a:p>
        </p:txBody>
      </p:sp>
      <p:sp>
        <p:nvSpPr>
          <p:cNvPr id="24" name="Shape 21"/>
          <p:cNvSpPr/>
          <p:nvPr/>
        </p:nvSpPr>
        <p:spPr>
          <a:xfrm>
            <a:off x="502920" y="6080760"/>
            <a:ext cx="502920" cy="0"/>
          </a:xfrm>
          <a:prstGeom prst="line">
            <a:avLst/>
          </a:prstGeom>
          <a:noFill/>
          <a:ln w="25400">
            <a:solidFill>
              <a:srgbClr val="18A99B"/>
            </a:solidFill>
            <a:prstDash val="solid"/>
          </a:ln>
        </p:spPr>
        <p:txBody>
          <a:bodyPr/>
          <a:lstStyle/>
          <a:p>
            <a:endParaRPr lang="en-US"/>
          </a:p>
        </p:txBody>
      </p:sp>
      <p:sp>
        <p:nvSpPr>
          <p:cNvPr id="25" name="Text 22"/>
          <p:cNvSpPr/>
          <p:nvPr/>
        </p:nvSpPr>
        <p:spPr>
          <a:xfrm>
            <a:off x="502920" y="6199632"/>
            <a:ext cx="5486400" cy="274320"/>
          </a:xfrm>
          <a:prstGeom prst="rect">
            <a:avLst/>
          </a:prstGeom>
          <a:noFill/>
          <a:ln/>
        </p:spPr>
        <p:txBody>
          <a:bodyPr wrap="square" lIns="0" tIns="0" rIns="0" bIns="0" rtlCol="0" anchor="ctr"/>
          <a:lstStyle/>
          <a:p>
            <a:pPr marL="0" indent="0">
              <a:buNone/>
            </a:pPr>
            <a:r>
              <a:rPr lang="en-US" sz="1400" b="1" kern="0" spc="200" dirty="0">
                <a:solidFill>
                  <a:srgbClr val="8FA7C2"/>
                </a:solidFill>
                <a:latin typeface="Calibri" pitchFamily="34" charset="0"/>
                <a:ea typeface="Calibri" pitchFamily="34" charset="-122"/>
                <a:cs typeface="Calibri" pitchFamily="34" charset="-120"/>
              </a:rPr>
              <a:t>PROJECT DEMONSTRATION</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92C4F"/>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b="1" kern="0" spc="220" dirty="0">
                <a:solidFill>
                  <a:srgbClr val="0B7F7B"/>
                </a:solidFill>
                <a:latin typeface="Calibri" pitchFamily="34" charset="0"/>
                <a:ea typeface="Calibri" pitchFamily="34" charset="-122"/>
                <a:cs typeface="Calibri" pitchFamily="34" charset="-120"/>
              </a:rPr>
              <a:t>THE CHALLENGE</a:t>
            </a:r>
            <a:endParaRPr lang="en-US" dirty="0"/>
          </a:p>
        </p:txBody>
      </p:sp>
      <p:sp>
        <p:nvSpPr>
          <p:cNvPr id="4" name="Text 2"/>
          <p:cNvSpPr/>
          <p:nvPr/>
        </p:nvSpPr>
        <p:spPr>
          <a:xfrm>
            <a:off x="502919" y="908304"/>
            <a:ext cx="11185855" cy="777240"/>
          </a:xfrm>
          <a:prstGeom prst="rect">
            <a:avLst/>
          </a:prstGeom>
          <a:noFill/>
          <a:ln/>
        </p:spPr>
        <p:txBody>
          <a:bodyPr wrap="square" lIns="0" tIns="0" rIns="0" bIns="0" rtlCol="0" anchor="t"/>
          <a:lstStyle/>
          <a:p>
            <a:pPr>
              <a:lnSpc>
                <a:spcPct val="104000"/>
              </a:lnSpc>
            </a:pPr>
            <a:r>
              <a:rPr lang="en-US" sz="2800" b="1" dirty="0">
                <a:solidFill>
                  <a:srgbClr val="000000"/>
                </a:solidFill>
                <a:latin typeface="Inter"/>
                <a:ea typeface="Inter"/>
                <a:cs typeface="Montserrat Bold" pitchFamily="34" charset="-120"/>
              </a:rPr>
              <a:t>Every Delayed Diagnosis Has Consequences</a:t>
            </a:r>
            <a:endParaRPr lang="en-US" sz="2800" dirty="0">
              <a:latin typeface="Inter"/>
              <a:ea typeface="Inter"/>
            </a:endParaRPr>
          </a:p>
        </p:txBody>
      </p:sp>
      <p:sp>
        <p:nvSpPr>
          <p:cNvPr id="5" name="Shape 3"/>
          <p:cNvSpPr/>
          <p:nvPr/>
        </p:nvSpPr>
        <p:spPr>
          <a:xfrm>
            <a:off x="502919" y="1965960"/>
            <a:ext cx="3668419" cy="1234440"/>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795528" y="2258568"/>
            <a:ext cx="603504" cy="603504"/>
          </a:xfrm>
          <a:prstGeom prst="ellipse">
            <a:avLst/>
          </a:prstGeom>
          <a:solidFill>
            <a:srgbClr val="16324F"/>
          </a:solidFill>
          <a:ln/>
        </p:spPr>
        <p:txBody>
          <a:bodyPr/>
          <a:lstStyle/>
          <a:p>
            <a:endParaRPr lang="en-US"/>
          </a:p>
        </p:txBody>
      </p:sp>
      <p:pic>
        <p:nvPicPr>
          <p:cNvPr id="7" name="Image 0" descr="/home/claude/work/assets/icons/clock-white.png"/>
          <p:cNvPicPr>
            <a:picLocks noChangeAspect="1"/>
          </p:cNvPicPr>
          <p:nvPr/>
        </p:nvPicPr>
        <p:blipFill>
          <a:blip r:embed="rId3"/>
          <a:stretch>
            <a:fillRect/>
          </a:stretch>
        </p:blipFill>
        <p:spPr>
          <a:xfrm>
            <a:off x="946404" y="2409444"/>
            <a:ext cx="301752" cy="301752"/>
          </a:xfrm>
          <a:prstGeom prst="rect">
            <a:avLst/>
          </a:prstGeom>
        </p:spPr>
      </p:pic>
      <p:sp>
        <p:nvSpPr>
          <p:cNvPr id="8" name="Text 5"/>
          <p:cNvSpPr/>
          <p:nvPr/>
        </p:nvSpPr>
        <p:spPr>
          <a:xfrm>
            <a:off x="1579244" y="2331720"/>
            <a:ext cx="2960522" cy="457200"/>
          </a:xfrm>
          <a:prstGeom prst="rect">
            <a:avLst/>
          </a:prstGeom>
          <a:noFill/>
          <a:ln/>
        </p:spPr>
        <p:txBody>
          <a:bodyPr wrap="square" lIns="0" tIns="0" rIns="0" bIns="0" rtlCol="0" anchor="ctr"/>
          <a:lstStyle/>
          <a:p>
            <a:pPr marL="0" indent="0">
              <a:buNone/>
            </a:pPr>
            <a:r>
              <a:rPr lang="en-US" sz="1750" b="1" dirty="0">
                <a:solidFill>
                  <a:srgbClr val="16324F"/>
                </a:solidFill>
                <a:latin typeface="Inter"/>
                <a:ea typeface="Cambria" pitchFamily="34" charset="-122"/>
                <a:cs typeface="Cambria" pitchFamily="34" charset="-120"/>
              </a:rPr>
              <a:t>Time Pressure</a:t>
            </a:r>
            <a:endParaRPr lang="en-US" sz="1750" dirty="0">
              <a:latin typeface="Inter"/>
            </a:endParaRPr>
          </a:p>
        </p:txBody>
      </p:sp>
      <p:sp>
        <p:nvSpPr>
          <p:cNvPr id="9" name="Text 6"/>
          <p:cNvSpPr/>
          <p:nvPr/>
        </p:nvSpPr>
        <p:spPr>
          <a:xfrm>
            <a:off x="795528" y="3502152"/>
            <a:ext cx="2960522" cy="1325880"/>
          </a:xfrm>
          <a:prstGeom prst="rect">
            <a:avLst/>
          </a:prstGeom>
          <a:noFill/>
          <a:ln/>
        </p:spPr>
        <p:txBody>
          <a:bodyPr wrap="square" lIns="0" tIns="0" rIns="0" bIns="0" rtlCol="0" anchor="t"/>
          <a:lstStyle/>
          <a:p>
            <a:pPr marL="0" indent="0">
              <a:lnSpc>
                <a:spcPct val="128000"/>
              </a:lnSpc>
              <a:buNone/>
            </a:pPr>
            <a:endParaRPr lang="en-US" sz="1250" dirty="0"/>
          </a:p>
        </p:txBody>
      </p:sp>
      <p:sp>
        <p:nvSpPr>
          <p:cNvPr id="10" name="Shape 7"/>
          <p:cNvSpPr/>
          <p:nvPr/>
        </p:nvSpPr>
        <p:spPr>
          <a:xfrm>
            <a:off x="4322978" y="1965960"/>
            <a:ext cx="3527451" cy="1242722"/>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1" name="Shape 8"/>
          <p:cNvSpPr/>
          <p:nvPr/>
        </p:nvSpPr>
        <p:spPr>
          <a:xfrm>
            <a:off x="4615586" y="2258568"/>
            <a:ext cx="603504" cy="603504"/>
          </a:xfrm>
          <a:prstGeom prst="ellipse">
            <a:avLst/>
          </a:prstGeom>
          <a:solidFill>
            <a:srgbClr val="0B7F7B"/>
          </a:solidFill>
          <a:ln/>
        </p:spPr>
        <p:txBody>
          <a:bodyPr/>
          <a:lstStyle/>
          <a:p>
            <a:endParaRPr lang="en-US"/>
          </a:p>
        </p:txBody>
      </p:sp>
      <p:pic>
        <p:nvPicPr>
          <p:cNvPr id="12" name="Image 1" descr="/home/claude/work/assets/icons/search-white.png"/>
          <p:cNvPicPr>
            <a:picLocks noChangeAspect="1"/>
          </p:cNvPicPr>
          <p:nvPr/>
        </p:nvPicPr>
        <p:blipFill>
          <a:blip r:embed="rId4"/>
          <a:stretch>
            <a:fillRect/>
          </a:stretch>
        </p:blipFill>
        <p:spPr>
          <a:xfrm>
            <a:off x="4766462" y="2409444"/>
            <a:ext cx="301752" cy="301752"/>
          </a:xfrm>
          <a:prstGeom prst="rect">
            <a:avLst/>
          </a:prstGeom>
        </p:spPr>
      </p:pic>
      <p:sp>
        <p:nvSpPr>
          <p:cNvPr id="13" name="Text 9"/>
          <p:cNvSpPr/>
          <p:nvPr/>
        </p:nvSpPr>
        <p:spPr>
          <a:xfrm>
            <a:off x="5360822" y="2338001"/>
            <a:ext cx="2960522" cy="457200"/>
          </a:xfrm>
          <a:prstGeom prst="rect">
            <a:avLst/>
          </a:prstGeom>
          <a:noFill/>
          <a:ln/>
        </p:spPr>
        <p:txBody>
          <a:bodyPr wrap="square" lIns="0" tIns="0" rIns="0" bIns="0" rtlCol="0" anchor="ctr"/>
          <a:lstStyle/>
          <a:p>
            <a:pPr marL="0" indent="0">
              <a:buNone/>
            </a:pPr>
            <a:r>
              <a:rPr lang="en-US" sz="1750" b="1" dirty="0">
                <a:solidFill>
                  <a:srgbClr val="16324F"/>
                </a:solidFill>
                <a:latin typeface="Inter"/>
                <a:ea typeface="Cambria" pitchFamily="34" charset="-122"/>
                <a:cs typeface="Cambria" pitchFamily="34" charset="-120"/>
              </a:rPr>
              <a:t>Subtle Early Signs</a:t>
            </a:r>
            <a:endParaRPr lang="en-US" sz="1750" dirty="0">
              <a:latin typeface="Inter"/>
            </a:endParaRPr>
          </a:p>
        </p:txBody>
      </p:sp>
      <p:sp>
        <p:nvSpPr>
          <p:cNvPr id="14" name="Text 10"/>
          <p:cNvSpPr/>
          <p:nvPr/>
        </p:nvSpPr>
        <p:spPr>
          <a:xfrm>
            <a:off x="4615586" y="3502152"/>
            <a:ext cx="2960522" cy="1325880"/>
          </a:xfrm>
          <a:prstGeom prst="rect">
            <a:avLst/>
          </a:prstGeom>
          <a:noFill/>
          <a:ln/>
        </p:spPr>
        <p:txBody>
          <a:bodyPr wrap="square" lIns="0" tIns="0" rIns="0" bIns="0" rtlCol="0" anchor="t"/>
          <a:lstStyle/>
          <a:p>
            <a:pPr marL="0" indent="0">
              <a:lnSpc>
                <a:spcPct val="128000"/>
              </a:lnSpc>
              <a:buNone/>
            </a:pPr>
            <a:endParaRPr lang="en-US" sz="1250" dirty="0"/>
          </a:p>
        </p:txBody>
      </p:sp>
      <p:sp>
        <p:nvSpPr>
          <p:cNvPr id="15" name="Shape 11"/>
          <p:cNvSpPr/>
          <p:nvPr/>
        </p:nvSpPr>
        <p:spPr>
          <a:xfrm>
            <a:off x="8143037" y="1965960"/>
            <a:ext cx="3545738" cy="1242722"/>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6" name="Shape 12"/>
          <p:cNvSpPr/>
          <p:nvPr/>
        </p:nvSpPr>
        <p:spPr>
          <a:xfrm>
            <a:off x="8435645" y="2258568"/>
            <a:ext cx="603504" cy="603504"/>
          </a:xfrm>
          <a:prstGeom prst="ellipse">
            <a:avLst/>
          </a:prstGeom>
          <a:solidFill>
            <a:srgbClr val="DE9A2A"/>
          </a:solidFill>
          <a:ln/>
        </p:spPr>
        <p:txBody>
          <a:bodyPr/>
          <a:lstStyle/>
          <a:p>
            <a:endParaRPr lang="en-US"/>
          </a:p>
        </p:txBody>
      </p:sp>
      <p:pic>
        <p:nvPicPr>
          <p:cNvPr id="17" name="Image 2" descr="/home/claude/work/assets/icons/file-text-white.png"/>
          <p:cNvPicPr>
            <a:picLocks noChangeAspect="1"/>
          </p:cNvPicPr>
          <p:nvPr/>
        </p:nvPicPr>
        <p:blipFill>
          <a:blip r:embed="rId5"/>
          <a:stretch>
            <a:fillRect/>
          </a:stretch>
        </p:blipFill>
        <p:spPr>
          <a:xfrm>
            <a:off x="8586521" y="2409444"/>
            <a:ext cx="301752" cy="301752"/>
          </a:xfrm>
          <a:prstGeom prst="rect">
            <a:avLst/>
          </a:prstGeom>
        </p:spPr>
      </p:pic>
      <p:sp>
        <p:nvSpPr>
          <p:cNvPr id="18" name="Text 13"/>
          <p:cNvSpPr/>
          <p:nvPr/>
        </p:nvSpPr>
        <p:spPr>
          <a:xfrm>
            <a:off x="9190025" y="2335452"/>
            <a:ext cx="2960522" cy="457200"/>
          </a:xfrm>
          <a:prstGeom prst="rect">
            <a:avLst/>
          </a:prstGeom>
          <a:noFill/>
          <a:ln/>
        </p:spPr>
        <p:txBody>
          <a:bodyPr wrap="square" lIns="0" tIns="0" rIns="0" bIns="0" rtlCol="0" anchor="ctr"/>
          <a:lstStyle/>
          <a:p>
            <a:r>
              <a:rPr lang="en-US" sz="1750" b="1" dirty="0">
                <a:solidFill>
                  <a:srgbClr val="16324F"/>
                </a:solidFill>
                <a:latin typeface="Inter"/>
                <a:ea typeface="Cambria" pitchFamily="34" charset="-122"/>
                <a:cs typeface="Cambria" pitchFamily="34" charset="-120"/>
              </a:rPr>
              <a:t>Inconsistent Reports</a:t>
            </a:r>
            <a:endParaRPr lang="en-US" sz="1750" dirty="0">
              <a:latin typeface="Inter"/>
            </a:endParaRPr>
          </a:p>
        </p:txBody>
      </p:sp>
      <p:sp>
        <p:nvSpPr>
          <p:cNvPr id="19" name="Text 14"/>
          <p:cNvSpPr/>
          <p:nvPr/>
        </p:nvSpPr>
        <p:spPr>
          <a:xfrm>
            <a:off x="8435645" y="3502152"/>
            <a:ext cx="2960522" cy="1325880"/>
          </a:xfrm>
          <a:prstGeom prst="rect">
            <a:avLst/>
          </a:prstGeom>
          <a:noFill/>
          <a:ln/>
        </p:spPr>
        <p:txBody>
          <a:bodyPr wrap="square" lIns="0" tIns="0" rIns="0" bIns="0" rtlCol="0" anchor="t"/>
          <a:lstStyle/>
          <a:p>
            <a:pPr marL="0" indent="0">
              <a:lnSpc>
                <a:spcPct val="128000"/>
              </a:lnSpc>
              <a:buNone/>
            </a:pPr>
            <a:endParaRPr lang="en-US" sz="1250" dirty="0"/>
          </a:p>
        </p:txBody>
      </p:sp>
      <p:sp>
        <p:nvSpPr>
          <p:cNvPr id="20" name="Shape 15"/>
          <p:cNvSpPr/>
          <p:nvPr/>
        </p:nvSpPr>
        <p:spPr>
          <a:xfrm>
            <a:off x="502920" y="5349240"/>
            <a:ext cx="11185855" cy="566928"/>
          </a:xfrm>
          <a:prstGeom prst="roundRect">
            <a:avLst>
              <a:gd name="adj" fmla="val 16129"/>
            </a:avLst>
          </a:prstGeom>
          <a:solidFill>
            <a:srgbClr val="E7F4F0"/>
          </a:solidFill>
          <a:ln/>
        </p:spPr>
        <p:txBody>
          <a:bodyPr/>
          <a:lstStyle/>
          <a:p>
            <a:endParaRPr lang="en-US"/>
          </a:p>
        </p:txBody>
      </p:sp>
      <p:sp>
        <p:nvSpPr>
          <p:cNvPr id="21" name="Text 16"/>
          <p:cNvSpPr/>
          <p:nvPr/>
        </p:nvSpPr>
        <p:spPr>
          <a:xfrm>
            <a:off x="655942" y="5359130"/>
            <a:ext cx="10637215" cy="566928"/>
          </a:xfrm>
          <a:prstGeom prst="rect">
            <a:avLst/>
          </a:prstGeom>
          <a:noFill/>
          <a:ln/>
        </p:spPr>
        <p:txBody>
          <a:bodyPr wrap="square" lIns="0" tIns="0" rIns="0" bIns="0" rtlCol="0" anchor="ctr"/>
          <a:lstStyle/>
          <a:p>
            <a:pPr algn="ctr"/>
            <a:r>
              <a:rPr lang="en-US" sz="2000" b="1" dirty="0">
                <a:solidFill>
                  <a:schemeClr val="accent6">
                    <a:lumMod val="50000"/>
                  </a:schemeClr>
                </a:solidFill>
                <a:latin typeface="Inter" pitchFamily="34" charset="0"/>
                <a:ea typeface="Inter" pitchFamily="34" charset="-122"/>
                <a:cs typeface="Inter" pitchFamily="34" charset="-120"/>
              </a:rPr>
              <a:t>Earlier detection can preserve vision</a:t>
            </a:r>
            <a:endParaRPr lang="en-US" sz="2000" dirty="0">
              <a:solidFill>
                <a:schemeClr val="accent6">
                  <a:lumMod val="50000"/>
                </a:schemeClr>
              </a:solidFill>
            </a:endParaRPr>
          </a:p>
        </p:txBody>
      </p:sp>
      <p:sp>
        <p:nvSpPr>
          <p:cNvPr id="22" name="Text 17"/>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23" name="Text 18"/>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02</a:t>
            </a:r>
            <a:endParaRPr lang="en-US" sz="1000" dirty="0"/>
          </a:p>
        </p:txBody>
      </p:sp>
      <p:sp>
        <p:nvSpPr>
          <p:cNvPr id="26" name="Shape 3">
            <a:extLst>
              <a:ext uri="{FF2B5EF4-FFF2-40B4-BE49-F238E27FC236}">
                <a16:creationId xmlns:a16="http://schemas.microsoft.com/office/drawing/2014/main" id="{1EAC9F7B-3744-121F-925D-BBDA1BDDDFB0}"/>
              </a:ext>
            </a:extLst>
          </p:cNvPr>
          <p:cNvSpPr/>
          <p:nvPr/>
        </p:nvSpPr>
        <p:spPr>
          <a:xfrm>
            <a:off x="534575" y="3462732"/>
            <a:ext cx="3668419" cy="1234440"/>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pic>
        <p:nvPicPr>
          <p:cNvPr id="32" name="Image 0" descr="/home/claude/work/assets/icons/clock-white.png">
            <a:extLst>
              <a:ext uri="{FF2B5EF4-FFF2-40B4-BE49-F238E27FC236}">
                <a16:creationId xmlns:a16="http://schemas.microsoft.com/office/drawing/2014/main" id="{C5423DB5-F81D-82FB-8032-D1609DFFF044}"/>
              </a:ext>
            </a:extLst>
          </p:cNvPr>
          <p:cNvPicPr>
            <a:picLocks noChangeAspect="1"/>
          </p:cNvPicPr>
          <p:nvPr/>
        </p:nvPicPr>
        <p:blipFill>
          <a:blip r:embed="rId3"/>
          <a:stretch>
            <a:fillRect/>
          </a:stretch>
        </p:blipFill>
        <p:spPr>
          <a:xfrm>
            <a:off x="978060" y="3906216"/>
            <a:ext cx="301752" cy="301752"/>
          </a:xfrm>
          <a:prstGeom prst="rect">
            <a:avLst/>
          </a:prstGeom>
        </p:spPr>
      </p:pic>
      <p:sp>
        <p:nvSpPr>
          <p:cNvPr id="34" name="Text 5">
            <a:extLst>
              <a:ext uri="{FF2B5EF4-FFF2-40B4-BE49-F238E27FC236}">
                <a16:creationId xmlns:a16="http://schemas.microsoft.com/office/drawing/2014/main" id="{503F5DE5-9977-53E7-95D7-7EBC22A1145E}"/>
              </a:ext>
            </a:extLst>
          </p:cNvPr>
          <p:cNvSpPr/>
          <p:nvPr/>
        </p:nvSpPr>
        <p:spPr>
          <a:xfrm>
            <a:off x="1610900" y="3828492"/>
            <a:ext cx="2960522" cy="457200"/>
          </a:xfrm>
          <a:prstGeom prst="rect">
            <a:avLst/>
          </a:prstGeom>
          <a:noFill/>
          <a:ln/>
        </p:spPr>
        <p:txBody>
          <a:bodyPr wrap="square" lIns="0" tIns="0" rIns="0" bIns="0" rtlCol="0" anchor="ctr"/>
          <a:lstStyle/>
          <a:p>
            <a:pPr marL="0" indent="0">
              <a:buNone/>
            </a:pPr>
            <a:r>
              <a:rPr lang="en-US" sz="1750" b="1" dirty="0">
                <a:solidFill>
                  <a:srgbClr val="16324F"/>
                </a:solidFill>
                <a:latin typeface="Inter"/>
                <a:ea typeface="Cambria" pitchFamily="34" charset="-122"/>
                <a:cs typeface="Cambria" pitchFamily="34" charset="-120"/>
              </a:rPr>
              <a:t>Vision Loss</a:t>
            </a:r>
            <a:endParaRPr lang="en-US" sz="1750" dirty="0">
              <a:latin typeface="Inter"/>
            </a:endParaRPr>
          </a:p>
        </p:txBody>
      </p:sp>
      <p:sp>
        <p:nvSpPr>
          <p:cNvPr id="36" name="Shape 7">
            <a:extLst>
              <a:ext uri="{FF2B5EF4-FFF2-40B4-BE49-F238E27FC236}">
                <a16:creationId xmlns:a16="http://schemas.microsoft.com/office/drawing/2014/main" id="{BF44DF03-B2E4-A068-B829-454B44AAB8E1}"/>
              </a:ext>
            </a:extLst>
          </p:cNvPr>
          <p:cNvSpPr/>
          <p:nvPr/>
        </p:nvSpPr>
        <p:spPr>
          <a:xfrm>
            <a:off x="4354634" y="3462732"/>
            <a:ext cx="3527451" cy="1242722"/>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42" name="Text 9">
            <a:extLst>
              <a:ext uri="{FF2B5EF4-FFF2-40B4-BE49-F238E27FC236}">
                <a16:creationId xmlns:a16="http://schemas.microsoft.com/office/drawing/2014/main" id="{20CCECB7-9D61-468A-E5B9-375E4A4F9EA3}"/>
              </a:ext>
            </a:extLst>
          </p:cNvPr>
          <p:cNvSpPr/>
          <p:nvPr/>
        </p:nvSpPr>
        <p:spPr>
          <a:xfrm>
            <a:off x="5392478" y="3834773"/>
            <a:ext cx="2960522" cy="457200"/>
          </a:xfrm>
          <a:prstGeom prst="rect">
            <a:avLst/>
          </a:prstGeom>
          <a:noFill/>
          <a:ln/>
        </p:spPr>
        <p:txBody>
          <a:bodyPr wrap="square" lIns="0" tIns="0" rIns="0" bIns="0" rtlCol="0" anchor="ctr"/>
          <a:lstStyle/>
          <a:p>
            <a:pPr marL="0" indent="0">
              <a:buNone/>
            </a:pPr>
            <a:r>
              <a:rPr lang="en-US" sz="1750" b="1" dirty="0">
                <a:solidFill>
                  <a:srgbClr val="16324F"/>
                </a:solidFill>
                <a:latin typeface="Inter"/>
                <a:ea typeface="Cambria" pitchFamily="34" charset="-122"/>
                <a:cs typeface="Cambria" pitchFamily="34" charset="-120"/>
              </a:rPr>
              <a:t>Observer Variability</a:t>
            </a:r>
            <a:endParaRPr lang="en-US" sz="1750" dirty="0">
              <a:latin typeface="Inter"/>
            </a:endParaRPr>
          </a:p>
        </p:txBody>
      </p:sp>
      <p:sp>
        <p:nvSpPr>
          <p:cNvPr id="44" name="Shape 11">
            <a:extLst>
              <a:ext uri="{FF2B5EF4-FFF2-40B4-BE49-F238E27FC236}">
                <a16:creationId xmlns:a16="http://schemas.microsoft.com/office/drawing/2014/main" id="{DFFA1A92-D010-11B7-E856-5D8F9DE144B6}"/>
              </a:ext>
            </a:extLst>
          </p:cNvPr>
          <p:cNvSpPr/>
          <p:nvPr/>
        </p:nvSpPr>
        <p:spPr>
          <a:xfrm>
            <a:off x="8174693" y="3462732"/>
            <a:ext cx="3545738" cy="1242722"/>
          </a:xfrm>
          <a:prstGeom prst="roundRect">
            <a:avLst>
              <a:gd name="adj" fmla="val 268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50" name="Text 9">
            <a:extLst>
              <a:ext uri="{FF2B5EF4-FFF2-40B4-BE49-F238E27FC236}">
                <a16:creationId xmlns:a16="http://schemas.microsoft.com/office/drawing/2014/main" id="{88DB3E8D-87EF-068F-52B1-21A39E255E60}"/>
              </a:ext>
            </a:extLst>
          </p:cNvPr>
          <p:cNvSpPr/>
          <p:nvPr/>
        </p:nvSpPr>
        <p:spPr>
          <a:xfrm>
            <a:off x="9190025" y="3828492"/>
            <a:ext cx="2960522" cy="457200"/>
          </a:xfrm>
          <a:prstGeom prst="rect">
            <a:avLst/>
          </a:prstGeom>
          <a:noFill/>
          <a:ln/>
        </p:spPr>
        <p:txBody>
          <a:bodyPr wrap="square" lIns="0" tIns="0" rIns="0" bIns="0" rtlCol="0" anchor="ctr"/>
          <a:lstStyle/>
          <a:p>
            <a:pPr marL="0" indent="0">
              <a:buNone/>
            </a:pPr>
            <a:r>
              <a:rPr lang="en-US" sz="1750" b="1" dirty="0">
                <a:solidFill>
                  <a:srgbClr val="16324F"/>
                </a:solidFill>
                <a:latin typeface="Inter"/>
                <a:ea typeface="Cambria" pitchFamily="34" charset="-122"/>
                <a:cs typeface="Cambria" pitchFamily="34" charset="-120"/>
              </a:rPr>
              <a:t>Rising Patient Volumes</a:t>
            </a:r>
            <a:endParaRPr lang="en-US" sz="1750" dirty="0">
              <a:latin typeface="Inter"/>
            </a:endParaRPr>
          </a:p>
        </p:txBody>
      </p:sp>
      <p:sp>
        <p:nvSpPr>
          <p:cNvPr id="52" name="Shape 37">
            <a:extLst>
              <a:ext uri="{FF2B5EF4-FFF2-40B4-BE49-F238E27FC236}">
                <a16:creationId xmlns:a16="http://schemas.microsoft.com/office/drawing/2014/main" id="{CC1BFC8F-75D8-1E1A-70ED-F8328B0EE55E}"/>
              </a:ext>
            </a:extLst>
          </p:cNvPr>
          <p:cNvSpPr/>
          <p:nvPr/>
        </p:nvSpPr>
        <p:spPr>
          <a:xfrm>
            <a:off x="4614811" y="3800314"/>
            <a:ext cx="594068" cy="585216"/>
          </a:xfrm>
          <a:prstGeom prst="ellipse">
            <a:avLst/>
          </a:prstGeom>
          <a:solidFill>
            <a:srgbClr val="C0392B"/>
          </a:solidFill>
          <a:ln/>
        </p:spPr>
        <p:txBody>
          <a:bodyPr/>
          <a:lstStyle/>
          <a:p>
            <a:endParaRPr lang="en-US"/>
          </a:p>
        </p:txBody>
      </p:sp>
      <p:sp>
        <p:nvSpPr>
          <p:cNvPr id="30" name="Shape 4">
            <a:extLst>
              <a:ext uri="{FF2B5EF4-FFF2-40B4-BE49-F238E27FC236}">
                <a16:creationId xmlns:a16="http://schemas.microsoft.com/office/drawing/2014/main" id="{F2EBBD6C-75D5-1EA7-1A81-C769286F5C86}"/>
              </a:ext>
            </a:extLst>
          </p:cNvPr>
          <p:cNvSpPr/>
          <p:nvPr/>
        </p:nvSpPr>
        <p:spPr>
          <a:xfrm>
            <a:off x="8420554" y="3755340"/>
            <a:ext cx="603504" cy="603504"/>
          </a:xfrm>
          <a:prstGeom prst="ellipse">
            <a:avLst/>
          </a:prstGeom>
          <a:solidFill>
            <a:srgbClr val="16324F"/>
          </a:solidFill>
          <a:ln/>
        </p:spPr>
        <p:txBody>
          <a:bodyPr/>
          <a:lstStyle/>
          <a:p>
            <a:endParaRPr lang="en-US"/>
          </a:p>
        </p:txBody>
      </p:sp>
      <p:sp>
        <p:nvSpPr>
          <p:cNvPr id="54" name="Shape 12">
            <a:extLst>
              <a:ext uri="{FF2B5EF4-FFF2-40B4-BE49-F238E27FC236}">
                <a16:creationId xmlns:a16="http://schemas.microsoft.com/office/drawing/2014/main" id="{158145F9-9682-14EA-B5F4-79EB7720D5C5}"/>
              </a:ext>
            </a:extLst>
          </p:cNvPr>
          <p:cNvSpPr/>
          <p:nvPr/>
        </p:nvSpPr>
        <p:spPr>
          <a:xfrm>
            <a:off x="800306" y="3755340"/>
            <a:ext cx="603504" cy="603504"/>
          </a:xfrm>
          <a:prstGeom prst="ellipse">
            <a:avLst/>
          </a:prstGeom>
          <a:solidFill>
            <a:srgbClr val="DE9A2A"/>
          </a:solidFill>
          <a:ln/>
        </p:spPr>
        <p:txBody>
          <a:bodyPr/>
          <a:lstStyle/>
          <a:p>
            <a:endParaRPr lang="en-US"/>
          </a:p>
        </p:txBody>
      </p:sp>
      <p:pic>
        <p:nvPicPr>
          <p:cNvPr id="58" name="Image 0" descr="/home/claude/work/assets/icons/eye-white.png">
            <a:extLst>
              <a:ext uri="{FF2B5EF4-FFF2-40B4-BE49-F238E27FC236}">
                <a16:creationId xmlns:a16="http://schemas.microsoft.com/office/drawing/2014/main" id="{39DD0BFC-728E-CA7E-6580-32CBD796CF67}"/>
              </a:ext>
            </a:extLst>
          </p:cNvPr>
          <p:cNvPicPr>
            <a:picLocks noChangeAspect="1"/>
          </p:cNvPicPr>
          <p:nvPr/>
        </p:nvPicPr>
        <p:blipFill>
          <a:blip r:embed="rId6"/>
          <a:stretch>
            <a:fillRect/>
          </a:stretch>
        </p:blipFill>
        <p:spPr>
          <a:xfrm>
            <a:off x="888535" y="3828492"/>
            <a:ext cx="422678" cy="437656"/>
          </a:xfrm>
          <a:prstGeom prst="rect">
            <a:avLst/>
          </a:prstGeom>
        </p:spPr>
      </p:pic>
      <p:pic>
        <p:nvPicPr>
          <p:cNvPr id="60" name="Image 3" descr="/home/claude/work/assets/icons/zap-white.png">
            <a:extLst>
              <a:ext uri="{FF2B5EF4-FFF2-40B4-BE49-F238E27FC236}">
                <a16:creationId xmlns:a16="http://schemas.microsoft.com/office/drawing/2014/main" id="{87263668-6BAE-DECD-96A7-3F72A9F1B2B6}"/>
              </a:ext>
            </a:extLst>
          </p:cNvPr>
          <p:cNvPicPr>
            <a:picLocks noChangeAspect="1"/>
          </p:cNvPicPr>
          <p:nvPr/>
        </p:nvPicPr>
        <p:blipFill>
          <a:blip r:embed="rId7"/>
          <a:stretch>
            <a:fillRect/>
          </a:stretch>
        </p:blipFill>
        <p:spPr>
          <a:xfrm>
            <a:off x="4737389" y="3919339"/>
            <a:ext cx="362772" cy="362772"/>
          </a:xfrm>
          <a:prstGeom prst="rect">
            <a:avLst/>
          </a:prstGeom>
        </p:spPr>
      </p:pic>
      <p:sp>
        <p:nvSpPr>
          <p:cNvPr id="61" name="Arrow: Up 60">
            <a:extLst>
              <a:ext uri="{FF2B5EF4-FFF2-40B4-BE49-F238E27FC236}">
                <a16:creationId xmlns:a16="http://schemas.microsoft.com/office/drawing/2014/main" id="{A95E1E72-82A8-F45F-F03B-04BEE70592F6}"/>
              </a:ext>
            </a:extLst>
          </p:cNvPr>
          <p:cNvSpPr/>
          <p:nvPr/>
        </p:nvSpPr>
        <p:spPr>
          <a:xfrm>
            <a:off x="8562286" y="3896326"/>
            <a:ext cx="320039" cy="301752"/>
          </a:xfrm>
          <a:prstGeom prst="upArrow">
            <a:avLst/>
          </a:prstGeom>
          <a:noFill/>
          <a:ln w="19050">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2C6FBB"/>
                </a:solidFill>
                <a:latin typeface="Arial" pitchFamily="34" charset="0"/>
                <a:ea typeface="Arial" pitchFamily="34" charset="-122"/>
                <a:cs typeface="Arial" pitchFamily="34" charset="-120"/>
              </a:rPr>
              <a:t>CONSIDERED &amp; REJECTED</a:t>
            </a:r>
            <a:endParaRPr lang="en-US" sz="1400" dirty="0"/>
          </a:p>
        </p:txBody>
      </p:sp>
      <p:sp>
        <p:nvSpPr>
          <p:cNvPr id="3" name="Text 1"/>
          <p:cNvSpPr/>
          <p:nvPr/>
        </p:nvSpPr>
        <p:spPr>
          <a:xfrm>
            <a:off x="640080" y="822960"/>
            <a:ext cx="10789920" cy="1005840"/>
          </a:xfrm>
          <a:prstGeom prst="rect">
            <a:avLst/>
          </a:prstGeom>
          <a:noFill/>
          <a:ln/>
        </p:spPr>
        <p:txBody>
          <a:bodyPr wrap="square" rtlCol="0" anchor="ctr"/>
          <a:lstStyle/>
          <a:p>
            <a:pPr marL="0" indent="0">
              <a:lnSpc>
                <a:spcPct val="102000"/>
              </a:lnSpc>
              <a:buNone/>
            </a:pPr>
            <a:r>
              <a:rPr lang="en-US" sz="3600" b="1" dirty="0">
                <a:solidFill>
                  <a:srgbClr val="0B2545"/>
                </a:solidFill>
                <a:latin typeface="Arial" pitchFamily="34" charset="0"/>
                <a:ea typeface="Arial" pitchFamily="34" charset="-122"/>
                <a:cs typeface="Arial" pitchFamily="34" charset="-120"/>
              </a:rPr>
              <a:t>Existing Options Fall Short</a:t>
            </a:r>
            <a:endParaRPr lang="en-US" sz="3600" dirty="0"/>
          </a:p>
        </p:txBody>
      </p:sp>
      <p:sp>
        <p:nvSpPr>
          <p:cNvPr id="4" name="Shape 2"/>
          <p:cNvSpPr/>
          <p:nvPr/>
        </p:nvSpPr>
        <p:spPr>
          <a:xfrm>
            <a:off x="640080" y="2103120"/>
            <a:ext cx="3383280" cy="2286000"/>
          </a:xfrm>
          <a:prstGeom prst="roundRect">
            <a:avLst>
              <a:gd name="adj" fmla="val 4800"/>
            </a:avLst>
          </a:prstGeom>
          <a:solidFill>
            <a:srgbClr val="F4F6F8"/>
          </a:solidFill>
          <a:ln w="12700">
            <a:solidFill>
              <a:srgbClr val="D9DEE6"/>
            </a:solidFill>
            <a:prstDash val="solid"/>
          </a:ln>
        </p:spPr>
        <p:txBody>
          <a:bodyPr/>
          <a:lstStyle/>
          <a:p>
            <a:endParaRPr lang="en-US"/>
          </a:p>
        </p:txBody>
      </p:sp>
      <p:pic>
        <p:nvPicPr>
          <p:cNvPr id="5" name="Image 0" descr="/home/claude/icons/x-circle.png"/>
          <p:cNvPicPr>
            <a:picLocks noChangeAspect="1"/>
          </p:cNvPicPr>
          <p:nvPr/>
        </p:nvPicPr>
        <p:blipFill>
          <a:blip r:embed="rId3"/>
          <a:stretch>
            <a:fillRect/>
          </a:stretch>
        </p:blipFill>
        <p:spPr>
          <a:xfrm>
            <a:off x="2103120" y="2331720"/>
            <a:ext cx="457200" cy="457200"/>
          </a:xfrm>
          <a:prstGeom prst="rect">
            <a:avLst/>
          </a:prstGeom>
        </p:spPr>
      </p:pic>
      <p:sp>
        <p:nvSpPr>
          <p:cNvPr id="6" name="Text 3"/>
          <p:cNvSpPr/>
          <p:nvPr/>
        </p:nvSpPr>
        <p:spPr>
          <a:xfrm>
            <a:off x="822960" y="2926080"/>
            <a:ext cx="3017520" cy="457200"/>
          </a:xfrm>
          <a:prstGeom prst="rect">
            <a:avLst/>
          </a:prstGeom>
          <a:noFill/>
          <a:ln/>
        </p:spPr>
        <p:txBody>
          <a:bodyPr wrap="square" rtlCol="0" anchor="ctr"/>
          <a:lstStyle/>
          <a:p>
            <a:pPr marL="0" indent="0" algn="ctr">
              <a:buNone/>
            </a:pPr>
            <a:r>
              <a:rPr lang="en-US" sz="1600" b="1" dirty="0">
                <a:solidFill>
                  <a:srgbClr val="0B2545"/>
                </a:solidFill>
                <a:latin typeface="Arial" pitchFamily="34" charset="0"/>
                <a:ea typeface="Arial" pitchFamily="34" charset="-122"/>
                <a:cs typeface="Arial" pitchFamily="34" charset="-120"/>
              </a:rPr>
              <a:t>Generic AI Tool</a:t>
            </a:r>
            <a:endParaRPr lang="en-US" sz="1600" dirty="0"/>
          </a:p>
        </p:txBody>
      </p:sp>
      <p:sp>
        <p:nvSpPr>
          <p:cNvPr id="7" name="Text 4"/>
          <p:cNvSpPr/>
          <p:nvPr/>
        </p:nvSpPr>
        <p:spPr>
          <a:xfrm>
            <a:off x="822960" y="3383280"/>
            <a:ext cx="3017520" cy="822960"/>
          </a:xfrm>
          <a:prstGeom prst="rect">
            <a:avLst/>
          </a:prstGeom>
          <a:noFill/>
          <a:ln/>
        </p:spPr>
        <p:txBody>
          <a:bodyPr wrap="square" rtlCol="0" anchor="ctr"/>
          <a:lstStyle/>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Not built for these</a:t>
            </a:r>
            <a:endParaRPr lang="en-US" sz="1300" dirty="0"/>
          </a:p>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specific conditions</a:t>
            </a:r>
            <a:endParaRPr lang="en-US" sz="1300" dirty="0"/>
          </a:p>
        </p:txBody>
      </p:sp>
      <p:sp>
        <p:nvSpPr>
          <p:cNvPr id="8" name="Shape 5"/>
          <p:cNvSpPr/>
          <p:nvPr/>
        </p:nvSpPr>
        <p:spPr>
          <a:xfrm>
            <a:off x="4389120" y="2103120"/>
            <a:ext cx="3383280" cy="2286000"/>
          </a:xfrm>
          <a:prstGeom prst="roundRect">
            <a:avLst>
              <a:gd name="adj" fmla="val 4800"/>
            </a:avLst>
          </a:prstGeom>
          <a:solidFill>
            <a:srgbClr val="F4F6F8"/>
          </a:solidFill>
          <a:ln w="12700">
            <a:solidFill>
              <a:srgbClr val="D9DEE6"/>
            </a:solidFill>
            <a:prstDash val="solid"/>
          </a:ln>
        </p:spPr>
        <p:txBody>
          <a:bodyPr/>
          <a:lstStyle/>
          <a:p>
            <a:endParaRPr lang="en-US"/>
          </a:p>
        </p:txBody>
      </p:sp>
      <p:pic>
        <p:nvPicPr>
          <p:cNvPr id="9" name="Image 1" descr="/home/claude/icons/x-circle.png"/>
          <p:cNvPicPr>
            <a:picLocks noChangeAspect="1"/>
          </p:cNvPicPr>
          <p:nvPr/>
        </p:nvPicPr>
        <p:blipFill>
          <a:blip r:embed="rId3"/>
          <a:stretch>
            <a:fillRect/>
          </a:stretch>
        </p:blipFill>
        <p:spPr>
          <a:xfrm>
            <a:off x="5852160" y="2331720"/>
            <a:ext cx="457200" cy="457200"/>
          </a:xfrm>
          <a:prstGeom prst="rect">
            <a:avLst/>
          </a:prstGeom>
        </p:spPr>
      </p:pic>
      <p:sp>
        <p:nvSpPr>
          <p:cNvPr id="10" name="Text 6"/>
          <p:cNvSpPr/>
          <p:nvPr/>
        </p:nvSpPr>
        <p:spPr>
          <a:xfrm>
            <a:off x="4572000" y="2926080"/>
            <a:ext cx="3017520" cy="457200"/>
          </a:xfrm>
          <a:prstGeom prst="rect">
            <a:avLst/>
          </a:prstGeom>
          <a:noFill/>
          <a:ln/>
        </p:spPr>
        <p:txBody>
          <a:bodyPr wrap="square" rtlCol="0" anchor="ctr"/>
          <a:lstStyle/>
          <a:p>
            <a:pPr marL="0" indent="0" algn="ctr">
              <a:buNone/>
            </a:pPr>
            <a:r>
              <a:rPr lang="en-US" sz="1600" b="1" dirty="0">
                <a:solidFill>
                  <a:srgbClr val="0B2545"/>
                </a:solidFill>
                <a:latin typeface="Arial" pitchFamily="34" charset="0"/>
                <a:ea typeface="Arial" pitchFamily="34" charset="-122"/>
                <a:cs typeface="Arial" pitchFamily="34" charset="-120"/>
              </a:rPr>
              <a:t>One App Per Disease</a:t>
            </a:r>
            <a:endParaRPr lang="en-US" sz="1600" dirty="0"/>
          </a:p>
        </p:txBody>
      </p:sp>
      <p:sp>
        <p:nvSpPr>
          <p:cNvPr id="11" name="Text 7"/>
          <p:cNvSpPr/>
          <p:nvPr/>
        </p:nvSpPr>
        <p:spPr>
          <a:xfrm>
            <a:off x="4572000" y="3383280"/>
            <a:ext cx="3017520" cy="822960"/>
          </a:xfrm>
          <a:prstGeom prst="rect">
            <a:avLst/>
          </a:prstGeom>
          <a:noFill/>
          <a:ln/>
        </p:spPr>
        <p:txBody>
          <a:bodyPr wrap="square" rtlCol="0" anchor="ctr"/>
          <a:lstStyle/>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3 logins,</a:t>
            </a:r>
            <a:endParaRPr lang="en-US" sz="1300" dirty="0"/>
          </a:p>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3 learning curves</a:t>
            </a:r>
            <a:endParaRPr lang="en-US" sz="1300" dirty="0"/>
          </a:p>
        </p:txBody>
      </p:sp>
      <p:sp>
        <p:nvSpPr>
          <p:cNvPr id="12" name="Shape 8"/>
          <p:cNvSpPr/>
          <p:nvPr/>
        </p:nvSpPr>
        <p:spPr>
          <a:xfrm>
            <a:off x="8138160" y="2103120"/>
            <a:ext cx="3383280" cy="2286000"/>
          </a:xfrm>
          <a:prstGeom prst="roundRect">
            <a:avLst>
              <a:gd name="adj" fmla="val 4800"/>
            </a:avLst>
          </a:prstGeom>
          <a:solidFill>
            <a:srgbClr val="F4F6F8"/>
          </a:solidFill>
          <a:ln w="12700">
            <a:solidFill>
              <a:srgbClr val="D9DEE6"/>
            </a:solidFill>
            <a:prstDash val="solid"/>
          </a:ln>
        </p:spPr>
        <p:txBody>
          <a:bodyPr/>
          <a:lstStyle/>
          <a:p>
            <a:endParaRPr lang="en-US"/>
          </a:p>
        </p:txBody>
      </p:sp>
      <p:pic>
        <p:nvPicPr>
          <p:cNvPr id="13" name="Image 2" descr="/home/claude/icons/x-circle.png"/>
          <p:cNvPicPr>
            <a:picLocks noChangeAspect="1"/>
          </p:cNvPicPr>
          <p:nvPr/>
        </p:nvPicPr>
        <p:blipFill>
          <a:blip r:embed="rId3"/>
          <a:stretch>
            <a:fillRect/>
          </a:stretch>
        </p:blipFill>
        <p:spPr>
          <a:xfrm>
            <a:off x="9601200" y="2331720"/>
            <a:ext cx="457200" cy="457200"/>
          </a:xfrm>
          <a:prstGeom prst="rect">
            <a:avLst/>
          </a:prstGeom>
        </p:spPr>
      </p:pic>
      <p:sp>
        <p:nvSpPr>
          <p:cNvPr id="14" name="Text 9"/>
          <p:cNvSpPr/>
          <p:nvPr/>
        </p:nvSpPr>
        <p:spPr>
          <a:xfrm>
            <a:off x="8321040" y="2926080"/>
            <a:ext cx="3017520" cy="457200"/>
          </a:xfrm>
          <a:prstGeom prst="rect">
            <a:avLst/>
          </a:prstGeom>
          <a:noFill/>
          <a:ln/>
        </p:spPr>
        <p:txBody>
          <a:bodyPr wrap="square" rtlCol="0" anchor="ctr"/>
          <a:lstStyle/>
          <a:p>
            <a:pPr marL="0" indent="0" algn="ctr">
              <a:buNone/>
            </a:pPr>
            <a:r>
              <a:rPr lang="en-US" sz="1600" b="1" dirty="0">
                <a:solidFill>
                  <a:srgbClr val="0B2545"/>
                </a:solidFill>
                <a:latin typeface="Arial" pitchFamily="34" charset="0"/>
                <a:ea typeface="Arial" pitchFamily="34" charset="-122"/>
                <a:cs typeface="Arial" pitchFamily="34" charset="-120"/>
              </a:rPr>
              <a:t>Manual-Only Screening</a:t>
            </a:r>
            <a:endParaRPr lang="en-US" sz="1600" dirty="0"/>
          </a:p>
        </p:txBody>
      </p:sp>
      <p:sp>
        <p:nvSpPr>
          <p:cNvPr id="15" name="Text 10"/>
          <p:cNvSpPr/>
          <p:nvPr/>
        </p:nvSpPr>
        <p:spPr>
          <a:xfrm>
            <a:off x="8321040" y="3383280"/>
            <a:ext cx="3017520" cy="822960"/>
          </a:xfrm>
          <a:prstGeom prst="rect">
            <a:avLst/>
          </a:prstGeom>
          <a:noFill/>
          <a:ln/>
        </p:spPr>
        <p:txBody>
          <a:bodyPr wrap="square" rtlCol="0" anchor="ctr"/>
          <a:lstStyle/>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Specialist-dependent,</a:t>
            </a:r>
            <a:endParaRPr lang="en-US" sz="1300" dirty="0"/>
          </a:p>
          <a:p>
            <a:pPr marL="0" indent="0" algn="ctr">
              <a:lnSpc>
                <a:spcPct val="120000"/>
              </a:lnSpc>
              <a:buNone/>
            </a:pPr>
            <a:r>
              <a:rPr lang="en-US" sz="1300" dirty="0">
                <a:solidFill>
                  <a:srgbClr val="6B7280"/>
                </a:solidFill>
                <a:latin typeface="Arial" pitchFamily="34" charset="0"/>
                <a:ea typeface="Arial" pitchFamily="34" charset="-122"/>
                <a:cs typeface="Arial" pitchFamily="34" charset="-120"/>
              </a:rPr>
              <a:t>doesn't scale</a:t>
            </a:r>
            <a:endParaRPr lang="en-US" sz="1300" dirty="0"/>
          </a:p>
        </p:txBody>
      </p:sp>
      <p:sp>
        <p:nvSpPr>
          <p:cNvPr id="16" name="Shape 11"/>
          <p:cNvSpPr/>
          <p:nvPr/>
        </p:nvSpPr>
        <p:spPr>
          <a:xfrm>
            <a:off x="640080" y="4709160"/>
            <a:ext cx="10881360" cy="1005840"/>
          </a:xfrm>
          <a:prstGeom prst="roundRect">
            <a:avLst>
              <a:gd name="adj" fmla="val 9091"/>
            </a:avLst>
          </a:prstGeom>
          <a:solidFill>
            <a:srgbClr val="0B2545"/>
          </a:solidFill>
          <a:ln/>
        </p:spPr>
        <p:txBody>
          <a:bodyPr/>
          <a:lstStyle/>
          <a:p>
            <a:endParaRPr lang="en-US"/>
          </a:p>
        </p:txBody>
      </p:sp>
      <p:sp>
        <p:nvSpPr>
          <p:cNvPr id="17" name="Text 12"/>
          <p:cNvSpPr/>
          <p:nvPr/>
        </p:nvSpPr>
        <p:spPr>
          <a:xfrm>
            <a:off x="914400" y="4709160"/>
            <a:ext cx="10332720" cy="1005840"/>
          </a:xfrm>
          <a:prstGeom prst="rect">
            <a:avLst/>
          </a:prstGeom>
          <a:noFill/>
          <a:ln/>
        </p:spPr>
        <p:txBody>
          <a:bodyPr wrap="square" rtlCol="0" anchor="ctr"/>
          <a:lstStyle/>
          <a:p>
            <a:pPr marL="0" indent="0">
              <a:buNone/>
            </a:pPr>
            <a:r>
              <a:rPr lang="en-US" sz="1600" dirty="0">
                <a:solidFill>
                  <a:srgbClr val="C9D6E8"/>
                </a:solidFill>
                <a:ea typeface="Arial" pitchFamily="34" charset="-122"/>
                <a:cs typeface="Arial" pitchFamily="34" charset="-120"/>
              </a:rPr>
              <a:t>None of these were good enough.  </a:t>
            </a:r>
            <a:r>
              <a:rPr lang="en-US" sz="1800" b="1" dirty="0">
                <a:solidFill>
                  <a:srgbClr val="FFFFFF"/>
                </a:solidFill>
                <a:ea typeface="Arial" pitchFamily="34" charset="-122"/>
                <a:cs typeface="Arial" pitchFamily="34" charset="-120"/>
              </a:rPr>
              <a:t>So</a:t>
            </a:r>
            <a:r>
              <a:rPr lang="en-US" b="1" dirty="0">
                <a:solidFill>
                  <a:srgbClr val="FFFFFF"/>
                </a:solidFill>
                <a:ea typeface="Arial" pitchFamily="34" charset="-122"/>
                <a:cs typeface="Arial" pitchFamily="34" charset="-120"/>
              </a:rPr>
              <a:t>, </a:t>
            </a:r>
            <a:r>
              <a:rPr lang="en-US" sz="1800" b="1" dirty="0">
                <a:solidFill>
                  <a:srgbClr val="FFFFFF"/>
                </a:solidFill>
                <a:ea typeface="Arial" pitchFamily="34" charset="-122"/>
                <a:cs typeface="Arial" pitchFamily="34" charset="-120"/>
              </a:rPr>
              <a:t>we built something else.</a:t>
            </a:r>
            <a:endParaRPr lang="en-US" sz="1600" dirty="0"/>
          </a:p>
        </p:txBody>
      </p:sp>
      <p:sp>
        <p:nvSpPr>
          <p:cNvPr id="18" name="Text 13"/>
          <p:cNvSpPr/>
          <p:nvPr/>
        </p:nvSpPr>
        <p:spPr>
          <a:xfrm>
            <a:off x="457200" y="6473952"/>
            <a:ext cx="3657600" cy="27432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AFIO ScanAI</a:t>
            </a:r>
            <a:endParaRPr lang="en-US" sz="1000" dirty="0"/>
          </a:p>
        </p:txBody>
      </p:sp>
      <p:sp>
        <p:nvSpPr>
          <p:cNvPr id="19" name="Text 14"/>
          <p:cNvSpPr/>
          <p:nvPr/>
        </p:nvSpPr>
        <p:spPr>
          <a:xfrm>
            <a:off x="11002975" y="6473952"/>
            <a:ext cx="8229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04 / 12</a:t>
            </a:r>
            <a:endParaRPr lang="en-US" sz="1000" dirty="0"/>
          </a:p>
        </p:txBody>
      </p:sp>
      <p:sp>
        <p:nvSpPr>
          <p:cNvPr id="22" name="Shape 0">
            <a:extLst>
              <a:ext uri="{FF2B5EF4-FFF2-40B4-BE49-F238E27FC236}">
                <a16:creationId xmlns:a16="http://schemas.microsoft.com/office/drawing/2014/main" id="{44D46D13-531E-EC51-8C5A-AF0CF91DCD0D}"/>
              </a:ext>
            </a:extLst>
          </p:cNvPr>
          <p:cNvSpPr/>
          <p:nvPr/>
        </p:nvSpPr>
        <p:spPr>
          <a:xfrm>
            <a:off x="0" y="0"/>
            <a:ext cx="12191695" cy="64008"/>
          </a:xfrm>
          <a:prstGeom prst="rect">
            <a:avLst/>
          </a:prstGeom>
          <a:solidFill>
            <a:srgbClr val="192C4F"/>
          </a:solidFill>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0">
            <a:extLst>
              <a:ext uri="{FF2B5EF4-FFF2-40B4-BE49-F238E27FC236}">
                <a16:creationId xmlns:a16="http://schemas.microsoft.com/office/drawing/2014/main" id="{61C91C8C-5B83-5045-B5A1-88BE9CE2885B}"/>
              </a:ext>
            </a:extLst>
          </p:cNvPr>
          <p:cNvSpPr/>
          <p:nvPr/>
        </p:nvSpPr>
        <p:spPr>
          <a:xfrm>
            <a:off x="10198303" y="932688"/>
            <a:ext cx="1243584" cy="1243584"/>
          </a:xfrm>
          <a:prstGeom prst="ellipse">
            <a:avLst/>
          </a:prstGeom>
          <a:ln w="13970">
            <a:solidFill>
              <a:srgbClr val="18A99B">
                <a:alpha val="14000"/>
              </a:srgbClr>
            </a:solidFill>
            <a:prstDash val="solid"/>
          </a:ln>
        </p:spPr>
        <p:txBody>
          <a:bodyPr/>
          <a:lstStyle/>
          <a:p>
            <a:endParaRPr lang="en-US"/>
          </a:p>
        </p:txBody>
      </p:sp>
      <p:sp>
        <p:nvSpPr>
          <p:cNvPr id="56" name="Shape 1">
            <a:extLst>
              <a:ext uri="{FF2B5EF4-FFF2-40B4-BE49-F238E27FC236}">
                <a16:creationId xmlns:a16="http://schemas.microsoft.com/office/drawing/2014/main" id="{C335F592-5F22-36CA-9500-BB5EA04E1B9F}"/>
              </a:ext>
            </a:extLst>
          </p:cNvPr>
          <p:cNvSpPr/>
          <p:nvPr/>
        </p:nvSpPr>
        <p:spPr>
          <a:xfrm>
            <a:off x="9576511" y="310896"/>
            <a:ext cx="2487168" cy="2487168"/>
          </a:xfrm>
          <a:prstGeom prst="ellipse">
            <a:avLst/>
          </a:prstGeom>
          <a:ln w="13970">
            <a:solidFill>
              <a:srgbClr val="18A99B">
                <a:alpha val="14000"/>
              </a:srgbClr>
            </a:solidFill>
            <a:prstDash val="solid"/>
          </a:ln>
        </p:spPr>
        <p:txBody>
          <a:bodyPr/>
          <a:lstStyle/>
          <a:p>
            <a:endParaRPr lang="en-US"/>
          </a:p>
        </p:txBody>
      </p:sp>
      <p:sp>
        <p:nvSpPr>
          <p:cNvPr id="58" name="Shape 2">
            <a:extLst>
              <a:ext uri="{FF2B5EF4-FFF2-40B4-BE49-F238E27FC236}">
                <a16:creationId xmlns:a16="http://schemas.microsoft.com/office/drawing/2014/main" id="{F4F4AA4F-1D6E-326B-968D-23D49664D439}"/>
              </a:ext>
            </a:extLst>
          </p:cNvPr>
          <p:cNvSpPr/>
          <p:nvPr/>
        </p:nvSpPr>
        <p:spPr>
          <a:xfrm>
            <a:off x="8954719" y="-310896"/>
            <a:ext cx="3730752" cy="3730752"/>
          </a:xfrm>
          <a:prstGeom prst="ellipse">
            <a:avLst/>
          </a:prstGeom>
          <a:ln w="13970">
            <a:solidFill>
              <a:srgbClr val="18A99B">
                <a:alpha val="14000"/>
              </a:srgbClr>
            </a:solidFill>
            <a:prstDash val="solid"/>
          </a:ln>
        </p:spPr>
        <p:txBody>
          <a:bodyPr/>
          <a:lstStyle/>
          <a:p>
            <a:endParaRPr lang="en-US"/>
          </a:p>
        </p:txBody>
      </p:sp>
      <p:sp>
        <p:nvSpPr>
          <p:cNvPr id="3" name="Shape 1"/>
          <p:cNvSpPr/>
          <p:nvPr/>
        </p:nvSpPr>
        <p:spPr>
          <a:xfrm>
            <a:off x="-1219200" y="-1028700"/>
            <a:ext cx="4876800" cy="4876800"/>
          </a:xfrm>
          <a:prstGeom prst="ellipse">
            <a:avLst/>
          </a:prstGeom>
          <a:ln w="14288">
            <a:solidFill>
              <a:srgbClr val="2A7B7B">
                <a:alpha val="12000"/>
              </a:srgbClr>
            </a:solidFill>
            <a:prstDash val="solid"/>
          </a:ln>
        </p:spPr>
        <p:txBody>
          <a:bodyPr/>
          <a:lstStyle/>
          <a:p>
            <a:endParaRPr lang="en-US" sz="2400"/>
          </a:p>
        </p:txBody>
      </p:sp>
      <p:sp>
        <p:nvSpPr>
          <p:cNvPr id="5" name="Text 3"/>
          <p:cNvSpPr/>
          <p:nvPr/>
        </p:nvSpPr>
        <p:spPr>
          <a:xfrm>
            <a:off x="89310" y="758627"/>
            <a:ext cx="7402384" cy="476251"/>
          </a:xfrm>
          <a:prstGeom prst="rect">
            <a:avLst/>
          </a:prstGeom>
          <a:noFill/>
          <a:ln/>
        </p:spPr>
        <p:txBody>
          <a:bodyPr wrap="none" lIns="0" tIns="0" rIns="0" bIns="0" rtlCol="0" anchor="ctr"/>
          <a:lstStyle/>
          <a:p>
            <a:r>
              <a:rPr lang="en-US" sz="3067" b="1" kern="0" spc="-61" dirty="0">
                <a:solidFill>
                  <a:srgbClr val="1A1A2E"/>
                </a:solidFill>
                <a:latin typeface="Inter" pitchFamily="34" charset="0"/>
                <a:ea typeface="Inter" pitchFamily="34" charset="-122"/>
                <a:cs typeface="Inter" pitchFamily="34" charset="-120"/>
              </a:rPr>
              <a:t>        Every Retinal Scan Had</a:t>
            </a:r>
            <a:endParaRPr lang="en-US" sz="3067" dirty="0"/>
          </a:p>
        </p:txBody>
      </p:sp>
      <p:sp>
        <p:nvSpPr>
          <p:cNvPr id="6" name="Text 4"/>
          <p:cNvSpPr/>
          <p:nvPr/>
        </p:nvSpPr>
        <p:spPr>
          <a:xfrm>
            <a:off x="89310" y="1187748"/>
            <a:ext cx="6937653" cy="476251"/>
          </a:xfrm>
          <a:prstGeom prst="rect">
            <a:avLst/>
          </a:prstGeom>
          <a:noFill/>
          <a:ln/>
        </p:spPr>
        <p:txBody>
          <a:bodyPr wrap="none" lIns="0" tIns="0" rIns="0" bIns="0" rtlCol="0" anchor="ctr"/>
          <a:lstStyle/>
          <a:p>
            <a:r>
              <a:rPr lang="en-US" sz="3067" b="1" kern="0" spc="-61" dirty="0">
                <a:solidFill>
                  <a:srgbClr val="1A1A2E"/>
                </a:solidFill>
                <a:latin typeface="Inter" pitchFamily="34" charset="0"/>
                <a:ea typeface="Inter" pitchFamily="34" charset="-122"/>
                <a:cs typeface="Inter" pitchFamily="34" charset="-120"/>
              </a:rPr>
              <a:t>        an Instant AI-Clinical Assistant?</a:t>
            </a:r>
            <a:endParaRPr lang="en-US" sz="3067" dirty="0"/>
          </a:p>
        </p:txBody>
      </p:sp>
      <p:sp>
        <p:nvSpPr>
          <p:cNvPr id="7" name="Shape 5"/>
          <p:cNvSpPr/>
          <p:nvPr/>
        </p:nvSpPr>
        <p:spPr>
          <a:xfrm>
            <a:off x="976611" y="1918048"/>
            <a:ext cx="4965700" cy="1593849"/>
          </a:xfrm>
          <a:prstGeom prst="roundRect">
            <a:avLst>
              <a:gd name="adj" fmla="val 6120"/>
            </a:avLst>
          </a:prstGeom>
          <a:solidFill>
            <a:srgbClr val="192C4F"/>
          </a:solidFill>
          <a:ln/>
        </p:spPr>
        <p:txBody>
          <a:bodyPr/>
          <a:lstStyle/>
          <a:p>
            <a:endParaRPr lang="en-US" sz="3200">
              <a:solidFill>
                <a:schemeClr val="bg1"/>
              </a:solidFill>
            </a:endParaRPr>
          </a:p>
        </p:txBody>
      </p:sp>
      <p:sp>
        <p:nvSpPr>
          <p:cNvPr id="8" name="Shape 6"/>
          <p:cNvSpPr/>
          <p:nvPr/>
        </p:nvSpPr>
        <p:spPr>
          <a:xfrm>
            <a:off x="1280120" y="2123183"/>
            <a:ext cx="304800" cy="25400"/>
          </a:xfrm>
          <a:prstGeom prst="rect">
            <a:avLst/>
          </a:prstGeom>
          <a:solidFill>
            <a:srgbClr val="2A7B7B"/>
          </a:solidFill>
          <a:ln/>
        </p:spPr>
        <p:txBody>
          <a:bodyPr/>
          <a:lstStyle/>
          <a:p>
            <a:endParaRPr lang="en-US" sz="3200">
              <a:solidFill>
                <a:schemeClr val="bg1"/>
              </a:solidFill>
            </a:endParaRPr>
          </a:p>
        </p:txBody>
      </p:sp>
      <p:sp>
        <p:nvSpPr>
          <p:cNvPr id="9" name="Text 7"/>
          <p:cNvSpPr/>
          <p:nvPr/>
        </p:nvSpPr>
        <p:spPr>
          <a:xfrm>
            <a:off x="1280121" y="2238177"/>
            <a:ext cx="2053015" cy="190500"/>
          </a:xfrm>
          <a:prstGeom prst="rect">
            <a:avLst/>
          </a:prstGeom>
          <a:noFill/>
          <a:ln/>
        </p:spPr>
        <p:txBody>
          <a:bodyPr wrap="none" lIns="0" tIns="0" rIns="0" bIns="0" rtlCol="0" anchor="ctr"/>
          <a:lstStyle/>
          <a:p>
            <a:r>
              <a:rPr lang="en-US" sz="1600" b="1" dirty="0">
                <a:solidFill>
                  <a:schemeClr val="bg1"/>
                </a:solidFill>
                <a:latin typeface="Inter" pitchFamily="34" charset="0"/>
                <a:ea typeface="Inter" pitchFamily="34" charset="-122"/>
                <a:cs typeface="Inter" pitchFamily="34" charset="-120"/>
              </a:rPr>
              <a:t>Immediate Analysis</a:t>
            </a:r>
            <a:endParaRPr lang="en-US" sz="1600" dirty="0">
              <a:solidFill>
                <a:schemeClr val="bg1"/>
              </a:solidFill>
            </a:endParaRPr>
          </a:p>
        </p:txBody>
      </p:sp>
      <p:sp>
        <p:nvSpPr>
          <p:cNvPr id="10" name="Text 8"/>
          <p:cNvSpPr/>
          <p:nvPr/>
        </p:nvSpPr>
        <p:spPr>
          <a:xfrm>
            <a:off x="1280121" y="2545458"/>
            <a:ext cx="4246036" cy="722512"/>
          </a:xfrm>
          <a:prstGeom prst="rect">
            <a:avLst/>
          </a:prstGeom>
          <a:noFill/>
          <a:ln/>
        </p:spPr>
        <p:txBody>
          <a:bodyPr wrap="none" lIns="0" tIns="0" rIns="0" bIns="0" rtlCol="0" anchor="t"/>
          <a:lstStyle/>
          <a:p>
            <a:pPr>
              <a:lnSpc>
                <a:spcPts val="1765"/>
              </a:lnSpc>
            </a:pPr>
            <a:r>
              <a:rPr lang="en-US" sz="1600" dirty="0">
                <a:solidFill>
                  <a:srgbClr val="C9D6E8"/>
                </a:solidFill>
                <a:latin typeface="Inter" pitchFamily="34" charset="0"/>
                <a:ea typeface="Inter" pitchFamily="34" charset="-122"/>
                <a:cs typeface="Inter" pitchFamily="34" charset="-120"/>
              </a:rPr>
              <a:t>Reviews every retinal image immediately after </a:t>
            </a:r>
          </a:p>
          <a:p>
            <a:pPr>
              <a:lnSpc>
                <a:spcPts val="1765"/>
              </a:lnSpc>
            </a:pPr>
            <a:r>
              <a:rPr lang="en-US" sz="1600" dirty="0">
                <a:solidFill>
                  <a:srgbClr val="C9D6E8"/>
                </a:solidFill>
                <a:latin typeface="Inter" pitchFamily="34" charset="0"/>
                <a:ea typeface="Inter" pitchFamily="34" charset="-122"/>
                <a:cs typeface="Inter" pitchFamily="34" charset="-120"/>
              </a:rPr>
              <a:t>capturing and delivering</a:t>
            </a:r>
            <a:r>
              <a:rPr lang="en-US" sz="1600" dirty="0">
                <a:solidFill>
                  <a:srgbClr val="C9D6E8"/>
                </a:solidFill>
              </a:rPr>
              <a:t> </a:t>
            </a:r>
            <a:r>
              <a:rPr lang="en-US" sz="1600" dirty="0">
                <a:solidFill>
                  <a:srgbClr val="C9D6E8"/>
                </a:solidFill>
                <a:latin typeface="Inter" pitchFamily="34" charset="0"/>
                <a:ea typeface="Inter" pitchFamily="34" charset="-122"/>
                <a:cs typeface="Inter" pitchFamily="34" charset="-120"/>
              </a:rPr>
              <a:t>results in seconds.</a:t>
            </a:r>
            <a:endParaRPr lang="en-US" sz="1600" dirty="0">
              <a:solidFill>
                <a:srgbClr val="C9D6E8"/>
              </a:solidFill>
            </a:endParaRPr>
          </a:p>
        </p:txBody>
      </p:sp>
      <p:sp>
        <p:nvSpPr>
          <p:cNvPr id="11" name="Shape 9"/>
          <p:cNvSpPr/>
          <p:nvPr/>
        </p:nvSpPr>
        <p:spPr>
          <a:xfrm>
            <a:off x="6249690" y="1918048"/>
            <a:ext cx="4965700" cy="1593849"/>
          </a:xfrm>
          <a:prstGeom prst="roundRect">
            <a:avLst>
              <a:gd name="adj" fmla="val 6120"/>
            </a:avLst>
          </a:prstGeom>
          <a:solidFill>
            <a:srgbClr val="192C4F"/>
          </a:solidFill>
          <a:ln/>
        </p:spPr>
        <p:txBody>
          <a:bodyPr/>
          <a:lstStyle/>
          <a:p>
            <a:endParaRPr lang="en-US" sz="3200">
              <a:solidFill>
                <a:schemeClr val="bg1"/>
              </a:solidFill>
            </a:endParaRPr>
          </a:p>
        </p:txBody>
      </p:sp>
      <p:sp>
        <p:nvSpPr>
          <p:cNvPr id="12" name="Shape 10"/>
          <p:cNvSpPr/>
          <p:nvPr/>
        </p:nvSpPr>
        <p:spPr>
          <a:xfrm>
            <a:off x="6553200" y="2123183"/>
            <a:ext cx="304800" cy="25400"/>
          </a:xfrm>
          <a:prstGeom prst="rect">
            <a:avLst/>
          </a:prstGeom>
          <a:solidFill>
            <a:srgbClr val="2A7B7B"/>
          </a:solidFill>
          <a:ln/>
        </p:spPr>
        <p:txBody>
          <a:bodyPr/>
          <a:lstStyle/>
          <a:p>
            <a:endParaRPr lang="en-US" sz="3200">
              <a:solidFill>
                <a:schemeClr val="bg1"/>
              </a:solidFill>
            </a:endParaRPr>
          </a:p>
        </p:txBody>
      </p:sp>
      <p:sp>
        <p:nvSpPr>
          <p:cNvPr id="13" name="Text 11"/>
          <p:cNvSpPr/>
          <p:nvPr/>
        </p:nvSpPr>
        <p:spPr>
          <a:xfrm>
            <a:off x="6553200" y="2238177"/>
            <a:ext cx="1846768" cy="190500"/>
          </a:xfrm>
          <a:prstGeom prst="rect">
            <a:avLst/>
          </a:prstGeom>
          <a:noFill/>
          <a:ln/>
        </p:spPr>
        <p:txBody>
          <a:bodyPr wrap="none" lIns="0" tIns="0" rIns="0" bIns="0" rtlCol="0" anchor="ctr"/>
          <a:lstStyle/>
          <a:p>
            <a:r>
              <a:rPr lang="en-US" sz="1600" b="1" dirty="0">
                <a:solidFill>
                  <a:schemeClr val="bg1"/>
                </a:solidFill>
                <a:latin typeface="Inter" pitchFamily="34" charset="0"/>
                <a:ea typeface="Inter" pitchFamily="34" charset="-122"/>
                <a:cs typeface="Inter" pitchFamily="34" charset="-120"/>
              </a:rPr>
              <a:t>Risk Prioritization</a:t>
            </a:r>
            <a:endParaRPr lang="en-US" sz="1600" dirty="0">
              <a:solidFill>
                <a:schemeClr val="bg1"/>
              </a:solidFill>
            </a:endParaRPr>
          </a:p>
        </p:txBody>
      </p:sp>
      <p:sp>
        <p:nvSpPr>
          <p:cNvPr id="14" name="Text 12"/>
          <p:cNvSpPr/>
          <p:nvPr/>
        </p:nvSpPr>
        <p:spPr>
          <a:xfrm>
            <a:off x="6553202" y="2545458"/>
            <a:ext cx="4567266" cy="389335"/>
          </a:xfrm>
          <a:prstGeom prst="rect">
            <a:avLst/>
          </a:prstGeom>
          <a:noFill/>
          <a:ln/>
        </p:spPr>
        <p:txBody>
          <a:bodyPr wrap="none" lIns="0" tIns="0" rIns="0" bIns="0" rtlCol="0" anchor="t"/>
          <a:lstStyle/>
          <a:p>
            <a:pPr>
              <a:lnSpc>
                <a:spcPts val="1765"/>
              </a:lnSpc>
            </a:pPr>
            <a:r>
              <a:rPr lang="en-US" sz="1600" dirty="0">
                <a:solidFill>
                  <a:srgbClr val="C9D6E8"/>
                </a:solidFill>
                <a:latin typeface="Inter" pitchFamily="34" charset="0"/>
                <a:ea typeface="Inter" pitchFamily="34" charset="-122"/>
                <a:cs typeface="Inter" pitchFamily="34" charset="-120"/>
              </a:rPr>
              <a:t>Prioritizes high-risk cases for faster clinical attention, </a:t>
            </a:r>
          </a:p>
          <a:p>
            <a:pPr>
              <a:lnSpc>
                <a:spcPts val="1765"/>
              </a:lnSpc>
            </a:pPr>
            <a:r>
              <a:rPr lang="en-US" sz="1600" dirty="0">
                <a:solidFill>
                  <a:srgbClr val="C9D6E8"/>
                </a:solidFill>
                <a:latin typeface="Inter" pitchFamily="34" charset="0"/>
                <a:ea typeface="Inter" pitchFamily="34" charset="-122"/>
                <a:cs typeface="Inter" pitchFamily="34" charset="-120"/>
              </a:rPr>
              <a:t>so the most</a:t>
            </a:r>
            <a:r>
              <a:rPr lang="en-US" sz="1600" dirty="0">
                <a:solidFill>
                  <a:srgbClr val="C9D6E8"/>
                </a:solidFill>
              </a:rPr>
              <a:t> </a:t>
            </a:r>
            <a:r>
              <a:rPr lang="en-US" sz="1600" dirty="0">
                <a:solidFill>
                  <a:srgbClr val="C9D6E8"/>
                </a:solidFill>
                <a:latin typeface="Inter" pitchFamily="34" charset="0"/>
                <a:ea typeface="Inter" pitchFamily="34" charset="-122"/>
                <a:cs typeface="Inter" pitchFamily="34" charset="-120"/>
              </a:rPr>
              <a:t>urgent patients are never missed.</a:t>
            </a:r>
            <a:endParaRPr lang="en-US" sz="1600" dirty="0">
              <a:solidFill>
                <a:srgbClr val="C9D6E8"/>
              </a:solidFill>
            </a:endParaRPr>
          </a:p>
        </p:txBody>
      </p:sp>
      <p:sp>
        <p:nvSpPr>
          <p:cNvPr id="15" name="Shape 13"/>
          <p:cNvSpPr/>
          <p:nvPr/>
        </p:nvSpPr>
        <p:spPr>
          <a:xfrm>
            <a:off x="976611" y="3648968"/>
            <a:ext cx="4965700" cy="1600200"/>
          </a:xfrm>
          <a:prstGeom prst="roundRect">
            <a:avLst>
              <a:gd name="adj" fmla="val 6095"/>
            </a:avLst>
          </a:prstGeom>
          <a:solidFill>
            <a:srgbClr val="192C4F"/>
          </a:solidFill>
          <a:ln/>
        </p:spPr>
        <p:txBody>
          <a:bodyPr/>
          <a:lstStyle/>
          <a:p>
            <a:endParaRPr lang="en-US" sz="3200">
              <a:solidFill>
                <a:schemeClr val="bg1"/>
              </a:solidFill>
            </a:endParaRPr>
          </a:p>
        </p:txBody>
      </p:sp>
      <p:sp>
        <p:nvSpPr>
          <p:cNvPr id="16" name="Shape 14"/>
          <p:cNvSpPr/>
          <p:nvPr/>
        </p:nvSpPr>
        <p:spPr>
          <a:xfrm>
            <a:off x="1280120" y="3857228"/>
            <a:ext cx="304800" cy="25400"/>
          </a:xfrm>
          <a:prstGeom prst="rect">
            <a:avLst/>
          </a:prstGeom>
          <a:solidFill>
            <a:srgbClr val="2A7B7B"/>
          </a:solidFill>
          <a:ln/>
        </p:spPr>
        <p:txBody>
          <a:bodyPr/>
          <a:lstStyle/>
          <a:p>
            <a:endParaRPr lang="en-US" sz="3200">
              <a:solidFill>
                <a:schemeClr val="bg1"/>
              </a:solidFill>
            </a:endParaRPr>
          </a:p>
        </p:txBody>
      </p:sp>
      <p:sp>
        <p:nvSpPr>
          <p:cNvPr id="17" name="Text 15"/>
          <p:cNvSpPr/>
          <p:nvPr/>
        </p:nvSpPr>
        <p:spPr>
          <a:xfrm>
            <a:off x="1280120" y="3972223"/>
            <a:ext cx="1604149" cy="190500"/>
          </a:xfrm>
          <a:prstGeom prst="rect">
            <a:avLst/>
          </a:prstGeom>
          <a:noFill/>
          <a:ln/>
        </p:spPr>
        <p:txBody>
          <a:bodyPr wrap="none" lIns="0" tIns="0" rIns="0" bIns="0" rtlCol="0" anchor="ctr"/>
          <a:lstStyle/>
          <a:p>
            <a:r>
              <a:rPr lang="en-US" sz="1600" b="1" dirty="0">
                <a:solidFill>
                  <a:schemeClr val="bg1"/>
                </a:solidFill>
                <a:latin typeface="Inter" pitchFamily="34" charset="0"/>
                <a:ea typeface="Inter" pitchFamily="34" charset="-122"/>
                <a:cs typeface="Inter" pitchFamily="34" charset="-120"/>
              </a:rPr>
              <a:t>Clinician Focus</a:t>
            </a:r>
            <a:endParaRPr lang="en-US" sz="1600" dirty="0">
              <a:solidFill>
                <a:schemeClr val="bg1"/>
              </a:solidFill>
            </a:endParaRPr>
          </a:p>
        </p:txBody>
      </p:sp>
      <p:sp>
        <p:nvSpPr>
          <p:cNvPr id="18" name="Text 16"/>
          <p:cNvSpPr/>
          <p:nvPr/>
        </p:nvSpPr>
        <p:spPr>
          <a:xfrm>
            <a:off x="1280120" y="4279503"/>
            <a:ext cx="4450499" cy="389335"/>
          </a:xfrm>
          <a:prstGeom prst="rect">
            <a:avLst/>
          </a:prstGeom>
          <a:noFill/>
          <a:ln/>
        </p:spPr>
        <p:txBody>
          <a:bodyPr wrap="none" lIns="0" tIns="0" rIns="0" bIns="0" rtlCol="0" anchor="t"/>
          <a:lstStyle/>
          <a:p>
            <a:pPr>
              <a:lnSpc>
                <a:spcPts val="1765"/>
              </a:lnSpc>
            </a:pPr>
            <a:r>
              <a:rPr lang="en-US" sz="1600" dirty="0">
                <a:solidFill>
                  <a:srgbClr val="C9D6E8"/>
                </a:solidFill>
                <a:latin typeface="Inter" pitchFamily="34" charset="0"/>
                <a:ea typeface="Inter" pitchFamily="34" charset="-122"/>
                <a:cs typeface="Inter" pitchFamily="34" charset="-120"/>
              </a:rPr>
              <a:t>Allows clinicians to dedicate more time to patients who </a:t>
            </a:r>
          </a:p>
          <a:p>
            <a:pPr>
              <a:lnSpc>
                <a:spcPts val="1765"/>
              </a:lnSpc>
            </a:pPr>
            <a:r>
              <a:rPr lang="en-US" sz="1600" dirty="0">
                <a:solidFill>
                  <a:srgbClr val="C9D6E8"/>
                </a:solidFill>
                <a:latin typeface="Inter" pitchFamily="34" charset="0"/>
                <a:ea typeface="Inter" pitchFamily="34" charset="-122"/>
                <a:cs typeface="Inter" pitchFamily="34" charset="-120"/>
              </a:rPr>
              <a:t>need it</a:t>
            </a:r>
            <a:r>
              <a:rPr lang="en-US" sz="1600" dirty="0">
                <a:solidFill>
                  <a:srgbClr val="C9D6E8"/>
                </a:solidFill>
              </a:rPr>
              <a:t> </a:t>
            </a:r>
            <a:r>
              <a:rPr lang="en-US" sz="1600" dirty="0">
                <a:solidFill>
                  <a:srgbClr val="C9D6E8"/>
                </a:solidFill>
                <a:latin typeface="Inter" pitchFamily="34" charset="0"/>
                <a:ea typeface="Inter" pitchFamily="34" charset="-122"/>
                <a:cs typeface="Inter" pitchFamily="34" charset="-120"/>
              </a:rPr>
              <a:t>most, not routine reviews.</a:t>
            </a:r>
            <a:endParaRPr lang="en-US" sz="1600" dirty="0">
              <a:solidFill>
                <a:srgbClr val="C9D6E8"/>
              </a:solidFill>
            </a:endParaRPr>
          </a:p>
        </p:txBody>
      </p:sp>
      <p:sp>
        <p:nvSpPr>
          <p:cNvPr id="19" name="Shape 17"/>
          <p:cNvSpPr/>
          <p:nvPr/>
        </p:nvSpPr>
        <p:spPr>
          <a:xfrm>
            <a:off x="6249690" y="3648968"/>
            <a:ext cx="4965700" cy="1600200"/>
          </a:xfrm>
          <a:prstGeom prst="roundRect">
            <a:avLst>
              <a:gd name="adj" fmla="val 6095"/>
            </a:avLst>
          </a:prstGeom>
          <a:solidFill>
            <a:srgbClr val="192C4F"/>
          </a:solidFill>
          <a:ln/>
        </p:spPr>
        <p:txBody>
          <a:bodyPr/>
          <a:lstStyle/>
          <a:p>
            <a:endParaRPr lang="en-US" sz="3200">
              <a:solidFill>
                <a:schemeClr val="bg1"/>
              </a:solidFill>
            </a:endParaRPr>
          </a:p>
        </p:txBody>
      </p:sp>
      <p:sp>
        <p:nvSpPr>
          <p:cNvPr id="20" name="Shape 18"/>
          <p:cNvSpPr/>
          <p:nvPr/>
        </p:nvSpPr>
        <p:spPr>
          <a:xfrm>
            <a:off x="6553200" y="3857228"/>
            <a:ext cx="304800" cy="25400"/>
          </a:xfrm>
          <a:prstGeom prst="rect">
            <a:avLst/>
          </a:prstGeom>
          <a:solidFill>
            <a:srgbClr val="2A7B7B"/>
          </a:solidFill>
          <a:ln/>
        </p:spPr>
        <p:txBody>
          <a:bodyPr/>
          <a:lstStyle/>
          <a:p>
            <a:endParaRPr lang="en-US" sz="3200">
              <a:solidFill>
                <a:schemeClr val="bg1"/>
              </a:solidFill>
            </a:endParaRPr>
          </a:p>
        </p:txBody>
      </p:sp>
      <p:sp>
        <p:nvSpPr>
          <p:cNvPr id="21" name="Text 19"/>
          <p:cNvSpPr/>
          <p:nvPr/>
        </p:nvSpPr>
        <p:spPr>
          <a:xfrm>
            <a:off x="6553200" y="3972223"/>
            <a:ext cx="2468344" cy="190500"/>
          </a:xfrm>
          <a:prstGeom prst="rect">
            <a:avLst/>
          </a:prstGeom>
          <a:noFill/>
          <a:ln/>
        </p:spPr>
        <p:txBody>
          <a:bodyPr wrap="none" lIns="0" tIns="0" rIns="0" bIns="0" rtlCol="0" anchor="ctr"/>
          <a:lstStyle/>
          <a:p>
            <a:r>
              <a:rPr lang="en-US" sz="1600" b="1" dirty="0">
                <a:solidFill>
                  <a:schemeClr val="bg1"/>
                </a:solidFill>
                <a:latin typeface="Inter" pitchFamily="34" charset="0"/>
                <a:ea typeface="Inter" pitchFamily="34" charset="-122"/>
                <a:cs typeface="Inter" pitchFamily="34" charset="-120"/>
              </a:rPr>
              <a:t>Consistent Assessment</a:t>
            </a:r>
            <a:endParaRPr lang="en-US" sz="1600" dirty="0">
              <a:solidFill>
                <a:schemeClr val="bg1"/>
              </a:solidFill>
            </a:endParaRPr>
          </a:p>
        </p:txBody>
      </p:sp>
      <p:sp>
        <p:nvSpPr>
          <p:cNvPr id="22" name="Text 20"/>
          <p:cNvSpPr/>
          <p:nvPr/>
        </p:nvSpPr>
        <p:spPr>
          <a:xfrm>
            <a:off x="6553201" y="4279503"/>
            <a:ext cx="4567268" cy="389335"/>
          </a:xfrm>
          <a:prstGeom prst="rect">
            <a:avLst/>
          </a:prstGeom>
          <a:noFill/>
          <a:ln/>
        </p:spPr>
        <p:txBody>
          <a:bodyPr wrap="none" lIns="0" tIns="0" rIns="0" bIns="0" rtlCol="0" anchor="t"/>
          <a:lstStyle/>
          <a:p>
            <a:pPr>
              <a:lnSpc>
                <a:spcPts val="1765"/>
              </a:lnSpc>
            </a:pPr>
            <a:r>
              <a:rPr lang="en-US" sz="1600" dirty="0">
                <a:solidFill>
                  <a:srgbClr val="C9D6E8"/>
                </a:solidFill>
                <a:latin typeface="Inter" pitchFamily="34" charset="0"/>
                <a:ea typeface="Inter" pitchFamily="34" charset="-122"/>
                <a:cs typeface="Inter" pitchFamily="34" charset="-120"/>
              </a:rPr>
              <a:t>Delivers standardized, fatigue-free first-pass analysis, </a:t>
            </a:r>
          </a:p>
          <a:p>
            <a:pPr>
              <a:lnSpc>
                <a:spcPts val="1765"/>
              </a:lnSpc>
            </a:pPr>
            <a:r>
              <a:rPr lang="en-US" sz="1600" dirty="0">
                <a:solidFill>
                  <a:srgbClr val="C9D6E8"/>
                </a:solidFill>
                <a:latin typeface="Inter" pitchFamily="34" charset="0"/>
                <a:ea typeface="Inter" pitchFamily="34" charset="-122"/>
                <a:cs typeface="Inter" pitchFamily="34" charset="-120"/>
              </a:rPr>
              <a:t>Every</a:t>
            </a:r>
            <a:r>
              <a:rPr lang="en-US" sz="1600" dirty="0">
                <a:solidFill>
                  <a:srgbClr val="C9D6E8"/>
                </a:solidFill>
              </a:rPr>
              <a:t> </a:t>
            </a:r>
            <a:r>
              <a:rPr lang="en-US" sz="1600" dirty="0">
                <a:solidFill>
                  <a:srgbClr val="C9D6E8"/>
                </a:solidFill>
                <a:latin typeface="Inter" pitchFamily="34" charset="0"/>
                <a:ea typeface="Inter" pitchFamily="34" charset="-122"/>
                <a:cs typeface="Inter" pitchFamily="34" charset="-120"/>
              </a:rPr>
              <a:t>scan, every time.</a:t>
            </a:r>
            <a:endParaRPr lang="en-US" sz="1600" dirty="0">
              <a:solidFill>
                <a:srgbClr val="C9D6E8"/>
              </a:solidFill>
            </a:endParaRPr>
          </a:p>
        </p:txBody>
      </p:sp>
      <p:sp>
        <p:nvSpPr>
          <p:cNvPr id="23" name="Shape 21"/>
          <p:cNvSpPr/>
          <p:nvPr/>
        </p:nvSpPr>
        <p:spPr>
          <a:xfrm>
            <a:off x="974726" y="5452071"/>
            <a:ext cx="10242549" cy="241300"/>
          </a:xfrm>
          <a:prstGeom prst="rect">
            <a:avLst/>
          </a:prstGeom>
          <a:ln/>
        </p:spPr>
        <p:txBody>
          <a:bodyPr/>
          <a:lstStyle/>
          <a:p>
            <a:endParaRPr lang="en-US" sz="2800">
              <a:solidFill>
                <a:schemeClr val="bg1"/>
              </a:solidFill>
            </a:endParaRPr>
          </a:p>
        </p:txBody>
      </p:sp>
      <p:sp>
        <p:nvSpPr>
          <p:cNvPr id="24" name="Text 22"/>
          <p:cNvSpPr/>
          <p:nvPr/>
        </p:nvSpPr>
        <p:spPr>
          <a:xfrm>
            <a:off x="1311871" y="5465961"/>
            <a:ext cx="6122343" cy="203200"/>
          </a:xfrm>
          <a:prstGeom prst="rect">
            <a:avLst/>
          </a:prstGeom>
          <a:noFill/>
          <a:ln/>
        </p:spPr>
        <p:txBody>
          <a:bodyPr wrap="none" lIns="0" tIns="0" rIns="0" bIns="0" rtlCol="0" anchor="ctr"/>
          <a:lstStyle/>
          <a:p>
            <a:r>
              <a:rPr lang="en-US" sz="1400" i="1" dirty="0">
                <a:latin typeface="Inter" pitchFamily="34" charset="0"/>
                <a:ea typeface="Inter" pitchFamily="34" charset="-122"/>
                <a:cs typeface="Inter" pitchFamily="34" charset="-120"/>
              </a:rPr>
              <a:t>AI supports the clinician, it never replaces the clinician.</a:t>
            </a:r>
            <a:endParaRPr lang="en-US" sz="1400" dirty="0"/>
          </a:p>
        </p:txBody>
      </p:sp>
      <p:pic>
        <p:nvPicPr>
          <p:cNvPr id="2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4726" y="5452071"/>
            <a:ext cx="10242549" cy="241300"/>
          </a:xfrm>
          <a:prstGeom prst="rect">
            <a:avLst/>
          </a:prstGeom>
        </p:spPr>
      </p:pic>
      <p:sp>
        <p:nvSpPr>
          <p:cNvPr id="30" name="Shape 0">
            <a:extLst>
              <a:ext uri="{FF2B5EF4-FFF2-40B4-BE49-F238E27FC236}">
                <a16:creationId xmlns:a16="http://schemas.microsoft.com/office/drawing/2014/main" id="{B7994821-6C03-2557-11D3-EBC1AA2ABE97}"/>
              </a:ext>
            </a:extLst>
          </p:cNvPr>
          <p:cNvSpPr/>
          <p:nvPr/>
        </p:nvSpPr>
        <p:spPr>
          <a:xfrm>
            <a:off x="0" y="0"/>
            <a:ext cx="12191695" cy="64008"/>
          </a:xfrm>
          <a:prstGeom prst="rect">
            <a:avLst/>
          </a:prstGeom>
          <a:solidFill>
            <a:srgbClr val="192C4F"/>
          </a:solidFill>
          <a:ln/>
        </p:spPr>
        <p:txBody>
          <a:bodyPr/>
          <a:lstStyle/>
          <a:p>
            <a:endParaRPr lang="en-US"/>
          </a:p>
        </p:txBody>
      </p:sp>
      <p:sp>
        <p:nvSpPr>
          <p:cNvPr id="32" name="Text 0">
            <a:extLst>
              <a:ext uri="{FF2B5EF4-FFF2-40B4-BE49-F238E27FC236}">
                <a16:creationId xmlns:a16="http://schemas.microsoft.com/office/drawing/2014/main" id="{85B56010-4459-C095-3140-4C20065C7BF5}"/>
              </a:ext>
            </a:extLst>
          </p:cNvPr>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2C6FBB"/>
                </a:solidFill>
                <a:latin typeface="Inter"/>
                <a:ea typeface="Arial" pitchFamily="34" charset="-122"/>
                <a:cs typeface="Arial" pitchFamily="34" charset="-120"/>
              </a:rPr>
              <a:t>What if</a:t>
            </a:r>
            <a:endParaRPr lang="en-US" sz="1400" dirty="0">
              <a:latin typeface="Inte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FF2D-DB70-8B4D-5BD9-227F86FB6E7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6DC9092-96FB-8894-F126-B9A4FDCF661D}"/>
              </a:ext>
            </a:extLst>
          </p:cNvPr>
          <p:cNvSpPr/>
          <p:nvPr/>
        </p:nvSpPr>
        <p:spPr>
          <a:xfrm>
            <a:off x="558109" y="575583"/>
            <a:ext cx="11185855" cy="777240"/>
          </a:xfrm>
          <a:prstGeom prst="rect">
            <a:avLst/>
          </a:prstGeom>
          <a:noFill/>
          <a:ln/>
        </p:spPr>
        <p:txBody>
          <a:bodyPr wrap="square" lIns="0" tIns="0" rIns="0" bIns="0" rtlCol="0" anchor="t"/>
          <a:lstStyle/>
          <a:p>
            <a:r>
              <a:rPr lang="en-US" sz="2800" b="1" kern="0" spc="200" dirty="0">
                <a:latin typeface="Cambria" panose="02040503050406030204" pitchFamily="18" charset="0"/>
                <a:ea typeface="Cambria" panose="02040503050406030204" pitchFamily="18" charset="0"/>
                <a:cs typeface="Arial" pitchFamily="34" charset="-120"/>
              </a:rPr>
              <a:t>Five Diseases, Five Different Problems (dk what else to do in this slide, delete if u feel like)</a:t>
            </a:r>
            <a:endParaRPr lang="en-US" sz="2800" dirty="0">
              <a:latin typeface="Cambria" panose="02040503050406030204" pitchFamily="18" charset="0"/>
              <a:ea typeface="Cambria" panose="02040503050406030204" pitchFamily="18" charset="0"/>
            </a:endParaRPr>
          </a:p>
        </p:txBody>
      </p:sp>
      <p:sp>
        <p:nvSpPr>
          <p:cNvPr id="25" name="Shape 2">
            <a:extLst>
              <a:ext uri="{FF2B5EF4-FFF2-40B4-BE49-F238E27FC236}">
                <a16:creationId xmlns:a16="http://schemas.microsoft.com/office/drawing/2014/main" id="{6CA3B83B-BC30-38DF-B4DD-AD23492CA5DC}"/>
              </a:ext>
            </a:extLst>
          </p:cNvPr>
          <p:cNvSpPr/>
          <p:nvPr/>
        </p:nvSpPr>
        <p:spPr>
          <a:xfrm>
            <a:off x="987956" y="1600200"/>
            <a:ext cx="2217887" cy="2367643"/>
          </a:xfrm>
          <a:prstGeom prst="roundRect">
            <a:avLst>
              <a:gd name="adj" fmla="val 3333"/>
            </a:avLst>
          </a:prstGeom>
          <a:solidFill>
            <a:srgbClr val="0B2545"/>
          </a:solidFill>
          <a:ln/>
        </p:spPr>
        <p:txBody>
          <a:bodyPr/>
          <a:lstStyle/>
          <a:p>
            <a:endParaRPr lang="en-US"/>
          </a:p>
        </p:txBody>
      </p:sp>
      <p:sp>
        <p:nvSpPr>
          <p:cNvPr id="28" name="Shape 3">
            <a:extLst>
              <a:ext uri="{FF2B5EF4-FFF2-40B4-BE49-F238E27FC236}">
                <a16:creationId xmlns:a16="http://schemas.microsoft.com/office/drawing/2014/main" id="{57DBDD30-8EF8-0D77-C520-2555B033B181}"/>
              </a:ext>
            </a:extLst>
          </p:cNvPr>
          <p:cNvSpPr/>
          <p:nvPr/>
        </p:nvSpPr>
        <p:spPr>
          <a:xfrm>
            <a:off x="1667221" y="1960517"/>
            <a:ext cx="914400" cy="914400"/>
          </a:xfrm>
          <a:prstGeom prst="ellipse">
            <a:avLst/>
          </a:prstGeom>
          <a:solidFill>
            <a:srgbClr val="1E5F9E"/>
          </a:solidFill>
          <a:ln/>
        </p:spPr>
        <p:txBody>
          <a:bodyPr/>
          <a:lstStyle/>
          <a:p>
            <a:endParaRPr lang="en-US"/>
          </a:p>
        </p:txBody>
      </p:sp>
      <p:pic>
        <p:nvPicPr>
          <p:cNvPr id="31" name="Image 0" descr="/home/claude/icons/droplet.png">
            <a:extLst>
              <a:ext uri="{FF2B5EF4-FFF2-40B4-BE49-F238E27FC236}">
                <a16:creationId xmlns:a16="http://schemas.microsoft.com/office/drawing/2014/main" id="{A922FEA3-6BD5-9ADC-C7C7-AC7DDDBBCC99}"/>
              </a:ext>
            </a:extLst>
          </p:cNvPr>
          <p:cNvPicPr>
            <a:picLocks noChangeAspect="1"/>
          </p:cNvPicPr>
          <p:nvPr/>
        </p:nvPicPr>
        <p:blipFill>
          <a:blip r:embed="rId3"/>
          <a:stretch>
            <a:fillRect/>
          </a:stretch>
        </p:blipFill>
        <p:spPr>
          <a:xfrm>
            <a:off x="1848857" y="2106893"/>
            <a:ext cx="548640" cy="548640"/>
          </a:xfrm>
          <a:prstGeom prst="rect">
            <a:avLst/>
          </a:prstGeom>
        </p:spPr>
      </p:pic>
      <p:sp>
        <p:nvSpPr>
          <p:cNvPr id="35" name="Text 4">
            <a:extLst>
              <a:ext uri="{FF2B5EF4-FFF2-40B4-BE49-F238E27FC236}">
                <a16:creationId xmlns:a16="http://schemas.microsoft.com/office/drawing/2014/main" id="{562864FE-0E7A-FAAC-599C-F399BEA55315}"/>
              </a:ext>
            </a:extLst>
          </p:cNvPr>
          <p:cNvSpPr/>
          <p:nvPr/>
        </p:nvSpPr>
        <p:spPr>
          <a:xfrm>
            <a:off x="583310" y="2874917"/>
            <a:ext cx="3017520" cy="548640"/>
          </a:xfrm>
          <a:prstGeom prst="rect">
            <a:avLst/>
          </a:prstGeom>
          <a:noFill/>
          <a:ln/>
        </p:spPr>
        <p:txBody>
          <a:bodyPr wrap="square" rtlCol="0" anchor="ctr"/>
          <a:lstStyle/>
          <a:p>
            <a:pPr algn="ctr"/>
            <a:r>
              <a:rPr lang="en-US" b="1" dirty="0">
                <a:solidFill>
                  <a:srgbClr val="D9E4F1"/>
                </a:solidFill>
                <a:latin typeface="Calibri" pitchFamily="34" charset="0"/>
                <a:ea typeface="Calibri" pitchFamily="34" charset="-122"/>
                <a:cs typeface="Calibri" pitchFamily="34" charset="-120"/>
              </a:rPr>
              <a:t>OCT</a:t>
            </a:r>
            <a:endParaRPr lang="en-US" sz="1800" dirty="0"/>
          </a:p>
        </p:txBody>
      </p:sp>
      <p:sp>
        <p:nvSpPr>
          <p:cNvPr id="38" name="Text 5">
            <a:extLst>
              <a:ext uri="{FF2B5EF4-FFF2-40B4-BE49-F238E27FC236}">
                <a16:creationId xmlns:a16="http://schemas.microsoft.com/office/drawing/2014/main" id="{2053DCDE-F70F-0FC9-1A56-32511165A8A9}"/>
              </a:ext>
            </a:extLst>
          </p:cNvPr>
          <p:cNvSpPr/>
          <p:nvPr/>
        </p:nvSpPr>
        <p:spPr>
          <a:xfrm>
            <a:off x="1015469" y="3315789"/>
            <a:ext cx="2228468" cy="548640"/>
          </a:xfrm>
          <a:prstGeom prst="rect">
            <a:avLst/>
          </a:prstGeom>
          <a:noFill/>
          <a:ln/>
        </p:spPr>
        <p:txBody>
          <a:bodyPr wrap="square" rtlCol="0" anchor="ctr"/>
          <a:lstStyle/>
          <a:p>
            <a:pPr algn="ctr">
              <a:lnSpc>
                <a:spcPct val="120000"/>
              </a:lnSpc>
            </a:pPr>
            <a:r>
              <a:rPr lang="en-PK" sz="1100" b="1" dirty="0">
                <a:solidFill>
                  <a:srgbClr val="C9D6E8"/>
                </a:solidFill>
              </a:rPr>
              <a:t>Cross-sectional imaging of retinal</a:t>
            </a:r>
            <a:br>
              <a:rPr lang="en-PK" sz="1100" dirty="0">
                <a:solidFill>
                  <a:srgbClr val="C9D6E8"/>
                </a:solidFill>
              </a:rPr>
            </a:br>
            <a:r>
              <a:rPr lang="en-PK" sz="1100" b="1" dirty="0">
                <a:solidFill>
                  <a:srgbClr val="C9D6E8"/>
                </a:solidFill>
              </a:rPr>
              <a:t>layers for detailed eye analysis.</a:t>
            </a:r>
            <a:endParaRPr lang="en-US" sz="1100" b="1" dirty="0">
              <a:solidFill>
                <a:srgbClr val="C9D6E8"/>
              </a:solidFill>
            </a:endParaRPr>
          </a:p>
        </p:txBody>
      </p:sp>
      <p:sp>
        <p:nvSpPr>
          <p:cNvPr id="40" name="Shape 6">
            <a:extLst>
              <a:ext uri="{FF2B5EF4-FFF2-40B4-BE49-F238E27FC236}">
                <a16:creationId xmlns:a16="http://schemas.microsoft.com/office/drawing/2014/main" id="{79B23D51-16BB-4462-7494-81E0ECF6F2AB}"/>
              </a:ext>
            </a:extLst>
          </p:cNvPr>
          <p:cNvSpPr/>
          <p:nvPr/>
        </p:nvSpPr>
        <p:spPr>
          <a:xfrm>
            <a:off x="4644465" y="1600200"/>
            <a:ext cx="2414918" cy="2367643"/>
          </a:xfrm>
          <a:prstGeom prst="roundRect">
            <a:avLst>
              <a:gd name="adj" fmla="val 3333"/>
            </a:avLst>
          </a:prstGeom>
          <a:solidFill>
            <a:srgbClr val="0B2545"/>
          </a:solidFill>
          <a:ln/>
        </p:spPr>
        <p:txBody>
          <a:bodyPr/>
          <a:lstStyle/>
          <a:p>
            <a:endParaRPr lang="en-US" dirty="0"/>
          </a:p>
        </p:txBody>
      </p:sp>
      <p:sp>
        <p:nvSpPr>
          <p:cNvPr id="43" name="Shape 7">
            <a:extLst>
              <a:ext uri="{FF2B5EF4-FFF2-40B4-BE49-F238E27FC236}">
                <a16:creationId xmlns:a16="http://schemas.microsoft.com/office/drawing/2014/main" id="{3D9FF097-202C-236D-3A27-F5FBC8D42239}"/>
              </a:ext>
            </a:extLst>
          </p:cNvPr>
          <p:cNvSpPr/>
          <p:nvPr/>
        </p:nvSpPr>
        <p:spPr>
          <a:xfrm>
            <a:off x="5443475" y="1965960"/>
            <a:ext cx="914400" cy="914400"/>
          </a:xfrm>
          <a:prstGeom prst="ellipse">
            <a:avLst/>
          </a:prstGeom>
          <a:solidFill>
            <a:srgbClr val="1E5F9E"/>
          </a:solidFill>
          <a:ln/>
        </p:spPr>
        <p:txBody>
          <a:bodyPr/>
          <a:lstStyle/>
          <a:p>
            <a:endParaRPr lang="en-US"/>
          </a:p>
        </p:txBody>
      </p:sp>
      <p:pic>
        <p:nvPicPr>
          <p:cNvPr id="46" name="Image 1" descr="/home/claude/icons/radar.png">
            <a:extLst>
              <a:ext uri="{FF2B5EF4-FFF2-40B4-BE49-F238E27FC236}">
                <a16:creationId xmlns:a16="http://schemas.microsoft.com/office/drawing/2014/main" id="{8A63BB28-3A8B-2585-82E0-58CD0E45FCCC}"/>
              </a:ext>
            </a:extLst>
          </p:cNvPr>
          <p:cNvPicPr>
            <a:picLocks noChangeAspect="1"/>
          </p:cNvPicPr>
          <p:nvPr/>
        </p:nvPicPr>
        <p:blipFill>
          <a:blip r:embed="rId4"/>
          <a:stretch>
            <a:fillRect/>
          </a:stretch>
        </p:blipFill>
        <p:spPr>
          <a:xfrm>
            <a:off x="5626355" y="2148840"/>
            <a:ext cx="548640" cy="548640"/>
          </a:xfrm>
          <a:prstGeom prst="rect">
            <a:avLst/>
          </a:prstGeom>
        </p:spPr>
      </p:pic>
      <p:sp>
        <p:nvSpPr>
          <p:cNvPr id="48" name="Text 8">
            <a:extLst>
              <a:ext uri="{FF2B5EF4-FFF2-40B4-BE49-F238E27FC236}">
                <a16:creationId xmlns:a16="http://schemas.microsoft.com/office/drawing/2014/main" id="{A55A8D6D-D44F-0BDE-366B-9E090048C1A8}"/>
              </a:ext>
            </a:extLst>
          </p:cNvPr>
          <p:cNvSpPr/>
          <p:nvPr/>
        </p:nvSpPr>
        <p:spPr>
          <a:xfrm>
            <a:off x="4391915" y="2839248"/>
            <a:ext cx="3017520" cy="54864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Glaucoma</a:t>
            </a:r>
            <a:endParaRPr lang="en-US" sz="1800" dirty="0"/>
          </a:p>
        </p:txBody>
      </p:sp>
      <p:sp>
        <p:nvSpPr>
          <p:cNvPr id="51" name="Text 9">
            <a:extLst>
              <a:ext uri="{FF2B5EF4-FFF2-40B4-BE49-F238E27FC236}">
                <a16:creationId xmlns:a16="http://schemas.microsoft.com/office/drawing/2014/main" id="{945494B2-8DC1-AAE9-4E36-C143E43869DC}"/>
              </a:ext>
            </a:extLst>
          </p:cNvPr>
          <p:cNvSpPr/>
          <p:nvPr/>
        </p:nvSpPr>
        <p:spPr>
          <a:xfrm>
            <a:off x="4842421" y="3311181"/>
            <a:ext cx="2080727" cy="557856"/>
          </a:xfrm>
          <a:prstGeom prst="rect">
            <a:avLst/>
          </a:prstGeom>
          <a:noFill/>
          <a:ln/>
        </p:spPr>
        <p:txBody>
          <a:bodyPr wrap="square" rtlCol="0" anchor="ctr"/>
          <a:lstStyle/>
          <a:p>
            <a:pPr marL="0" indent="0" algn="ctr">
              <a:lnSpc>
                <a:spcPct val="120000"/>
              </a:lnSpc>
              <a:buNone/>
            </a:pPr>
            <a:r>
              <a:rPr lang="en-US" sz="1100" b="1" dirty="0">
                <a:solidFill>
                  <a:srgbClr val="C9D6E8"/>
                </a:solidFill>
                <a:latin typeface="Arial" pitchFamily="34" charset="0"/>
                <a:ea typeface="Arial" pitchFamily="34" charset="-122"/>
                <a:cs typeface="Arial" pitchFamily="34" charset="-120"/>
              </a:rPr>
              <a:t>Silent optic nerve damage.</a:t>
            </a:r>
            <a:endParaRPr lang="en-US" sz="1100" b="1" dirty="0"/>
          </a:p>
          <a:p>
            <a:pPr marL="0" indent="0" algn="ctr">
              <a:lnSpc>
                <a:spcPct val="120000"/>
              </a:lnSpc>
              <a:buNone/>
            </a:pPr>
            <a:r>
              <a:rPr lang="en-US" sz="1100" b="1" dirty="0">
                <a:solidFill>
                  <a:srgbClr val="C9D6E8"/>
                </a:solidFill>
                <a:latin typeface="Arial" pitchFamily="34" charset="0"/>
                <a:ea typeface="Arial" pitchFamily="34" charset="-122"/>
                <a:cs typeface="Arial" pitchFamily="34" charset="-120"/>
              </a:rPr>
              <a:t>No early symptoms.</a:t>
            </a:r>
            <a:endParaRPr lang="en-US" sz="1100" b="1" dirty="0"/>
          </a:p>
        </p:txBody>
      </p:sp>
      <p:sp>
        <p:nvSpPr>
          <p:cNvPr id="55" name="Shape 10">
            <a:extLst>
              <a:ext uri="{FF2B5EF4-FFF2-40B4-BE49-F238E27FC236}">
                <a16:creationId xmlns:a16="http://schemas.microsoft.com/office/drawing/2014/main" id="{F84C1755-943A-E8EF-DCDB-1D15518C9D54}"/>
              </a:ext>
            </a:extLst>
          </p:cNvPr>
          <p:cNvSpPr/>
          <p:nvPr/>
        </p:nvSpPr>
        <p:spPr>
          <a:xfrm>
            <a:off x="8486036" y="1600200"/>
            <a:ext cx="2552078" cy="2367643"/>
          </a:xfrm>
          <a:prstGeom prst="roundRect">
            <a:avLst>
              <a:gd name="adj" fmla="val 3333"/>
            </a:avLst>
          </a:prstGeom>
          <a:solidFill>
            <a:srgbClr val="0B2545"/>
          </a:solidFill>
          <a:ln/>
        </p:spPr>
        <p:txBody>
          <a:bodyPr/>
          <a:lstStyle/>
          <a:p>
            <a:endParaRPr lang="en-US"/>
          </a:p>
        </p:txBody>
      </p:sp>
      <p:sp>
        <p:nvSpPr>
          <p:cNvPr id="57" name="Shape 11">
            <a:extLst>
              <a:ext uri="{FF2B5EF4-FFF2-40B4-BE49-F238E27FC236}">
                <a16:creationId xmlns:a16="http://schemas.microsoft.com/office/drawing/2014/main" id="{6903E502-C56C-20EA-65F6-7C8AA49E1B4C}"/>
              </a:ext>
            </a:extLst>
          </p:cNvPr>
          <p:cNvSpPr/>
          <p:nvPr/>
        </p:nvSpPr>
        <p:spPr>
          <a:xfrm>
            <a:off x="9285046" y="1965960"/>
            <a:ext cx="914400" cy="914400"/>
          </a:xfrm>
          <a:prstGeom prst="ellipse">
            <a:avLst/>
          </a:prstGeom>
          <a:solidFill>
            <a:srgbClr val="1E5F9E"/>
          </a:solidFill>
          <a:ln/>
        </p:spPr>
        <p:txBody>
          <a:bodyPr/>
          <a:lstStyle/>
          <a:p>
            <a:endParaRPr lang="en-US"/>
          </a:p>
        </p:txBody>
      </p:sp>
      <p:pic>
        <p:nvPicPr>
          <p:cNvPr id="62" name="Image 2" descr="/home/claude/icons/scan-eye.png">
            <a:extLst>
              <a:ext uri="{FF2B5EF4-FFF2-40B4-BE49-F238E27FC236}">
                <a16:creationId xmlns:a16="http://schemas.microsoft.com/office/drawing/2014/main" id="{7624DFCB-8CB0-CA27-5EC6-AD47C01876D1}"/>
              </a:ext>
            </a:extLst>
          </p:cNvPr>
          <p:cNvPicPr>
            <a:picLocks noChangeAspect="1"/>
          </p:cNvPicPr>
          <p:nvPr/>
        </p:nvPicPr>
        <p:blipFill>
          <a:blip r:embed="rId5"/>
          <a:stretch>
            <a:fillRect/>
          </a:stretch>
        </p:blipFill>
        <p:spPr>
          <a:xfrm>
            <a:off x="9467926" y="2148840"/>
            <a:ext cx="548640" cy="548640"/>
          </a:xfrm>
          <a:prstGeom prst="rect">
            <a:avLst/>
          </a:prstGeom>
        </p:spPr>
      </p:pic>
      <p:sp>
        <p:nvSpPr>
          <p:cNvPr id="64" name="Text 12">
            <a:extLst>
              <a:ext uri="{FF2B5EF4-FFF2-40B4-BE49-F238E27FC236}">
                <a16:creationId xmlns:a16="http://schemas.microsoft.com/office/drawing/2014/main" id="{384022CB-A48B-1CA1-E51E-1DF6AEB760BB}"/>
              </a:ext>
            </a:extLst>
          </p:cNvPr>
          <p:cNvSpPr/>
          <p:nvPr/>
        </p:nvSpPr>
        <p:spPr>
          <a:xfrm>
            <a:off x="8300976" y="2839248"/>
            <a:ext cx="3017520" cy="548640"/>
          </a:xfrm>
          <a:prstGeom prst="rect">
            <a:avLst/>
          </a:prstGeom>
          <a:noFill/>
          <a:ln/>
        </p:spPr>
        <p:txBody>
          <a:bodyPr wrap="square" rtlCol="0" anchor="ctr"/>
          <a:lstStyle/>
          <a:p>
            <a:pPr algn="ctr"/>
            <a:r>
              <a:rPr lang="en-US" b="1" dirty="0">
                <a:solidFill>
                  <a:srgbClr val="D9E4F1"/>
                </a:solidFill>
                <a:latin typeface="Calibri" pitchFamily="34" charset="0"/>
                <a:ea typeface="Calibri" pitchFamily="34" charset="-122"/>
                <a:cs typeface="Calibri" pitchFamily="34" charset="-120"/>
              </a:rPr>
              <a:t>Corneal Ulcer</a:t>
            </a:r>
            <a:endParaRPr lang="en-US" dirty="0"/>
          </a:p>
        </p:txBody>
      </p:sp>
      <p:sp>
        <p:nvSpPr>
          <p:cNvPr id="66" name="Text 13">
            <a:extLst>
              <a:ext uri="{FF2B5EF4-FFF2-40B4-BE49-F238E27FC236}">
                <a16:creationId xmlns:a16="http://schemas.microsoft.com/office/drawing/2014/main" id="{7DAF6320-3DB9-618C-2B1A-108A792CEE99}"/>
              </a:ext>
            </a:extLst>
          </p:cNvPr>
          <p:cNvSpPr/>
          <p:nvPr/>
        </p:nvSpPr>
        <p:spPr>
          <a:xfrm>
            <a:off x="8515894" y="3255336"/>
            <a:ext cx="2587684" cy="548640"/>
          </a:xfrm>
          <a:prstGeom prst="rect">
            <a:avLst/>
          </a:prstGeom>
          <a:noFill/>
          <a:ln/>
        </p:spPr>
        <p:txBody>
          <a:bodyPr wrap="square" rtlCol="0" anchor="ctr"/>
          <a:lstStyle/>
          <a:p>
            <a:pPr algn="ctr">
              <a:lnSpc>
                <a:spcPct val="120000"/>
              </a:lnSpc>
            </a:pPr>
            <a:r>
              <a:rPr lang="en-PK" sz="1100" b="1" dirty="0">
                <a:solidFill>
                  <a:srgbClr val="C9D6E8"/>
                </a:solidFill>
              </a:rPr>
              <a:t>Infection or damage to the cornea</a:t>
            </a:r>
            <a:br>
              <a:rPr lang="en-PK" sz="1100" dirty="0">
                <a:solidFill>
                  <a:srgbClr val="C9D6E8"/>
                </a:solidFill>
              </a:rPr>
            </a:br>
            <a:r>
              <a:rPr lang="en-PK" sz="1100" b="1" dirty="0">
                <a:solidFill>
                  <a:srgbClr val="C9D6E8"/>
                </a:solidFill>
              </a:rPr>
              <a:t>evaluated with slit-lamp examination.</a:t>
            </a:r>
            <a:endParaRPr lang="en-US" sz="1100" b="1" dirty="0">
              <a:solidFill>
                <a:srgbClr val="C9D6E8"/>
              </a:solidFill>
            </a:endParaRPr>
          </a:p>
        </p:txBody>
      </p:sp>
      <p:sp>
        <p:nvSpPr>
          <p:cNvPr id="5" name="Shape 10">
            <a:extLst>
              <a:ext uri="{FF2B5EF4-FFF2-40B4-BE49-F238E27FC236}">
                <a16:creationId xmlns:a16="http://schemas.microsoft.com/office/drawing/2014/main" id="{D317F3FC-E6EA-1F2B-C3F9-47C019ABC911}"/>
              </a:ext>
            </a:extLst>
          </p:cNvPr>
          <p:cNvSpPr/>
          <p:nvPr/>
        </p:nvSpPr>
        <p:spPr>
          <a:xfrm>
            <a:off x="2607704" y="4093043"/>
            <a:ext cx="2552078" cy="2367643"/>
          </a:xfrm>
          <a:prstGeom prst="roundRect">
            <a:avLst>
              <a:gd name="adj" fmla="val 3333"/>
            </a:avLst>
          </a:prstGeom>
          <a:solidFill>
            <a:srgbClr val="0B2545"/>
          </a:solidFill>
          <a:ln/>
        </p:spPr>
        <p:txBody>
          <a:bodyPr/>
          <a:lstStyle/>
          <a:p>
            <a:endParaRPr lang="en-US"/>
          </a:p>
        </p:txBody>
      </p:sp>
      <p:sp>
        <p:nvSpPr>
          <p:cNvPr id="6" name="Shape 11">
            <a:extLst>
              <a:ext uri="{FF2B5EF4-FFF2-40B4-BE49-F238E27FC236}">
                <a16:creationId xmlns:a16="http://schemas.microsoft.com/office/drawing/2014/main" id="{29228167-B1E6-D21C-AD20-25A3BF9A491D}"/>
              </a:ext>
            </a:extLst>
          </p:cNvPr>
          <p:cNvSpPr/>
          <p:nvPr/>
        </p:nvSpPr>
        <p:spPr>
          <a:xfrm>
            <a:off x="3406714" y="4458803"/>
            <a:ext cx="914400" cy="914400"/>
          </a:xfrm>
          <a:prstGeom prst="ellipse">
            <a:avLst/>
          </a:prstGeom>
          <a:solidFill>
            <a:srgbClr val="1E5F9E"/>
          </a:solidFill>
          <a:ln/>
        </p:spPr>
        <p:txBody>
          <a:bodyPr/>
          <a:lstStyle/>
          <a:p>
            <a:endParaRPr lang="en-US"/>
          </a:p>
        </p:txBody>
      </p:sp>
      <p:pic>
        <p:nvPicPr>
          <p:cNvPr id="7" name="Image 2" descr="/home/claude/icons/scan-eye.png">
            <a:extLst>
              <a:ext uri="{FF2B5EF4-FFF2-40B4-BE49-F238E27FC236}">
                <a16:creationId xmlns:a16="http://schemas.microsoft.com/office/drawing/2014/main" id="{4477759C-6D78-3C45-861F-3FC0E6D018BC}"/>
              </a:ext>
            </a:extLst>
          </p:cNvPr>
          <p:cNvPicPr>
            <a:picLocks noChangeAspect="1"/>
          </p:cNvPicPr>
          <p:nvPr/>
        </p:nvPicPr>
        <p:blipFill>
          <a:blip r:embed="rId5"/>
          <a:stretch>
            <a:fillRect/>
          </a:stretch>
        </p:blipFill>
        <p:spPr>
          <a:xfrm>
            <a:off x="3589594" y="4641683"/>
            <a:ext cx="548640" cy="548640"/>
          </a:xfrm>
          <a:prstGeom prst="rect">
            <a:avLst/>
          </a:prstGeom>
        </p:spPr>
      </p:pic>
      <p:sp>
        <p:nvSpPr>
          <p:cNvPr id="8" name="Text 12">
            <a:extLst>
              <a:ext uri="{FF2B5EF4-FFF2-40B4-BE49-F238E27FC236}">
                <a16:creationId xmlns:a16="http://schemas.microsoft.com/office/drawing/2014/main" id="{1BCD886F-15CA-EF24-5175-20A3DF302099}"/>
              </a:ext>
            </a:extLst>
          </p:cNvPr>
          <p:cNvSpPr/>
          <p:nvPr/>
        </p:nvSpPr>
        <p:spPr>
          <a:xfrm>
            <a:off x="2422644" y="5332091"/>
            <a:ext cx="3017520" cy="548640"/>
          </a:xfrm>
          <a:prstGeom prst="rect">
            <a:avLst/>
          </a:prstGeom>
          <a:noFill/>
          <a:ln/>
        </p:spPr>
        <p:txBody>
          <a:bodyPr wrap="square" rtlCol="0" anchor="ctr"/>
          <a:lstStyle/>
          <a:p>
            <a:pPr algn="ctr"/>
            <a:r>
              <a:rPr lang="en-US" b="1" dirty="0">
                <a:solidFill>
                  <a:srgbClr val="D9E4F1"/>
                </a:solidFill>
                <a:latin typeface="Calibri" pitchFamily="34" charset="0"/>
                <a:ea typeface="Calibri" pitchFamily="34" charset="-122"/>
                <a:cs typeface="Calibri" pitchFamily="34" charset="-120"/>
              </a:rPr>
              <a:t>DR / HR</a:t>
            </a:r>
            <a:endParaRPr lang="en-US" dirty="0"/>
          </a:p>
        </p:txBody>
      </p:sp>
      <p:sp>
        <p:nvSpPr>
          <p:cNvPr id="9" name="Text 13">
            <a:extLst>
              <a:ext uri="{FF2B5EF4-FFF2-40B4-BE49-F238E27FC236}">
                <a16:creationId xmlns:a16="http://schemas.microsoft.com/office/drawing/2014/main" id="{A196D174-A72D-D18F-AE2F-012A237362FA}"/>
              </a:ext>
            </a:extLst>
          </p:cNvPr>
          <p:cNvSpPr/>
          <p:nvPr/>
        </p:nvSpPr>
        <p:spPr>
          <a:xfrm>
            <a:off x="2655365" y="5748179"/>
            <a:ext cx="2552078" cy="548640"/>
          </a:xfrm>
          <a:prstGeom prst="rect">
            <a:avLst/>
          </a:prstGeom>
          <a:noFill/>
          <a:ln/>
        </p:spPr>
        <p:txBody>
          <a:bodyPr wrap="square" rtlCol="0" anchor="ctr"/>
          <a:lstStyle/>
          <a:p>
            <a:pPr marL="0" indent="0" algn="ctr">
              <a:lnSpc>
                <a:spcPct val="120000"/>
              </a:lnSpc>
              <a:buNone/>
            </a:pPr>
            <a:r>
              <a:rPr lang="en-US" sz="1100" b="1" dirty="0">
                <a:solidFill>
                  <a:srgbClr val="C9D6E8"/>
                </a:solidFill>
                <a:latin typeface="Arial" pitchFamily="34" charset="0"/>
                <a:ea typeface="Arial" pitchFamily="34" charset="-122"/>
                <a:cs typeface="Arial" pitchFamily="34" charset="-120"/>
              </a:rPr>
              <a:t>Blood vessel damage caused by Diabetes and Blood Pressure</a:t>
            </a:r>
            <a:endParaRPr lang="en-US" sz="1100" b="1" dirty="0"/>
          </a:p>
        </p:txBody>
      </p:sp>
      <p:sp>
        <p:nvSpPr>
          <p:cNvPr id="15" name="Shape 10">
            <a:extLst>
              <a:ext uri="{FF2B5EF4-FFF2-40B4-BE49-F238E27FC236}">
                <a16:creationId xmlns:a16="http://schemas.microsoft.com/office/drawing/2014/main" id="{940A37A7-506D-2198-1423-69080B6AB167}"/>
              </a:ext>
            </a:extLst>
          </p:cNvPr>
          <p:cNvSpPr/>
          <p:nvPr/>
        </p:nvSpPr>
        <p:spPr>
          <a:xfrm>
            <a:off x="6499380" y="4103925"/>
            <a:ext cx="2552078" cy="2367643"/>
          </a:xfrm>
          <a:prstGeom prst="roundRect">
            <a:avLst>
              <a:gd name="adj" fmla="val 3333"/>
            </a:avLst>
          </a:prstGeom>
          <a:solidFill>
            <a:srgbClr val="0B2545"/>
          </a:solidFill>
          <a:ln/>
        </p:spPr>
        <p:txBody>
          <a:bodyPr/>
          <a:lstStyle/>
          <a:p>
            <a:endParaRPr lang="en-US"/>
          </a:p>
        </p:txBody>
      </p:sp>
      <p:sp>
        <p:nvSpPr>
          <p:cNvPr id="16" name="Shape 11">
            <a:extLst>
              <a:ext uri="{FF2B5EF4-FFF2-40B4-BE49-F238E27FC236}">
                <a16:creationId xmlns:a16="http://schemas.microsoft.com/office/drawing/2014/main" id="{967ADACB-5128-A5BB-BE17-A1FDF76A8874}"/>
              </a:ext>
            </a:extLst>
          </p:cNvPr>
          <p:cNvSpPr/>
          <p:nvPr/>
        </p:nvSpPr>
        <p:spPr>
          <a:xfrm>
            <a:off x="7298390" y="4469685"/>
            <a:ext cx="914400" cy="914400"/>
          </a:xfrm>
          <a:prstGeom prst="ellipse">
            <a:avLst/>
          </a:prstGeom>
          <a:solidFill>
            <a:srgbClr val="1E5F9E"/>
          </a:solidFill>
          <a:ln/>
        </p:spPr>
        <p:txBody>
          <a:bodyPr/>
          <a:lstStyle/>
          <a:p>
            <a:endParaRPr lang="en-US"/>
          </a:p>
        </p:txBody>
      </p:sp>
      <p:sp>
        <p:nvSpPr>
          <p:cNvPr id="18" name="Text 12">
            <a:extLst>
              <a:ext uri="{FF2B5EF4-FFF2-40B4-BE49-F238E27FC236}">
                <a16:creationId xmlns:a16="http://schemas.microsoft.com/office/drawing/2014/main" id="{497A243B-F20B-D8C0-BEE1-F2B02103843E}"/>
              </a:ext>
            </a:extLst>
          </p:cNvPr>
          <p:cNvSpPr/>
          <p:nvPr/>
        </p:nvSpPr>
        <p:spPr>
          <a:xfrm>
            <a:off x="6314320" y="5342973"/>
            <a:ext cx="3017520" cy="548640"/>
          </a:xfrm>
          <a:prstGeom prst="rect">
            <a:avLst/>
          </a:prstGeom>
          <a:noFill/>
          <a:ln/>
        </p:spPr>
        <p:txBody>
          <a:bodyPr wrap="square" rtlCol="0" anchor="ctr"/>
          <a:lstStyle/>
          <a:p>
            <a:pPr algn="ctr"/>
            <a:r>
              <a:rPr lang="en-US" b="1" dirty="0">
                <a:solidFill>
                  <a:srgbClr val="D9E4F1"/>
                </a:solidFill>
                <a:latin typeface="Calibri" pitchFamily="34" charset="0"/>
                <a:ea typeface="Calibri" pitchFamily="34" charset="-122"/>
                <a:cs typeface="Calibri" pitchFamily="34" charset="-120"/>
              </a:rPr>
              <a:t>VKG</a:t>
            </a:r>
            <a:endParaRPr lang="en-US" dirty="0"/>
          </a:p>
        </p:txBody>
      </p:sp>
      <p:sp>
        <p:nvSpPr>
          <p:cNvPr id="19" name="Text 13">
            <a:extLst>
              <a:ext uri="{FF2B5EF4-FFF2-40B4-BE49-F238E27FC236}">
                <a16:creationId xmlns:a16="http://schemas.microsoft.com/office/drawing/2014/main" id="{32EB63D7-49B3-BBC3-D261-1DB1AFEF3DF5}"/>
              </a:ext>
            </a:extLst>
          </p:cNvPr>
          <p:cNvSpPr/>
          <p:nvPr/>
        </p:nvSpPr>
        <p:spPr>
          <a:xfrm>
            <a:off x="6629704" y="5759061"/>
            <a:ext cx="2322860" cy="548640"/>
          </a:xfrm>
          <a:prstGeom prst="rect">
            <a:avLst/>
          </a:prstGeom>
          <a:noFill/>
          <a:ln/>
        </p:spPr>
        <p:txBody>
          <a:bodyPr wrap="square" rtlCol="0" anchor="ctr"/>
          <a:lstStyle/>
          <a:p>
            <a:pPr algn="ctr">
              <a:lnSpc>
                <a:spcPct val="120000"/>
              </a:lnSpc>
            </a:pPr>
            <a:r>
              <a:rPr lang="en-PK" sz="1100" b="1" dirty="0">
                <a:solidFill>
                  <a:srgbClr val="C9D6E8"/>
                </a:solidFill>
              </a:rPr>
              <a:t>Assesses glaucoma risk using</a:t>
            </a:r>
            <a:br>
              <a:rPr lang="en-PK" sz="1100" dirty="0">
                <a:solidFill>
                  <a:srgbClr val="C9D6E8"/>
                </a:solidFill>
              </a:rPr>
            </a:br>
            <a:r>
              <a:rPr lang="en-PK" sz="1100" b="1" dirty="0">
                <a:solidFill>
                  <a:srgbClr val="C9D6E8"/>
                </a:solidFill>
              </a:rPr>
              <a:t>the optic nerve cup-to-disc ratio.</a:t>
            </a:r>
            <a:endParaRPr lang="en-US" sz="1100" b="1" dirty="0">
              <a:solidFill>
                <a:srgbClr val="C9D6E8"/>
              </a:solidFill>
            </a:endParaRPr>
          </a:p>
        </p:txBody>
      </p:sp>
      <p:pic>
        <p:nvPicPr>
          <p:cNvPr id="26" name="Image 0" descr="/home/claude/icons/droplet.png">
            <a:extLst>
              <a:ext uri="{FF2B5EF4-FFF2-40B4-BE49-F238E27FC236}">
                <a16:creationId xmlns:a16="http://schemas.microsoft.com/office/drawing/2014/main" id="{1224F689-051E-64B0-3297-2E75FD9D457C}"/>
              </a:ext>
            </a:extLst>
          </p:cNvPr>
          <p:cNvPicPr>
            <a:picLocks noChangeAspect="1"/>
          </p:cNvPicPr>
          <p:nvPr/>
        </p:nvPicPr>
        <p:blipFill>
          <a:blip r:embed="rId3"/>
          <a:stretch>
            <a:fillRect/>
          </a:stretch>
        </p:blipFill>
        <p:spPr>
          <a:xfrm>
            <a:off x="7481270" y="4606845"/>
            <a:ext cx="548640" cy="548640"/>
          </a:xfrm>
          <a:prstGeom prst="rect">
            <a:avLst/>
          </a:prstGeom>
        </p:spPr>
      </p:pic>
      <p:sp>
        <p:nvSpPr>
          <p:cNvPr id="30" name="Shape 0">
            <a:extLst>
              <a:ext uri="{FF2B5EF4-FFF2-40B4-BE49-F238E27FC236}">
                <a16:creationId xmlns:a16="http://schemas.microsoft.com/office/drawing/2014/main" id="{5EEAEC49-0B3E-333E-2B0A-F6EECFE7BB77}"/>
              </a:ext>
            </a:extLst>
          </p:cNvPr>
          <p:cNvSpPr/>
          <p:nvPr/>
        </p:nvSpPr>
        <p:spPr>
          <a:xfrm>
            <a:off x="0" y="0"/>
            <a:ext cx="12191695" cy="64008"/>
          </a:xfrm>
          <a:prstGeom prst="rect">
            <a:avLst/>
          </a:prstGeom>
          <a:solidFill>
            <a:srgbClr val="192C4F"/>
          </a:solidFill>
          <a:ln/>
        </p:spPr>
        <p:txBody>
          <a:bodyPr/>
          <a:lstStyle/>
          <a:p>
            <a:endParaRPr lang="en-US"/>
          </a:p>
        </p:txBody>
      </p:sp>
    </p:spTree>
    <p:extLst>
      <p:ext uri="{BB962C8B-B14F-4D97-AF65-F5344CB8AC3E}">
        <p14:creationId xmlns:p14="http://schemas.microsoft.com/office/powerpoint/2010/main" val="173432099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0AD20-D778-7A71-4F07-6898C72BDF93}"/>
            </a:ext>
          </a:extLst>
        </p:cNvPr>
        <p:cNvGrpSpPr/>
        <p:nvPr/>
      </p:nvGrpSpPr>
      <p:grpSpPr>
        <a:xfrm>
          <a:off x="0" y="0"/>
          <a:ext cx="0" cy="0"/>
          <a:chOff x="0" y="0"/>
          <a:chExt cx="0" cy="0"/>
        </a:xfrm>
      </p:grpSpPr>
      <p:sp>
        <p:nvSpPr>
          <p:cNvPr id="64" name="Shape 0">
            <a:extLst>
              <a:ext uri="{FF2B5EF4-FFF2-40B4-BE49-F238E27FC236}">
                <a16:creationId xmlns:a16="http://schemas.microsoft.com/office/drawing/2014/main" id="{A02FD846-B81B-6148-4648-787B9E66F58D}"/>
              </a:ext>
            </a:extLst>
          </p:cNvPr>
          <p:cNvSpPr/>
          <p:nvPr/>
        </p:nvSpPr>
        <p:spPr>
          <a:xfrm>
            <a:off x="742014" y="-19842"/>
            <a:ext cx="1243584" cy="1243584"/>
          </a:xfrm>
          <a:prstGeom prst="ellipse">
            <a:avLst/>
          </a:prstGeom>
          <a:ln w="13970">
            <a:solidFill>
              <a:srgbClr val="18A99B">
                <a:alpha val="14000"/>
              </a:srgbClr>
            </a:solidFill>
            <a:prstDash val="solid"/>
          </a:ln>
        </p:spPr>
        <p:txBody>
          <a:bodyPr/>
          <a:lstStyle/>
          <a:p>
            <a:endParaRPr lang="en-US"/>
          </a:p>
        </p:txBody>
      </p:sp>
      <p:sp>
        <p:nvSpPr>
          <p:cNvPr id="65" name="Shape 1">
            <a:extLst>
              <a:ext uri="{FF2B5EF4-FFF2-40B4-BE49-F238E27FC236}">
                <a16:creationId xmlns:a16="http://schemas.microsoft.com/office/drawing/2014/main" id="{8662B089-959E-EAD0-1D93-339356104B3F}"/>
              </a:ext>
            </a:extLst>
          </p:cNvPr>
          <p:cNvSpPr/>
          <p:nvPr/>
        </p:nvSpPr>
        <p:spPr>
          <a:xfrm>
            <a:off x="120222" y="-641634"/>
            <a:ext cx="2487168" cy="2487168"/>
          </a:xfrm>
          <a:prstGeom prst="ellipse">
            <a:avLst/>
          </a:prstGeom>
          <a:ln w="13970">
            <a:solidFill>
              <a:srgbClr val="18A99B">
                <a:alpha val="14000"/>
              </a:srgbClr>
            </a:solidFill>
            <a:prstDash val="solid"/>
          </a:ln>
        </p:spPr>
        <p:txBody>
          <a:bodyPr/>
          <a:lstStyle/>
          <a:p>
            <a:endParaRPr lang="en-US"/>
          </a:p>
        </p:txBody>
      </p:sp>
      <p:sp>
        <p:nvSpPr>
          <p:cNvPr id="66" name="Shape 2">
            <a:extLst>
              <a:ext uri="{FF2B5EF4-FFF2-40B4-BE49-F238E27FC236}">
                <a16:creationId xmlns:a16="http://schemas.microsoft.com/office/drawing/2014/main" id="{51F12CCE-1135-971A-886E-F56DA4EFBAD8}"/>
              </a:ext>
            </a:extLst>
          </p:cNvPr>
          <p:cNvSpPr/>
          <p:nvPr/>
        </p:nvSpPr>
        <p:spPr>
          <a:xfrm>
            <a:off x="-501570" y="-1263426"/>
            <a:ext cx="3730752" cy="3730752"/>
          </a:xfrm>
          <a:prstGeom prst="ellipse">
            <a:avLst/>
          </a:prstGeom>
          <a:ln w="13970">
            <a:solidFill>
              <a:srgbClr val="18A99B">
                <a:alpha val="14000"/>
              </a:srgbClr>
            </a:solidFill>
            <a:prstDash val="solid"/>
          </a:ln>
        </p:spPr>
        <p:txBody>
          <a:bodyPr/>
          <a:lstStyle/>
          <a:p>
            <a:endParaRPr lang="en-US"/>
          </a:p>
        </p:txBody>
      </p:sp>
      <p:sp>
        <p:nvSpPr>
          <p:cNvPr id="57" name="Shape 0">
            <a:extLst>
              <a:ext uri="{FF2B5EF4-FFF2-40B4-BE49-F238E27FC236}">
                <a16:creationId xmlns:a16="http://schemas.microsoft.com/office/drawing/2014/main" id="{6CCE091B-467B-ACA6-2188-EC9A3788D4E7}"/>
              </a:ext>
            </a:extLst>
          </p:cNvPr>
          <p:cNvSpPr/>
          <p:nvPr/>
        </p:nvSpPr>
        <p:spPr>
          <a:xfrm>
            <a:off x="9104615" y="4781548"/>
            <a:ext cx="1243584" cy="1243584"/>
          </a:xfrm>
          <a:prstGeom prst="ellipse">
            <a:avLst/>
          </a:prstGeom>
          <a:ln w="13970">
            <a:solidFill>
              <a:srgbClr val="18A99B">
                <a:alpha val="14000"/>
              </a:srgbClr>
            </a:solidFill>
            <a:prstDash val="solid"/>
          </a:ln>
        </p:spPr>
        <p:txBody>
          <a:bodyPr/>
          <a:lstStyle/>
          <a:p>
            <a:endParaRPr lang="en-US"/>
          </a:p>
        </p:txBody>
      </p:sp>
      <p:sp>
        <p:nvSpPr>
          <p:cNvPr id="59" name="Shape 1">
            <a:extLst>
              <a:ext uri="{FF2B5EF4-FFF2-40B4-BE49-F238E27FC236}">
                <a16:creationId xmlns:a16="http://schemas.microsoft.com/office/drawing/2014/main" id="{89636B26-9325-F466-C84F-BA404F2342DF}"/>
              </a:ext>
            </a:extLst>
          </p:cNvPr>
          <p:cNvSpPr/>
          <p:nvPr/>
        </p:nvSpPr>
        <p:spPr>
          <a:xfrm>
            <a:off x="8482823" y="4159756"/>
            <a:ext cx="2487168" cy="2487168"/>
          </a:xfrm>
          <a:prstGeom prst="ellipse">
            <a:avLst/>
          </a:prstGeom>
          <a:ln w="13970">
            <a:solidFill>
              <a:srgbClr val="18A99B">
                <a:alpha val="14000"/>
              </a:srgbClr>
            </a:solidFill>
            <a:prstDash val="solid"/>
          </a:ln>
        </p:spPr>
        <p:txBody>
          <a:bodyPr/>
          <a:lstStyle/>
          <a:p>
            <a:endParaRPr lang="en-US"/>
          </a:p>
        </p:txBody>
      </p:sp>
      <p:sp>
        <p:nvSpPr>
          <p:cNvPr id="61" name="Shape 2">
            <a:extLst>
              <a:ext uri="{FF2B5EF4-FFF2-40B4-BE49-F238E27FC236}">
                <a16:creationId xmlns:a16="http://schemas.microsoft.com/office/drawing/2014/main" id="{0DCCA3D2-5143-E23A-E9C6-94D598F7FB4D}"/>
              </a:ext>
            </a:extLst>
          </p:cNvPr>
          <p:cNvSpPr/>
          <p:nvPr/>
        </p:nvSpPr>
        <p:spPr>
          <a:xfrm>
            <a:off x="7861031" y="3537964"/>
            <a:ext cx="3730752" cy="3730752"/>
          </a:xfrm>
          <a:prstGeom prst="ellipse">
            <a:avLst/>
          </a:prstGeom>
          <a:ln w="13970">
            <a:solidFill>
              <a:srgbClr val="18A99B">
                <a:alpha val="14000"/>
              </a:srgbClr>
            </a:solidFill>
            <a:prstDash val="solid"/>
          </a:ln>
        </p:spPr>
        <p:txBody>
          <a:bodyPr/>
          <a:lstStyle/>
          <a:p>
            <a:endParaRPr lang="en-US"/>
          </a:p>
        </p:txBody>
      </p:sp>
      <p:sp>
        <p:nvSpPr>
          <p:cNvPr id="2" name="Shape 0">
            <a:extLst>
              <a:ext uri="{FF2B5EF4-FFF2-40B4-BE49-F238E27FC236}">
                <a16:creationId xmlns:a16="http://schemas.microsoft.com/office/drawing/2014/main" id="{0371BD58-6EB5-9DC6-588C-361164E0A3E2}"/>
              </a:ext>
            </a:extLst>
          </p:cNvPr>
          <p:cNvSpPr/>
          <p:nvPr/>
        </p:nvSpPr>
        <p:spPr>
          <a:xfrm>
            <a:off x="0" y="0"/>
            <a:ext cx="12191695" cy="64008"/>
          </a:xfrm>
          <a:prstGeom prst="rect">
            <a:avLst/>
          </a:prstGeom>
          <a:solidFill>
            <a:srgbClr val="192C4F"/>
          </a:solidFill>
          <a:ln/>
        </p:spPr>
        <p:txBody>
          <a:bodyPr/>
          <a:lstStyle/>
          <a:p>
            <a:endParaRPr lang="en-US"/>
          </a:p>
        </p:txBody>
      </p:sp>
      <p:sp>
        <p:nvSpPr>
          <p:cNvPr id="3" name="Text 1">
            <a:extLst>
              <a:ext uri="{FF2B5EF4-FFF2-40B4-BE49-F238E27FC236}">
                <a16:creationId xmlns:a16="http://schemas.microsoft.com/office/drawing/2014/main" id="{21ED540C-7542-3065-05E1-16BD50FD1997}"/>
              </a:ext>
            </a:extLst>
          </p:cNvPr>
          <p:cNvSpPr/>
          <p:nvPr/>
        </p:nvSpPr>
        <p:spPr>
          <a:xfrm>
            <a:off x="612648" y="595895"/>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AI- Models</a:t>
            </a:r>
            <a:endParaRPr lang="en-US" sz="1150" dirty="0"/>
          </a:p>
        </p:txBody>
      </p:sp>
      <p:sp>
        <p:nvSpPr>
          <p:cNvPr id="4" name="Text 2">
            <a:extLst>
              <a:ext uri="{FF2B5EF4-FFF2-40B4-BE49-F238E27FC236}">
                <a16:creationId xmlns:a16="http://schemas.microsoft.com/office/drawing/2014/main" id="{3365CEA0-99D0-411A-F35A-2A42DE47BD6E}"/>
              </a:ext>
            </a:extLst>
          </p:cNvPr>
          <p:cNvSpPr/>
          <p:nvPr/>
        </p:nvSpPr>
        <p:spPr>
          <a:xfrm>
            <a:off x="523433" y="987552"/>
            <a:ext cx="11185855" cy="777240"/>
          </a:xfrm>
          <a:prstGeom prst="rect">
            <a:avLst/>
          </a:prstGeom>
          <a:noFill/>
          <a:ln/>
        </p:spPr>
        <p:txBody>
          <a:bodyPr wrap="square" lIns="0" tIns="0" rIns="0" bIns="0" rtlCol="0" anchor="t"/>
          <a:lstStyle/>
          <a:p>
            <a:pPr marL="0" indent="0">
              <a:lnSpc>
                <a:spcPct val="112000"/>
              </a:lnSpc>
              <a:buNone/>
            </a:pPr>
            <a:r>
              <a:rPr lang="en-US" sz="2300" b="1" dirty="0">
                <a:solidFill>
                  <a:srgbClr val="16324F"/>
                </a:solidFill>
                <a:latin typeface="Cambria" pitchFamily="34" charset="0"/>
                <a:ea typeface="Cambria" pitchFamily="34" charset="-122"/>
              </a:rPr>
              <a:t>Our 4 Models</a:t>
            </a:r>
            <a:endParaRPr lang="en-US" sz="2300" dirty="0"/>
          </a:p>
        </p:txBody>
      </p:sp>
      <p:sp>
        <p:nvSpPr>
          <p:cNvPr id="22" name="Shape 15">
            <a:extLst>
              <a:ext uri="{FF2B5EF4-FFF2-40B4-BE49-F238E27FC236}">
                <a16:creationId xmlns:a16="http://schemas.microsoft.com/office/drawing/2014/main" id="{EF7A27B9-2A9E-59A4-081D-D8F2D289C0A9}"/>
              </a:ext>
            </a:extLst>
          </p:cNvPr>
          <p:cNvSpPr/>
          <p:nvPr/>
        </p:nvSpPr>
        <p:spPr>
          <a:xfrm>
            <a:off x="502920" y="1754094"/>
            <a:ext cx="2631872" cy="3703320"/>
          </a:xfrm>
          <a:prstGeom prst="roundRect">
            <a:avLst>
              <a:gd name="adj" fmla="val 312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3" name="Shape 16">
            <a:extLst>
              <a:ext uri="{FF2B5EF4-FFF2-40B4-BE49-F238E27FC236}">
                <a16:creationId xmlns:a16="http://schemas.microsoft.com/office/drawing/2014/main" id="{91B8CCCD-47D6-F26E-021C-DE29D9CBF6C2}"/>
              </a:ext>
            </a:extLst>
          </p:cNvPr>
          <p:cNvSpPr/>
          <p:nvPr/>
        </p:nvSpPr>
        <p:spPr>
          <a:xfrm>
            <a:off x="740664" y="1991838"/>
            <a:ext cx="512064" cy="512064"/>
          </a:xfrm>
          <a:prstGeom prst="ellipse">
            <a:avLst/>
          </a:prstGeom>
          <a:solidFill>
            <a:srgbClr val="16324F"/>
          </a:solidFill>
          <a:ln/>
        </p:spPr>
        <p:txBody>
          <a:bodyPr/>
          <a:lstStyle/>
          <a:p>
            <a:endParaRPr lang="en-US"/>
          </a:p>
        </p:txBody>
      </p:sp>
      <p:pic>
        <p:nvPicPr>
          <p:cNvPr id="24" name="Image 5" descr="/home/claude/work/assets/icons/microscope-white.png">
            <a:extLst>
              <a:ext uri="{FF2B5EF4-FFF2-40B4-BE49-F238E27FC236}">
                <a16:creationId xmlns:a16="http://schemas.microsoft.com/office/drawing/2014/main" id="{DAB5B125-725C-1EB7-17F6-E97BD6529F57}"/>
              </a:ext>
            </a:extLst>
          </p:cNvPr>
          <p:cNvPicPr>
            <a:picLocks noChangeAspect="1"/>
          </p:cNvPicPr>
          <p:nvPr/>
        </p:nvPicPr>
        <p:blipFill>
          <a:blip r:embed="rId3"/>
          <a:stretch>
            <a:fillRect/>
          </a:stretch>
        </p:blipFill>
        <p:spPr>
          <a:xfrm>
            <a:off x="868680" y="2119854"/>
            <a:ext cx="256032" cy="256032"/>
          </a:xfrm>
          <a:prstGeom prst="rect">
            <a:avLst/>
          </a:prstGeom>
        </p:spPr>
      </p:pic>
      <p:sp>
        <p:nvSpPr>
          <p:cNvPr id="25" name="Shape 17">
            <a:extLst>
              <a:ext uri="{FF2B5EF4-FFF2-40B4-BE49-F238E27FC236}">
                <a16:creationId xmlns:a16="http://schemas.microsoft.com/office/drawing/2014/main" id="{00F8A1D8-550E-94DA-6B74-1158DADBB7C4}"/>
              </a:ext>
            </a:extLst>
          </p:cNvPr>
          <p:cNvSpPr/>
          <p:nvPr/>
        </p:nvSpPr>
        <p:spPr>
          <a:xfrm>
            <a:off x="2366696" y="2028414"/>
            <a:ext cx="566928" cy="329184"/>
          </a:xfrm>
          <a:prstGeom prst="roundRect">
            <a:avLst>
              <a:gd name="adj" fmla="val 50000"/>
            </a:avLst>
          </a:prstGeom>
          <a:solidFill>
            <a:srgbClr val="16324F"/>
          </a:solidFill>
          <a:ln/>
        </p:spPr>
        <p:txBody>
          <a:bodyPr/>
          <a:lstStyle/>
          <a:p>
            <a:endParaRPr lang="en-US"/>
          </a:p>
        </p:txBody>
      </p:sp>
      <p:sp>
        <p:nvSpPr>
          <p:cNvPr id="26" name="Text 18">
            <a:extLst>
              <a:ext uri="{FF2B5EF4-FFF2-40B4-BE49-F238E27FC236}">
                <a16:creationId xmlns:a16="http://schemas.microsoft.com/office/drawing/2014/main" id="{FF4915FA-5D67-F74D-795D-7993CA4F571D}"/>
              </a:ext>
            </a:extLst>
          </p:cNvPr>
          <p:cNvSpPr/>
          <p:nvPr/>
        </p:nvSpPr>
        <p:spPr>
          <a:xfrm>
            <a:off x="2366696" y="2028414"/>
            <a:ext cx="566928"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~97%</a:t>
            </a:r>
            <a:endParaRPr lang="en-US" sz="1100" dirty="0"/>
          </a:p>
        </p:txBody>
      </p:sp>
      <p:sp>
        <p:nvSpPr>
          <p:cNvPr id="27" name="Text 19">
            <a:extLst>
              <a:ext uri="{FF2B5EF4-FFF2-40B4-BE49-F238E27FC236}">
                <a16:creationId xmlns:a16="http://schemas.microsoft.com/office/drawing/2014/main" id="{9CEE5CC0-97BD-0556-42E6-7FA8B2CBAB8F}"/>
              </a:ext>
            </a:extLst>
          </p:cNvPr>
          <p:cNvSpPr/>
          <p:nvPr/>
        </p:nvSpPr>
        <p:spPr>
          <a:xfrm>
            <a:off x="740664" y="2650206"/>
            <a:ext cx="2156384" cy="384048"/>
          </a:xfrm>
          <a:prstGeom prst="rect">
            <a:avLst/>
          </a:prstGeom>
          <a:noFill/>
          <a:ln/>
        </p:spPr>
        <p:txBody>
          <a:bodyPr wrap="square" lIns="0" tIns="0" rIns="0" bIns="0" rtlCol="0" anchor="ctr"/>
          <a:lstStyle/>
          <a:p>
            <a:pPr marL="0" indent="0">
              <a:buNone/>
            </a:pPr>
            <a:r>
              <a:rPr lang="en-US" sz="1550" b="1" dirty="0">
                <a:solidFill>
                  <a:srgbClr val="16324F"/>
                </a:solidFill>
                <a:latin typeface="Cambria" pitchFamily="34" charset="0"/>
                <a:ea typeface="Cambria" pitchFamily="34" charset="-122"/>
                <a:cs typeface="Cambria" pitchFamily="34" charset="-120"/>
              </a:rPr>
              <a:t>OCT Analyzer</a:t>
            </a:r>
            <a:endParaRPr lang="en-US" sz="1550" dirty="0"/>
          </a:p>
        </p:txBody>
      </p:sp>
      <p:sp>
        <p:nvSpPr>
          <p:cNvPr id="28" name="Text 20">
            <a:extLst>
              <a:ext uri="{FF2B5EF4-FFF2-40B4-BE49-F238E27FC236}">
                <a16:creationId xmlns:a16="http://schemas.microsoft.com/office/drawing/2014/main" id="{D70D3F4D-98ED-1B47-CA0F-1E161CF58FCA}"/>
              </a:ext>
            </a:extLst>
          </p:cNvPr>
          <p:cNvSpPr/>
          <p:nvPr/>
        </p:nvSpPr>
        <p:spPr>
          <a:xfrm>
            <a:off x="740664" y="3015966"/>
            <a:ext cx="2156384" cy="384048"/>
          </a:xfrm>
          <a:prstGeom prst="rect">
            <a:avLst/>
          </a:prstGeom>
          <a:noFill/>
          <a:ln/>
        </p:spPr>
        <p:txBody>
          <a:bodyPr wrap="square" lIns="0" tIns="0" rIns="0" bIns="0" rtlCol="0" anchor="t"/>
          <a:lstStyle/>
          <a:p>
            <a:pPr marL="0" indent="0">
              <a:lnSpc>
                <a:spcPct val="115000"/>
              </a:lnSpc>
              <a:buNone/>
            </a:pPr>
            <a:r>
              <a:rPr lang="en-US" sz="900" b="1" kern="0" spc="60" dirty="0">
                <a:solidFill>
                  <a:srgbClr val="0B7F7B"/>
                </a:solidFill>
                <a:latin typeface="Calibri" pitchFamily="34" charset="0"/>
                <a:ea typeface="Calibri" pitchFamily="34" charset="-122"/>
                <a:cs typeface="Calibri" pitchFamily="34" charset="-120"/>
              </a:rPr>
              <a:t>CNV · DME · DRUSEN · NORMAL</a:t>
            </a:r>
            <a:endParaRPr lang="en-US" sz="900" dirty="0"/>
          </a:p>
        </p:txBody>
      </p:sp>
      <p:sp>
        <p:nvSpPr>
          <p:cNvPr id="29" name="Text 21">
            <a:extLst>
              <a:ext uri="{FF2B5EF4-FFF2-40B4-BE49-F238E27FC236}">
                <a16:creationId xmlns:a16="http://schemas.microsoft.com/office/drawing/2014/main" id="{E6CA3368-534E-2FD7-8C5C-A2DE9D72750F}"/>
              </a:ext>
            </a:extLst>
          </p:cNvPr>
          <p:cNvSpPr/>
          <p:nvPr/>
        </p:nvSpPr>
        <p:spPr>
          <a:xfrm>
            <a:off x="740664" y="3509742"/>
            <a:ext cx="2156384" cy="1764792"/>
          </a:xfrm>
          <a:prstGeom prst="rect">
            <a:avLst/>
          </a:prstGeom>
          <a:noFill/>
          <a:ln/>
        </p:spPr>
        <p:txBody>
          <a:bodyPr wrap="square" lIns="0" tIns="0" rIns="0" bIns="0" rtlCol="0" anchor="t"/>
          <a:lstStyle/>
          <a:p>
            <a:pPr marL="0" indent="0">
              <a:lnSpc>
                <a:spcPct val="128000"/>
              </a:lnSpc>
              <a:buNone/>
            </a:pPr>
            <a:r>
              <a:rPr lang="en-US" sz="1400" b="1" dirty="0">
                <a:solidFill>
                  <a:srgbClr val="5B6B7C"/>
                </a:solidFill>
                <a:latin typeface="Calibri" pitchFamily="34" charset="0"/>
                <a:ea typeface="Calibri" pitchFamily="34" charset="-122"/>
                <a:cs typeface="Calibri" pitchFamily="34" charset="-120"/>
              </a:rPr>
              <a:t>Classifies retinal OCT scans into four major disease categories with Grad-CAM attention visualization.</a:t>
            </a:r>
            <a:endParaRPr lang="en-US" sz="1400" b="1" dirty="0"/>
          </a:p>
        </p:txBody>
      </p:sp>
      <p:sp>
        <p:nvSpPr>
          <p:cNvPr id="30" name="Shape 22">
            <a:extLst>
              <a:ext uri="{FF2B5EF4-FFF2-40B4-BE49-F238E27FC236}">
                <a16:creationId xmlns:a16="http://schemas.microsoft.com/office/drawing/2014/main" id="{549321BF-99FE-DFF0-CBC3-39BE4A5D70C6}"/>
              </a:ext>
            </a:extLst>
          </p:cNvPr>
          <p:cNvSpPr/>
          <p:nvPr/>
        </p:nvSpPr>
        <p:spPr>
          <a:xfrm>
            <a:off x="3354248" y="1754094"/>
            <a:ext cx="2631872" cy="3703320"/>
          </a:xfrm>
          <a:prstGeom prst="roundRect">
            <a:avLst>
              <a:gd name="adj" fmla="val 312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31" name="Shape 23">
            <a:extLst>
              <a:ext uri="{FF2B5EF4-FFF2-40B4-BE49-F238E27FC236}">
                <a16:creationId xmlns:a16="http://schemas.microsoft.com/office/drawing/2014/main" id="{C9CAEC26-F144-F06A-290A-79B69E02A30E}"/>
              </a:ext>
            </a:extLst>
          </p:cNvPr>
          <p:cNvSpPr/>
          <p:nvPr/>
        </p:nvSpPr>
        <p:spPr>
          <a:xfrm>
            <a:off x="3591992" y="1991838"/>
            <a:ext cx="512064" cy="512064"/>
          </a:xfrm>
          <a:prstGeom prst="ellipse">
            <a:avLst/>
          </a:prstGeom>
          <a:solidFill>
            <a:srgbClr val="0B7F7B"/>
          </a:solidFill>
          <a:ln/>
        </p:spPr>
        <p:txBody>
          <a:bodyPr/>
          <a:lstStyle/>
          <a:p>
            <a:endParaRPr lang="en-US"/>
          </a:p>
        </p:txBody>
      </p:sp>
      <p:pic>
        <p:nvPicPr>
          <p:cNvPr id="32" name="Image 6" descr="/home/claude/work/assets/icons/eye-white.png">
            <a:extLst>
              <a:ext uri="{FF2B5EF4-FFF2-40B4-BE49-F238E27FC236}">
                <a16:creationId xmlns:a16="http://schemas.microsoft.com/office/drawing/2014/main" id="{55F43FC6-6F5B-5E1F-0814-2BC83B07789B}"/>
              </a:ext>
            </a:extLst>
          </p:cNvPr>
          <p:cNvPicPr>
            <a:picLocks noChangeAspect="1"/>
          </p:cNvPicPr>
          <p:nvPr/>
        </p:nvPicPr>
        <p:blipFill>
          <a:blip r:embed="rId4"/>
          <a:stretch>
            <a:fillRect/>
          </a:stretch>
        </p:blipFill>
        <p:spPr>
          <a:xfrm>
            <a:off x="3720008" y="2119854"/>
            <a:ext cx="256032" cy="256032"/>
          </a:xfrm>
          <a:prstGeom prst="rect">
            <a:avLst/>
          </a:prstGeom>
        </p:spPr>
      </p:pic>
      <p:sp>
        <p:nvSpPr>
          <p:cNvPr id="33" name="Shape 24">
            <a:extLst>
              <a:ext uri="{FF2B5EF4-FFF2-40B4-BE49-F238E27FC236}">
                <a16:creationId xmlns:a16="http://schemas.microsoft.com/office/drawing/2014/main" id="{5DEC3D35-CFDC-0000-485D-A9F41D966A91}"/>
              </a:ext>
            </a:extLst>
          </p:cNvPr>
          <p:cNvSpPr/>
          <p:nvPr/>
        </p:nvSpPr>
        <p:spPr>
          <a:xfrm>
            <a:off x="5218024" y="2028414"/>
            <a:ext cx="566928" cy="329184"/>
          </a:xfrm>
          <a:prstGeom prst="roundRect">
            <a:avLst>
              <a:gd name="adj" fmla="val 50000"/>
            </a:avLst>
          </a:prstGeom>
          <a:solidFill>
            <a:srgbClr val="0B7F7B"/>
          </a:solidFill>
          <a:ln/>
        </p:spPr>
        <p:txBody>
          <a:bodyPr/>
          <a:lstStyle/>
          <a:p>
            <a:endParaRPr lang="en-US"/>
          </a:p>
        </p:txBody>
      </p:sp>
      <p:sp>
        <p:nvSpPr>
          <p:cNvPr id="34" name="Text 25">
            <a:extLst>
              <a:ext uri="{FF2B5EF4-FFF2-40B4-BE49-F238E27FC236}">
                <a16:creationId xmlns:a16="http://schemas.microsoft.com/office/drawing/2014/main" id="{1BA7BC31-A756-0E88-8D6F-AAE6CE43FFFA}"/>
              </a:ext>
            </a:extLst>
          </p:cNvPr>
          <p:cNvSpPr/>
          <p:nvPr/>
        </p:nvSpPr>
        <p:spPr>
          <a:xfrm>
            <a:off x="5218024" y="2028414"/>
            <a:ext cx="566928"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&gt;90%</a:t>
            </a:r>
            <a:endParaRPr lang="en-US" sz="1100" dirty="0"/>
          </a:p>
        </p:txBody>
      </p:sp>
      <p:sp>
        <p:nvSpPr>
          <p:cNvPr id="35" name="Text 26">
            <a:extLst>
              <a:ext uri="{FF2B5EF4-FFF2-40B4-BE49-F238E27FC236}">
                <a16:creationId xmlns:a16="http://schemas.microsoft.com/office/drawing/2014/main" id="{FC0A11E5-833E-150F-A041-76341D21499B}"/>
              </a:ext>
            </a:extLst>
          </p:cNvPr>
          <p:cNvSpPr/>
          <p:nvPr/>
        </p:nvSpPr>
        <p:spPr>
          <a:xfrm>
            <a:off x="3591992" y="2650206"/>
            <a:ext cx="2156384" cy="384048"/>
          </a:xfrm>
          <a:prstGeom prst="rect">
            <a:avLst/>
          </a:prstGeom>
          <a:noFill/>
          <a:ln/>
        </p:spPr>
        <p:txBody>
          <a:bodyPr wrap="square" lIns="0" tIns="0" rIns="0" bIns="0" rtlCol="0" anchor="ctr"/>
          <a:lstStyle/>
          <a:p>
            <a:pPr marL="0" indent="0">
              <a:buNone/>
            </a:pPr>
            <a:r>
              <a:rPr lang="en-US" sz="1550" b="1" dirty="0">
                <a:solidFill>
                  <a:srgbClr val="16324F"/>
                </a:solidFill>
                <a:latin typeface="Cambria" pitchFamily="34" charset="0"/>
                <a:ea typeface="Cambria" pitchFamily="34" charset="-122"/>
                <a:cs typeface="Cambria" pitchFamily="34" charset="-120"/>
              </a:rPr>
              <a:t>Retinal Screening</a:t>
            </a:r>
            <a:endParaRPr lang="en-US" sz="1550" dirty="0"/>
          </a:p>
        </p:txBody>
      </p:sp>
      <p:sp>
        <p:nvSpPr>
          <p:cNvPr id="36" name="Text 27">
            <a:extLst>
              <a:ext uri="{FF2B5EF4-FFF2-40B4-BE49-F238E27FC236}">
                <a16:creationId xmlns:a16="http://schemas.microsoft.com/office/drawing/2014/main" id="{105A428E-AAEB-9F5D-EDA9-7AE2D6F255A7}"/>
              </a:ext>
            </a:extLst>
          </p:cNvPr>
          <p:cNvSpPr/>
          <p:nvPr/>
        </p:nvSpPr>
        <p:spPr>
          <a:xfrm>
            <a:off x="3591992" y="3015966"/>
            <a:ext cx="2156384" cy="384048"/>
          </a:xfrm>
          <a:prstGeom prst="rect">
            <a:avLst/>
          </a:prstGeom>
          <a:noFill/>
          <a:ln/>
        </p:spPr>
        <p:txBody>
          <a:bodyPr wrap="square" lIns="0" tIns="0" rIns="0" bIns="0" rtlCol="0" anchor="t"/>
          <a:lstStyle/>
          <a:p>
            <a:pPr marL="0" indent="0">
              <a:lnSpc>
                <a:spcPct val="115000"/>
              </a:lnSpc>
              <a:buNone/>
            </a:pPr>
            <a:r>
              <a:rPr lang="en-US" sz="900" b="1" kern="0" spc="60" dirty="0">
                <a:solidFill>
                  <a:srgbClr val="0B7F7B"/>
                </a:solidFill>
                <a:latin typeface="Calibri" pitchFamily="34" charset="0"/>
                <a:ea typeface="Calibri" pitchFamily="34" charset="-122"/>
                <a:cs typeface="Calibri" pitchFamily="34" charset="-120"/>
              </a:rPr>
              <a:t>DR · GLAUCOMA · HYPERTENSIVE</a:t>
            </a:r>
            <a:endParaRPr lang="en-US" sz="900" dirty="0"/>
          </a:p>
        </p:txBody>
      </p:sp>
      <p:sp>
        <p:nvSpPr>
          <p:cNvPr id="37" name="Text 28">
            <a:extLst>
              <a:ext uri="{FF2B5EF4-FFF2-40B4-BE49-F238E27FC236}">
                <a16:creationId xmlns:a16="http://schemas.microsoft.com/office/drawing/2014/main" id="{E3A77D36-E09A-AEB2-6D43-6C200A80A9FC}"/>
              </a:ext>
            </a:extLst>
          </p:cNvPr>
          <p:cNvSpPr/>
          <p:nvPr/>
        </p:nvSpPr>
        <p:spPr>
          <a:xfrm>
            <a:off x="3591992" y="3509742"/>
            <a:ext cx="2156384" cy="1764792"/>
          </a:xfrm>
          <a:prstGeom prst="rect">
            <a:avLst/>
          </a:prstGeom>
          <a:noFill/>
          <a:ln/>
        </p:spPr>
        <p:txBody>
          <a:bodyPr wrap="square" lIns="0" tIns="0" rIns="0" bIns="0" rtlCol="0" anchor="t"/>
          <a:lstStyle/>
          <a:p>
            <a:pPr marL="0" indent="0">
              <a:lnSpc>
                <a:spcPct val="128000"/>
              </a:lnSpc>
              <a:buNone/>
            </a:pPr>
            <a:r>
              <a:rPr lang="en-US" sz="1400" b="1" dirty="0">
                <a:solidFill>
                  <a:srgbClr val="5B6B7C"/>
                </a:solidFill>
                <a:latin typeface="Calibri" pitchFamily="34" charset="0"/>
                <a:ea typeface="Calibri" pitchFamily="34" charset="-122"/>
                <a:cs typeface="Calibri" pitchFamily="34" charset="-120"/>
              </a:rPr>
              <a:t>Fundus photograph screening for diabetic retinopathy, glaucoma risk, and hypertensive retinopathy.</a:t>
            </a:r>
            <a:endParaRPr lang="en-US" sz="1400" b="1" dirty="0"/>
          </a:p>
        </p:txBody>
      </p:sp>
      <p:sp>
        <p:nvSpPr>
          <p:cNvPr id="38" name="Shape 29">
            <a:extLst>
              <a:ext uri="{FF2B5EF4-FFF2-40B4-BE49-F238E27FC236}">
                <a16:creationId xmlns:a16="http://schemas.microsoft.com/office/drawing/2014/main" id="{73EC9AAF-3D90-354D-E24F-CB0107DD6C7A}"/>
              </a:ext>
            </a:extLst>
          </p:cNvPr>
          <p:cNvSpPr/>
          <p:nvPr/>
        </p:nvSpPr>
        <p:spPr>
          <a:xfrm>
            <a:off x="6205576" y="1754094"/>
            <a:ext cx="2631872" cy="3703320"/>
          </a:xfrm>
          <a:prstGeom prst="roundRect">
            <a:avLst>
              <a:gd name="adj" fmla="val 312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39" name="Shape 30">
            <a:extLst>
              <a:ext uri="{FF2B5EF4-FFF2-40B4-BE49-F238E27FC236}">
                <a16:creationId xmlns:a16="http://schemas.microsoft.com/office/drawing/2014/main" id="{AC80CBF6-940A-05BF-458A-645B91B24864}"/>
              </a:ext>
            </a:extLst>
          </p:cNvPr>
          <p:cNvSpPr/>
          <p:nvPr/>
        </p:nvSpPr>
        <p:spPr>
          <a:xfrm>
            <a:off x="6443320" y="1991838"/>
            <a:ext cx="512064" cy="512064"/>
          </a:xfrm>
          <a:prstGeom prst="ellipse">
            <a:avLst/>
          </a:prstGeom>
          <a:solidFill>
            <a:srgbClr val="DE9A2A"/>
          </a:solidFill>
          <a:ln/>
        </p:spPr>
        <p:txBody>
          <a:bodyPr/>
          <a:lstStyle/>
          <a:p>
            <a:endParaRPr lang="en-US"/>
          </a:p>
        </p:txBody>
      </p:sp>
      <p:pic>
        <p:nvPicPr>
          <p:cNvPr id="40" name="Image 7" descr="/home/claude/work/assets/icons/radar-white.png">
            <a:extLst>
              <a:ext uri="{FF2B5EF4-FFF2-40B4-BE49-F238E27FC236}">
                <a16:creationId xmlns:a16="http://schemas.microsoft.com/office/drawing/2014/main" id="{029A63E2-547F-8210-5D82-A3ED8D07CA8B}"/>
              </a:ext>
            </a:extLst>
          </p:cNvPr>
          <p:cNvPicPr>
            <a:picLocks noChangeAspect="1"/>
          </p:cNvPicPr>
          <p:nvPr/>
        </p:nvPicPr>
        <p:blipFill>
          <a:blip r:embed="rId5"/>
          <a:stretch>
            <a:fillRect/>
          </a:stretch>
        </p:blipFill>
        <p:spPr>
          <a:xfrm>
            <a:off x="6571336" y="2119854"/>
            <a:ext cx="256032" cy="256032"/>
          </a:xfrm>
          <a:prstGeom prst="rect">
            <a:avLst/>
          </a:prstGeom>
        </p:spPr>
      </p:pic>
      <p:sp>
        <p:nvSpPr>
          <p:cNvPr id="41" name="Shape 31">
            <a:extLst>
              <a:ext uri="{FF2B5EF4-FFF2-40B4-BE49-F238E27FC236}">
                <a16:creationId xmlns:a16="http://schemas.microsoft.com/office/drawing/2014/main" id="{AE3BDB1D-BD22-0093-5FF0-B42F148A7DA6}"/>
              </a:ext>
            </a:extLst>
          </p:cNvPr>
          <p:cNvSpPr/>
          <p:nvPr/>
        </p:nvSpPr>
        <p:spPr>
          <a:xfrm>
            <a:off x="7859039" y="2028414"/>
            <a:ext cx="777240" cy="329184"/>
          </a:xfrm>
          <a:prstGeom prst="roundRect">
            <a:avLst>
              <a:gd name="adj" fmla="val 50000"/>
            </a:avLst>
          </a:prstGeom>
          <a:solidFill>
            <a:srgbClr val="DE9A2A"/>
          </a:solidFill>
          <a:ln/>
        </p:spPr>
        <p:txBody>
          <a:bodyPr/>
          <a:lstStyle/>
          <a:p>
            <a:endParaRPr lang="en-US"/>
          </a:p>
        </p:txBody>
      </p:sp>
      <p:sp>
        <p:nvSpPr>
          <p:cNvPr id="42" name="Text 32">
            <a:extLst>
              <a:ext uri="{FF2B5EF4-FFF2-40B4-BE49-F238E27FC236}">
                <a16:creationId xmlns:a16="http://schemas.microsoft.com/office/drawing/2014/main" id="{AD3DCEC5-4F09-74C5-7BA4-FEC02684F0C1}"/>
              </a:ext>
            </a:extLst>
          </p:cNvPr>
          <p:cNvSpPr/>
          <p:nvPr/>
        </p:nvSpPr>
        <p:spPr>
          <a:xfrm>
            <a:off x="7859039" y="2028414"/>
            <a:ext cx="77724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~92.6%</a:t>
            </a:r>
            <a:endParaRPr lang="en-US" sz="1100" dirty="0"/>
          </a:p>
        </p:txBody>
      </p:sp>
      <p:sp>
        <p:nvSpPr>
          <p:cNvPr id="43" name="Text 33">
            <a:extLst>
              <a:ext uri="{FF2B5EF4-FFF2-40B4-BE49-F238E27FC236}">
                <a16:creationId xmlns:a16="http://schemas.microsoft.com/office/drawing/2014/main" id="{C5959C71-172A-AD7D-A279-7A93588522BA}"/>
              </a:ext>
            </a:extLst>
          </p:cNvPr>
          <p:cNvSpPr/>
          <p:nvPr/>
        </p:nvSpPr>
        <p:spPr>
          <a:xfrm>
            <a:off x="6443320" y="2650206"/>
            <a:ext cx="2156384" cy="384048"/>
          </a:xfrm>
          <a:prstGeom prst="rect">
            <a:avLst/>
          </a:prstGeom>
          <a:noFill/>
          <a:ln/>
        </p:spPr>
        <p:txBody>
          <a:bodyPr wrap="square" lIns="0" tIns="0" rIns="0" bIns="0" rtlCol="0" anchor="ctr"/>
          <a:lstStyle/>
          <a:p>
            <a:pPr marL="0" indent="0">
              <a:buNone/>
            </a:pPr>
            <a:r>
              <a:rPr lang="en-US" sz="1550" b="1" dirty="0">
                <a:solidFill>
                  <a:srgbClr val="16324F"/>
                </a:solidFill>
                <a:latin typeface="Cambria" pitchFamily="34" charset="0"/>
                <a:ea typeface="Cambria" pitchFamily="34" charset="-122"/>
                <a:cs typeface="Cambria" pitchFamily="34" charset="-120"/>
              </a:rPr>
              <a:t>VKG / Corneal</a:t>
            </a:r>
            <a:endParaRPr lang="en-US" sz="1550" dirty="0"/>
          </a:p>
        </p:txBody>
      </p:sp>
      <p:sp>
        <p:nvSpPr>
          <p:cNvPr id="44" name="Text 34">
            <a:extLst>
              <a:ext uri="{FF2B5EF4-FFF2-40B4-BE49-F238E27FC236}">
                <a16:creationId xmlns:a16="http://schemas.microsoft.com/office/drawing/2014/main" id="{DB24DBB5-CCE7-DAE6-2037-A99D5BEF55DB}"/>
              </a:ext>
            </a:extLst>
          </p:cNvPr>
          <p:cNvSpPr/>
          <p:nvPr/>
        </p:nvSpPr>
        <p:spPr>
          <a:xfrm>
            <a:off x="6443320" y="3015966"/>
            <a:ext cx="2156384" cy="384048"/>
          </a:xfrm>
          <a:prstGeom prst="rect">
            <a:avLst/>
          </a:prstGeom>
          <a:noFill/>
          <a:ln/>
        </p:spPr>
        <p:txBody>
          <a:bodyPr wrap="square" lIns="0" tIns="0" rIns="0" bIns="0" rtlCol="0" anchor="t"/>
          <a:lstStyle/>
          <a:p>
            <a:pPr marL="0" indent="0">
              <a:lnSpc>
                <a:spcPct val="115000"/>
              </a:lnSpc>
              <a:buNone/>
            </a:pPr>
            <a:r>
              <a:rPr lang="en-US" sz="900" b="1" kern="0" spc="60" dirty="0">
                <a:solidFill>
                  <a:srgbClr val="0B7F7B"/>
                </a:solidFill>
                <a:latin typeface="Calibri" pitchFamily="34" charset="0"/>
                <a:ea typeface="Calibri" pitchFamily="34" charset="-122"/>
                <a:cs typeface="Calibri" pitchFamily="34" charset="-120"/>
              </a:rPr>
              <a:t>KERATOCONUS RISK ASSESSMENT</a:t>
            </a:r>
            <a:endParaRPr lang="en-US" sz="900" dirty="0"/>
          </a:p>
        </p:txBody>
      </p:sp>
      <p:sp>
        <p:nvSpPr>
          <p:cNvPr id="45" name="Text 35">
            <a:extLst>
              <a:ext uri="{FF2B5EF4-FFF2-40B4-BE49-F238E27FC236}">
                <a16:creationId xmlns:a16="http://schemas.microsoft.com/office/drawing/2014/main" id="{B39F7FCF-51EA-AABF-33EE-F0813270E4E7}"/>
              </a:ext>
            </a:extLst>
          </p:cNvPr>
          <p:cNvSpPr/>
          <p:nvPr/>
        </p:nvSpPr>
        <p:spPr>
          <a:xfrm>
            <a:off x="6443320" y="3509742"/>
            <a:ext cx="2156384" cy="1764792"/>
          </a:xfrm>
          <a:prstGeom prst="rect">
            <a:avLst/>
          </a:prstGeom>
          <a:noFill/>
          <a:ln/>
        </p:spPr>
        <p:txBody>
          <a:bodyPr wrap="square" lIns="0" tIns="0" rIns="0" bIns="0" rtlCol="0" anchor="t"/>
          <a:lstStyle/>
          <a:p>
            <a:pPr marL="0" indent="0">
              <a:lnSpc>
                <a:spcPct val="128000"/>
              </a:lnSpc>
              <a:buNone/>
            </a:pPr>
            <a:r>
              <a:rPr lang="en-US" sz="1400" b="1" dirty="0">
                <a:solidFill>
                  <a:srgbClr val="5B6B7C"/>
                </a:solidFill>
                <a:latin typeface="Calibri" pitchFamily="34" charset="0"/>
                <a:ea typeface="Calibri" pitchFamily="34" charset="-122"/>
                <a:cs typeface="Calibri" pitchFamily="34" charset="-120"/>
              </a:rPr>
              <a:t>Corneal topography analysis for keratoconus and corneal disease risk, enabling earlier intervention.</a:t>
            </a:r>
            <a:endParaRPr lang="en-US" sz="1400" b="1" dirty="0"/>
          </a:p>
        </p:txBody>
      </p:sp>
      <p:sp>
        <p:nvSpPr>
          <p:cNvPr id="46" name="Shape 36">
            <a:extLst>
              <a:ext uri="{FF2B5EF4-FFF2-40B4-BE49-F238E27FC236}">
                <a16:creationId xmlns:a16="http://schemas.microsoft.com/office/drawing/2014/main" id="{A1E0347A-3F45-8DFC-83D5-83DD5ED765C4}"/>
              </a:ext>
            </a:extLst>
          </p:cNvPr>
          <p:cNvSpPr/>
          <p:nvPr/>
        </p:nvSpPr>
        <p:spPr>
          <a:xfrm>
            <a:off x="9056903" y="1754094"/>
            <a:ext cx="2631872" cy="3703320"/>
          </a:xfrm>
          <a:prstGeom prst="roundRect">
            <a:avLst>
              <a:gd name="adj" fmla="val 3127"/>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47" name="Shape 37">
            <a:extLst>
              <a:ext uri="{FF2B5EF4-FFF2-40B4-BE49-F238E27FC236}">
                <a16:creationId xmlns:a16="http://schemas.microsoft.com/office/drawing/2014/main" id="{03723FDD-3430-CA1D-55F5-68A3A6CBB0C6}"/>
              </a:ext>
            </a:extLst>
          </p:cNvPr>
          <p:cNvSpPr/>
          <p:nvPr/>
        </p:nvSpPr>
        <p:spPr>
          <a:xfrm>
            <a:off x="9294647" y="1991838"/>
            <a:ext cx="512064" cy="512064"/>
          </a:xfrm>
          <a:prstGeom prst="ellipse">
            <a:avLst/>
          </a:prstGeom>
          <a:solidFill>
            <a:srgbClr val="C0392B"/>
          </a:solidFill>
          <a:ln/>
        </p:spPr>
        <p:txBody>
          <a:bodyPr/>
          <a:lstStyle/>
          <a:p>
            <a:endParaRPr lang="en-US"/>
          </a:p>
        </p:txBody>
      </p:sp>
      <p:pic>
        <p:nvPicPr>
          <p:cNvPr id="48" name="Image 8" descr="/home/claude/work/assets/icons/droplet-white.png">
            <a:extLst>
              <a:ext uri="{FF2B5EF4-FFF2-40B4-BE49-F238E27FC236}">
                <a16:creationId xmlns:a16="http://schemas.microsoft.com/office/drawing/2014/main" id="{4D909FAF-1692-510F-793E-ABD16254A496}"/>
              </a:ext>
            </a:extLst>
          </p:cNvPr>
          <p:cNvPicPr>
            <a:picLocks noChangeAspect="1"/>
          </p:cNvPicPr>
          <p:nvPr/>
        </p:nvPicPr>
        <p:blipFill>
          <a:blip r:embed="rId6"/>
          <a:stretch>
            <a:fillRect/>
          </a:stretch>
        </p:blipFill>
        <p:spPr>
          <a:xfrm>
            <a:off x="9422663" y="2119854"/>
            <a:ext cx="256032" cy="256032"/>
          </a:xfrm>
          <a:prstGeom prst="rect">
            <a:avLst/>
          </a:prstGeom>
        </p:spPr>
      </p:pic>
      <p:sp>
        <p:nvSpPr>
          <p:cNvPr id="49" name="Shape 38">
            <a:extLst>
              <a:ext uri="{FF2B5EF4-FFF2-40B4-BE49-F238E27FC236}">
                <a16:creationId xmlns:a16="http://schemas.microsoft.com/office/drawing/2014/main" id="{7704B5D9-465B-604D-75B8-2CB196AFAFBB}"/>
              </a:ext>
            </a:extLst>
          </p:cNvPr>
          <p:cNvSpPr/>
          <p:nvPr/>
        </p:nvSpPr>
        <p:spPr>
          <a:xfrm>
            <a:off x="10920679" y="2028414"/>
            <a:ext cx="566928" cy="329184"/>
          </a:xfrm>
          <a:prstGeom prst="roundRect">
            <a:avLst>
              <a:gd name="adj" fmla="val 50000"/>
            </a:avLst>
          </a:prstGeom>
          <a:solidFill>
            <a:srgbClr val="C0392B"/>
          </a:solidFill>
          <a:ln/>
        </p:spPr>
        <p:txBody>
          <a:bodyPr/>
          <a:lstStyle/>
          <a:p>
            <a:endParaRPr lang="en-US"/>
          </a:p>
        </p:txBody>
      </p:sp>
      <p:sp>
        <p:nvSpPr>
          <p:cNvPr id="50" name="Text 39">
            <a:extLst>
              <a:ext uri="{FF2B5EF4-FFF2-40B4-BE49-F238E27FC236}">
                <a16:creationId xmlns:a16="http://schemas.microsoft.com/office/drawing/2014/main" id="{19196B66-9E30-4EF8-175A-C22465A708F5}"/>
              </a:ext>
            </a:extLst>
          </p:cNvPr>
          <p:cNvSpPr/>
          <p:nvPr/>
        </p:nvSpPr>
        <p:spPr>
          <a:xfrm>
            <a:off x="10920679" y="2028414"/>
            <a:ext cx="566928"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1" name="Text 40">
            <a:extLst>
              <a:ext uri="{FF2B5EF4-FFF2-40B4-BE49-F238E27FC236}">
                <a16:creationId xmlns:a16="http://schemas.microsoft.com/office/drawing/2014/main" id="{4C812D64-F00C-FB01-8CE8-E9562348AAD1}"/>
              </a:ext>
            </a:extLst>
          </p:cNvPr>
          <p:cNvSpPr/>
          <p:nvPr/>
        </p:nvSpPr>
        <p:spPr>
          <a:xfrm>
            <a:off x="9294647" y="2650206"/>
            <a:ext cx="2156384" cy="384048"/>
          </a:xfrm>
          <a:prstGeom prst="rect">
            <a:avLst/>
          </a:prstGeom>
          <a:noFill/>
          <a:ln/>
        </p:spPr>
        <p:txBody>
          <a:bodyPr wrap="square" lIns="0" tIns="0" rIns="0" bIns="0" rtlCol="0" anchor="ctr"/>
          <a:lstStyle/>
          <a:p>
            <a:pPr marL="0" indent="0">
              <a:buNone/>
            </a:pPr>
            <a:r>
              <a:rPr lang="en-US" sz="1550" b="1" dirty="0">
                <a:solidFill>
                  <a:srgbClr val="16324F"/>
                </a:solidFill>
                <a:latin typeface="Cambria" pitchFamily="34" charset="0"/>
                <a:ea typeface="Cambria" pitchFamily="34" charset="-122"/>
                <a:cs typeface="Cambria" pitchFamily="34" charset="-120"/>
              </a:rPr>
              <a:t>Corneal Ulcer</a:t>
            </a:r>
            <a:endParaRPr lang="en-US" sz="1550" dirty="0"/>
          </a:p>
        </p:txBody>
      </p:sp>
      <p:sp>
        <p:nvSpPr>
          <p:cNvPr id="52" name="Text 41">
            <a:extLst>
              <a:ext uri="{FF2B5EF4-FFF2-40B4-BE49-F238E27FC236}">
                <a16:creationId xmlns:a16="http://schemas.microsoft.com/office/drawing/2014/main" id="{884D65D1-2319-021A-2924-77ED1B1E2E69}"/>
              </a:ext>
            </a:extLst>
          </p:cNvPr>
          <p:cNvSpPr/>
          <p:nvPr/>
        </p:nvSpPr>
        <p:spPr>
          <a:xfrm>
            <a:off x="9294647" y="3015966"/>
            <a:ext cx="2156384" cy="384048"/>
          </a:xfrm>
          <a:prstGeom prst="rect">
            <a:avLst/>
          </a:prstGeom>
          <a:noFill/>
          <a:ln/>
        </p:spPr>
        <p:txBody>
          <a:bodyPr wrap="square" lIns="0" tIns="0" rIns="0" bIns="0" rtlCol="0" anchor="t"/>
          <a:lstStyle/>
          <a:p>
            <a:pPr marL="0" indent="0">
              <a:lnSpc>
                <a:spcPct val="115000"/>
              </a:lnSpc>
              <a:buNone/>
            </a:pPr>
            <a:r>
              <a:rPr lang="en-US" sz="900" b="1" kern="0" spc="60" dirty="0">
                <a:solidFill>
                  <a:srgbClr val="0B7F7B"/>
                </a:solidFill>
                <a:latin typeface="Calibri" pitchFamily="34" charset="0"/>
                <a:ea typeface="Calibri" pitchFamily="34" charset="-122"/>
                <a:cs typeface="Calibri" pitchFamily="34" charset="-120"/>
              </a:rPr>
              <a:t>ANTERIOR SEGMENT SCREENING</a:t>
            </a:r>
            <a:endParaRPr lang="en-US" sz="900" dirty="0"/>
          </a:p>
        </p:txBody>
      </p:sp>
      <p:sp>
        <p:nvSpPr>
          <p:cNvPr id="53" name="Text 42">
            <a:extLst>
              <a:ext uri="{FF2B5EF4-FFF2-40B4-BE49-F238E27FC236}">
                <a16:creationId xmlns:a16="http://schemas.microsoft.com/office/drawing/2014/main" id="{9A3D0613-4A84-FC56-71D2-2D66C962B4B8}"/>
              </a:ext>
            </a:extLst>
          </p:cNvPr>
          <p:cNvSpPr/>
          <p:nvPr/>
        </p:nvSpPr>
        <p:spPr>
          <a:xfrm>
            <a:off x="9294647" y="3509742"/>
            <a:ext cx="2156384" cy="1764792"/>
          </a:xfrm>
          <a:prstGeom prst="rect">
            <a:avLst/>
          </a:prstGeom>
          <a:noFill/>
          <a:ln/>
        </p:spPr>
        <p:txBody>
          <a:bodyPr wrap="square" lIns="0" tIns="0" rIns="0" bIns="0" rtlCol="0" anchor="t"/>
          <a:lstStyle/>
          <a:p>
            <a:pPr marL="0" indent="0">
              <a:lnSpc>
                <a:spcPct val="128000"/>
              </a:lnSpc>
              <a:buNone/>
            </a:pPr>
            <a:r>
              <a:rPr lang="en-US" sz="1400" b="1" dirty="0">
                <a:solidFill>
                  <a:srgbClr val="5B6B7C"/>
                </a:solidFill>
                <a:latin typeface="Calibri" pitchFamily="34" charset="0"/>
                <a:ea typeface="Calibri" pitchFamily="34" charset="-122"/>
                <a:cs typeface="Calibri" pitchFamily="34" charset="-120"/>
              </a:rPr>
              <a:t>Slit-lamp image analysis for corneal ulcer pattern detection, supports triage in urgent cases.</a:t>
            </a:r>
            <a:endParaRPr lang="en-US" sz="1400" b="1" dirty="0"/>
          </a:p>
        </p:txBody>
      </p:sp>
    </p:spTree>
    <p:extLst>
      <p:ext uri="{BB962C8B-B14F-4D97-AF65-F5344CB8AC3E}">
        <p14:creationId xmlns:p14="http://schemas.microsoft.com/office/powerpoint/2010/main" val="220732682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0">
            <a:extLst>
              <a:ext uri="{FF2B5EF4-FFF2-40B4-BE49-F238E27FC236}">
                <a16:creationId xmlns:a16="http://schemas.microsoft.com/office/drawing/2014/main" id="{533382F7-28E0-0751-28DC-770F1CEE4C32}"/>
              </a:ext>
            </a:extLst>
          </p:cNvPr>
          <p:cNvSpPr/>
          <p:nvPr/>
        </p:nvSpPr>
        <p:spPr>
          <a:xfrm>
            <a:off x="10198303" y="932688"/>
            <a:ext cx="1243584" cy="1243584"/>
          </a:xfrm>
          <a:prstGeom prst="ellipse">
            <a:avLst/>
          </a:prstGeom>
          <a:ln w="13970">
            <a:solidFill>
              <a:srgbClr val="18A99B">
                <a:alpha val="14000"/>
              </a:srgbClr>
            </a:solidFill>
            <a:prstDash val="solid"/>
          </a:ln>
        </p:spPr>
        <p:txBody>
          <a:bodyPr/>
          <a:lstStyle/>
          <a:p>
            <a:endParaRPr lang="en-US"/>
          </a:p>
        </p:txBody>
      </p:sp>
      <p:sp>
        <p:nvSpPr>
          <p:cNvPr id="51" name="Shape 1">
            <a:extLst>
              <a:ext uri="{FF2B5EF4-FFF2-40B4-BE49-F238E27FC236}">
                <a16:creationId xmlns:a16="http://schemas.microsoft.com/office/drawing/2014/main" id="{646D463B-30D1-9BFF-36C2-831A5B7B4EE8}"/>
              </a:ext>
            </a:extLst>
          </p:cNvPr>
          <p:cNvSpPr/>
          <p:nvPr/>
        </p:nvSpPr>
        <p:spPr>
          <a:xfrm>
            <a:off x="9576511" y="310896"/>
            <a:ext cx="2487168" cy="2487168"/>
          </a:xfrm>
          <a:prstGeom prst="ellipse">
            <a:avLst/>
          </a:prstGeom>
          <a:ln w="13970">
            <a:solidFill>
              <a:srgbClr val="18A99B">
                <a:alpha val="14000"/>
              </a:srgbClr>
            </a:solidFill>
            <a:prstDash val="solid"/>
          </a:ln>
        </p:spPr>
        <p:txBody>
          <a:bodyPr/>
          <a:lstStyle/>
          <a:p>
            <a:endParaRPr lang="en-US"/>
          </a:p>
        </p:txBody>
      </p:sp>
      <p:sp>
        <p:nvSpPr>
          <p:cNvPr id="53" name="Shape 2">
            <a:extLst>
              <a:ext uri="{FF2B5EF4-FFF2-40B4-BE49-F238E27FC236}">
                <a16:creationId xmlns:a16="http://schemas.microsoft.com/office/drawing/2014/main" id="{6D31E409-283A-963B-A6DE-59F01EF1200A}"/>
              </a:ext>
            </a:extLst>
          </p:cNvPr>
          <p:cNvSpPr/>
          <p:nvPr/>
        </p:nvSpPr>
        <p:spPr>
          <a:xfrm>
            <a:off x="8954719" y="-310896"/>
            <a:ext cx="3730752" cy="3730752"/>
          </a:xfrm>
          <a:prstGeom prst="ellipse">
            <a:avLst/>
          </a:prstGeom>
          <a:ln w="13970">
            <a:solidFill>
              <a:srgbClr val="18A99B">
                <a:alpha val="14000"/>
              </a:srgbClr>
            </a:solidFill>
            <a:prstDash val="solid"/>
          </a:ln>
        </p:spPr>
        <p:txBody>
          <a:bodyPr/>
          <a:lstStyle/>
          <a:p>
            <a:endParaRPr lang="en-US"/>
          </a:p>
        </p:txBody>
      </p:sp>
      <p:sp>
        <p:nvSpPr>
          <p:cNvPr id="27" name="Shape 0">
            <a:extLst>
              <a:ext uri="{FF2B5EF4-FFF2-40B4-BE49-F238E27FC236}">
                <a16:creationId xmlns:a16="http://schemas.microsoft.com/office/drawing/2014/main" id="{1138D050-4038-23F6-AF11-05E66935EB5D}"/>
              </a:ext>
            </a:extLst>
          </p:cNvPr>
          <p:cNvSpPr/>
          <p:nvPr/>
        </p:nvSpPr>
        <p:spPr>
          <a:xfrm>
            <a:off x="1598139" y="4781548"/>
            <a:ext cx="1243584" cy="1243584"/>
          </a:xfrm>
          <a:prstGeom prst="ellipse">
            <a:avLst/>
          </a:prstGeom>
          <a:ln w="13970">
            <a:solidFill>
              <a:srgbClr val="18A99B">
                <a:alpha val="14000"/>
              </a:srgbClr>
            </a:solidFill>
            <a:prstDash val="solid"/>
          </a:ln>
        </p:spPr>
        <p:txBody>
          <a:bodyPr/>
          <a:lstStyle/>
          <a:p>
            <a:endParaRPr lang="en-US"/>
          </a:p>
        </p:txBody>
      </p:sp>
      <p:sp>
        <p:nvSpPr>
          <p:cNvPr id="29" name="Shape 1">
            <a:extLst>
              <a:ext uri="{FF2B5EF4-FFF2-40B4-BE49-F238E27FC236}">
                <a16:creationId xmlns:a16="http://schemas.microsoft.com/office/drawing/2014/main" id="{B21A8E05-685E-71BC-C780-807E70E2A8F3}"/>
              </a:ext>
            </a:extLst>
          </p:cNvPr>
          <p:cNvSpPr/>
          <p:nvPr/>
        </p:nvSpPr>
        <p:spPr>
          <a:xfrm>
            <a:off x="976347" y="4159756"/>
            <a:ext cx="2487168" cy="2487168"/>
          </a:xfrm>
          <a:prstGeom prst="ellipse">
            <a:avLst/>
          </a:prstGeom>
          <a:ln w="13970">
            <a:solidFill>
              <a:srgbClr val="18A99B">
                <a:alpha val="14000"/>
              </a:srgbClr>
            </a:solidFill>
            <a:prstDash val="solid"/>
          </a:ln>
        </p:spPr>
        <p:txBody>
          <a:bodyPr/>
          <a:lstStyle/>
          <a:p>
            <a:endParaRPr lang="en-US"/>
          </a:p>
        </p:txBody>
      </p:sp>
      <p:sp>
        <p:nvSpPr>
          <p:cNvPr id="31" name="Shape 2">
            <a:extLst>
              <a:ext uri="{FF2B5EF4-FFF2-40B4-BE49-F238E27FC236}">
                <a16:creationId xmlns:a16="http://schemas.microsoft.com/office/drawing/2014/main" id="{9CCAB05F-ECAC-C2AE-E1BB-E3C9A6647D5F}"/>
              </a:ext>
            </a:extLst>
          </p:cNvPr>
          <p:cNvSpPr/>
          <p:nvPr/>
        </p:nvSpPr>
        <p:spPr>
          <a:xfrm>
            <a:off x="354555" y="3537964"/>
            <a:ext cx="3730752" cy="3730752"/>
          </a:xfrm>
          <a:prstGeom prst="ellipse">
            <a:avLst/>
          </a:prstGeom>
          <a:ln w="13970">
            <a:solidFill>
              <a:srgbClr val="18A99B">
                <a:alpha val="14000"/>
              </a:srgbClr>
            </a:solidFill>
            <a:prstDash val="solid"/>
          </a:ln>
        </p:spPr>
        <p:txBody>
          <a:bodyPr/>
          <a:lstStyle/>
          <a:p>
            <a:endParaRPr lang="en-US"/>
          </a:p>
        </p:txBody>
      </p:sp>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507197"/>
                </a:solidFill>
                <a:latin typeface="Arial" pitchFamily="34" charset="0"/>
                <a:ea typeface="Arial" pitchFamily="34" charset="-122"/>
                <a:cs typeface="Arial" pitchFamily="34" charset="-120"/>
              </a:rPr>
              <a:t>OUR SOLUTION</a:t>
            </a:r>
            <a:endParaRPr lang="en-US" sz="1400" dirty="0">
              <a:solidFill>
                <a:srgbClr val="507197"/>
              </a:solidFill>
            </a:endParaRPr>
          </a:p>
        </p:txBody>
      </p:sp>
      <p:sp>
        <p:nvSpPr>
          <p:cNvPr id="3" name="Text 1"/>
          <p:cNvSpPr/>
          <p:nvPr/>
        </p:nvSpPr>
        <p:spPr>
          <a:xfrm>
            <a:off x="640080" y="822960"/>
            <a:ext cx="10789920" cy="1005840"/>
          </a:xfrm>
          <a:prstGeom prst="rect">
            <a:avLst/>
          </a:prstGeom>
          <a:noFill/>
          <a:ln/>
        </p:spPr>
        <p:txBody>
          <a:bodyPr wrap="square" rtlCol="0" anchor="ctr"/>
          <a:lstStyle/>
          <a:p>
            <a:pPr marL="0" indent="0">
              <a:lnSpc>
                <a:spcPct val="102000"/>
              </a:lnSpc>
              <a:buNone/>
            </a:pPr>
            <a:r>
              <a:rPr lang="en-US" sz="3800" b="1" dirty="0">
                <a:solidFill>
                  <a:srgbClr val="192C4F"/>
                </a:solidFill>
                <a:latin typeface="Arial" pitchFamily="34" charset="0"/>
                <a:ea typeface="Arial" pitchFamily="34" charset="-122"/>
                <a:cs typeface="Arial" pitchFamily="34" charset="-120"/>
              </a:rPr>
              <a:t>One Interface. Three Engines.</a:t>
            </a:r>
            <a:endParaRPr lang="en-US" sz="3800" dirty="0">
              <a:solidFill>
                <a:srgbClr val="192C4F"/>
              </a:solidFill>
            </a:endParaRPr>
          </a:p>
        </p:txBody>
      </p:sp>
      <p:sp>
        <p:nvSpPr>
          <p:cNvPr id="4" name="Shape 2"/>
          <p:cNvSpPr/>
          <p:nvPr/>
        </p:nvSpPr>
        <p:spPr>
          <a:xfrm>
            <a:off x="4632808" y="2148840"/>
            <a:ext cx="2926080" cy="777240"/>
          </a:xfrm>
          <a:prstGeom prst="roundRect">
            <a:avLst>
              <a:gd name="adj" fmla="val 14118"/>
            </a:avLst>
          </a:prstGeom>
          <a:solidFill>
            <a:srgbClr val="107269"/>
          </a:solidFill>
          <a:ln/>
        </p:spPr>
        <p:txBody>
          <a:bodyPr/>
          <a:lstStyle/>
          <a:p>
            <a:endParaRPr lang="en-US"/>
          </a:p>
        </p:txBody>
      </p:sp>
      <p:sp>
        <p:nvSpPr>
          <p:cNvPr id="5" name="Text 3"/>
          <p:cNvSpPr/>
          <p:nvPr/>
        </p:nvSpPr>
        <p:spPr>
          <a:xfrm>
            <a:off x="4632808" y="2148840"/>
            <a:ext cx="2926080" cy="777240"/>
          </a:xfrm>
          <a:prstGeom prst="rect">
            <a:avLst/>
          </a:prstGeom>
          <a:noFill/>
          <a:ln/>
        </p:spPr>
        <p:txBody>
          <a:bodyPr wrap="square" rtlCol="0" anchor="ctr"/>
          <a:lstStyle/>
          <a:p>
            <a:pPr marL="0" indent="0" algn="ctr">
              <a:buNone/>
            </a:pPr>
            <a:r>
              <a:rPr lang="en-US" sz="1700" b="1" dirty="0">
                <a:solidFill>
                  <a:schemeClr val="bg1"/>
                </a:solidFill>
                <a:latin typeface="Arial" pitchFamily="34" charset="0"/>
                <a:ea typeface="Arial" pitchFamily="34" charset="-122"/>
                <a:cs typeface="Arial" pitchFamily="34" charset="-120"/>
              </a:rPr>
              <a:t>ONE COMMON UI</a:t>
            </a:r>
            <a:endParaRPr lang="en-US" sz="1700" dirty="0">
              <a:solidFill>
                <a:schemeClr val="bg1"/>
              </a:solidFill>
            </a:endParaRPr>
          </a:p>
        </p:txBody>
      </p:sp>
      <p:sp>
        <p:nvSpPr>
          <p:cNvPr id="6" name="Shape 4"/>
          <p:cNvSpPr/>
          <p:nvPr/>
        </p:nvSpPr>
        <p:spPr>
          <a:xfrm>
            <a:off x="2529688" y="2926080"/>
            <a:ext cx="0" cy="731520"/>
          </a:xfrm>
          <a:prstGeom prst="line">
            <a:avLst/>
          </a:prstGeom>
          <a:noFill/>
          <a:ln w="19050">
            <a:solidFill>
              <a:srgbClr val="3B6EA5"/>
            </a:solidFill>
            <a:prstDash val="dash"/>
          </a:ln>
        </p:spPr>
        <p:txBody>
          <a:bodyPr/>
          <a:lstStyle/>
          <a:p>
            <a:endParaRPr lang="en-US"/>
          </a:p>
        </p:txBody>
      </p:sp>
      <p:sp>
        <p:nvSpPr>
          <p:cNvPr id="7" name="Shape 5"/>
          <p:cNvSpPr/>
          <p:nvPr/>
        </p:nvSpPr>
        <p:spPr>
          <a:xfrm>
            <a:off x="929488" y="3657600"/>
            <a:ext cx="3200400" cy="1371600"/>
          </a:xfrm>
          <a:prstGeom prst="roundRect">
            <a:avLst>
              <a:gd name="adj" fmla="val 6667"/>
            </a:avLst>
          </a:prstGeom>
          <a:solidFill>
            <a:srgbClr val="132E52"/>
          </a:solidFill>
          <a:ln w="12700">
            <a:solidFill>
              <a:srgbClr val="1E5F9E"/>
            </a:solidFill>
            <a:prstDash val="solid"/>
          </a:ln>
        </p:spPr>
        <p:txBody>
          <a:bodyPr/>
          <a:lstStyle/>
          <a:p>
            <a:endParaRPr lang="en-US"/>
          </a:p>
        </p:txBody>
      </p:sp>
      <p:sp>
        <p:nvSpPr>
          <p:cNvPr id="8" name="Text 6"/>
          <p:cNvSpPr/>
          <p:nvPr/>
        </p:nvSpPr>
        <p:spPr>
          <a:xfrm>
            <a:off x="1112368" y="3886200"/>
            <a:ext cx="2834640" cy="45720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RetinalAI</a:t>
            </a:r>
            <a:endParaRPr lang="en-US" sz="1700" dirty="0"/>
          </a:p>
        </p:txBody>
      </p:sp>
      <p:sp>
        <p:nvSpPr>
          <p:cNvPr id="9" name="Text 7"/>
          <p:cNvSpPr/>
          <p:nvPr/>
        </p:nvSpPr>
        <p:spPr>
          <a:xfrm>
            <a:off x="1112368" y="4389120"/>
            <a:ext cx="2834640" cy="457200"/>
          </a:xfrm>
          <a:prstGeom prst="rect">
            <a:avLst/>
          </a:prstGeom>
          <a:noFill/>
          <a:ln/>
        </p:spPr>
        <p:txBody>
          <a:bodyPr wrap="square" rtlCol="0" anchor="ctr"/>
          <a:lstStyle/>
          <a:p>
            <a:pPr marL="0" indent="0" algn="ctr">
              <a:buNone/>
            </a:pPr>
            <a:r>
              <a:rPr lang="en-US" sz="1300" dirty="0">
                <a:solidFill>
                  <a:srgbClr val="9FB3D0"/>
                </a:solidFill>
                <a:latin typeface="Arial" pitchFamily="34" charset="0"/>
                <a:ea typeface="Arial" pitchFamily="34" charset="-122"/>
                <a:cs typeface="Arial" pitchFamily="34" charset="-120"/>
              </a:rPr>
              <a:t>DR · Glaucoma · HR</a:t>
            </a:r>
            <a:endParaRPr lang="en-US" sz="1300" dirty="0"/>
          </a:p>
        </p:txBody>
      </p:sp>
      <p:sp>
        <p:nvSpPr>
          <p:cNvPr id="10" name="Shape 8"/>
          <p:cNvSpPr/>
          <p:nvPr/>
        </p:nvSpPr>
        <p:spPr>
          <a:xfrm>
            <a:off x="6095848" y="2926080"/>
            <a:ext cx="0" cy="731520"/>
          </a:xfrm>
          <a:prstGeom prst="line">
            <a:avLst/>
          </a:prstGeom>
          <a:noFill/>
          <a:ln w="19050">
            <a:solidFill>
              <a:srgbClr val="3B6EA5"/>
            </a:solidFill>
            <a:prstDash val="dash"/>
          </a:ln>
        </p:spPr>
        <p:txBody>
          <a:bodyPr/>
          <a:lstStyle/>
          <a:p>
            <a:endParaRPr lang="en-US"/>
          </a:p>
        </p:txBody>
      </p:sp>
      <p:sp>
        <p:nvSpPr>
          <p:cNvPr id="11" name="Shape 9"/>
          <p:cNvSpPr/>
          <p:nvPr/>
        </p:nvSpPr>
        <p:spPr>
          <a:xfrm>
            <a:off x="4495648" y="3657600"/>
            <a:ext cx="3200400" cy="1371600"/>
          </a:xfrm>
          <a:prstGeom prst="roundRect">
            <a:avLst>
              <a:gd name="adj" fmla="val 6667"/>
            </a:avLst>
          </a:prstGeom>
          <a:solidFill>
            <a:srgbClr val="132E52"/>
          </a:solidFill>
          <a:ln w="12700">
            <a:solidFill>
              <a:srgbClr val="1E5F9E"/>
            </a:solidFill>
            <a:prstDash val="solid"/>
          </a:ln>
        </p:spPr>
        <p:txBody>
          <a:bodyPr/>
          <a:lstStyle/>
          <a:p>
            <a:endParaRPr lang="en-US"/>
          </a:p>
        </p:txBody>
      </p:sp>
      <p:sp>
        <p:nvSpPr>
          <p:cNvPr id="12" name="Text 10"/>
          <p:cNvSpPr/>
          <p:nvPr/>
        </p:nvSpPr>
        <p:spPr>
          <a:xfrm>
            <a:off x="4678528" y="3886200"/>
            <a:ext cx="2834640" cy="45720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OCT Analyzer</a:t>
            </a:r>
            <a:endParaRPr lang="en-US" sz="1700" dirty="0"/>
          </a:p>
        </p:txBody>
      </p:sp>
      <p:sp>
        <p:nvSpPr>
          <p:cNvPr id="13" name="Text 11"/>
          <p:cNvSpPr/>
          <p:nvPr/>
        </p:nvSpPr>
        <p:spPr>
          <a:xfrm>
            <a:off x="4678528" y="4389120"/>
            <a:ext cx="2834640" cy="457200"/>
          </a:xfrm>
          <a:prstGeom prst="rect">
            <a:avLst/>
          </a:prstGeom>
          <a:noFill/>
          <a:ln/>
        </p:spPr>
        <p:txBody>
          <a:bodyPr wrap="square" rtlCol="0" anchor="ctr"/>
          <a:lstStyle/>
          <a:p>
            <a:pPr marL="0" indent="0" algn="ctr">
              <a:buNone/>
            </a:pPr>
            <a:r>
              <a:rPr lang="en-US" sz="1300" dirty="0">
                <a:solidFill>
                  <a:srgbClr val="9FB3D0"/>
                </a:solidFill>
                <a:latin typeface="Arial" pitchFamily="34" charset="0"/>
                <a:ea typeface="Arial" pitchFamily="34" charset="-122"/>
                <a:cs typeface="Arial" pitchFamily="34" charset="-120"/>
              </a:rPr>
              <a:t>4-class OCT screening</a:t>
            </a:r>
            <a:endParaRPr lang="en-US" sz="1300" dirty="0"/>
          </a:p>
        </p:txBody>
      </p:sp>
      <p:sp>
        <p:nvSpPr>
          <p:cNvPr id="14" name="Shape 12"/>
          <p:cNvSpPr/>
          <p:nvPr/>
        </p:nvSpPr>
        <p:spPr>
          <a:xfrm>
            <a:off x="9662008" y="2926080"/>
            <a:ext cx="0" cy="731520"/>
          </a:xfrm>
          <a:prstGeom prst="line">
            <a:avLst/>
          </a:prstGeom>
          <a:noFill/>
          <a:ln w="19050">
            <a:solidFill>
              <a:srgbClr val="3B6EA5"/>
            </a:solidFill>
            <a:prstDash val="dash"/>
          </a:ln>
        </p:spPr>
        <p:txBody>
          <a:bodyPr/>
          <a:lstStyle/>
          <a:p>
            <a:endParaRPr lang="en-US"/>
          </a:p>
        </p:txBody>
      </p:sp>
      <p:sp>
        <p:nvSpPr>
          <p:cNvPr id="15" name="Shape 13"/>
          <p:cNvSpPr/>
          <p:nvPr/>
        </p:nvSpPr>
        <p:spPr>
          <a:xfrm>
            <a:off x="8061808" y="3657600"/>
            <a:ext cx="3200400" cy="1371600"/>
          </a:xfrm>
          <a:prstGeom prst="roundRect">
            <a:avLst>
              <a:gd name="adj" fmla="val 6667"/>
            </a:avLst>
          </a:prstGeom>
          <a:solidFill>
            <a:srgbClr val="132E52"/>
          </a:solidFill>
          <a:ln w="12700">
            <a:solidFill>
              <a:srgbClr val="1E5F9E"/>
            </a:solidFill>
            <a:prstDash val="solid"/>
          </a:ln>
        </p:spPr>
        <p:txBody>
          <a:bodyPr/>
          <a:lstStyle/>
          <a:p>
            <a:endParaRPr lang="en-US"/>
          </a:p>
        </p:txBody>
      </p:sp>
      <p:sp>
        <p:nvSpPr>
          <p:cNvPr id="16" name="Text 14"/>
          <p:cNvSpPr/>
          <p:nvPr/>
        </p:nvSpPr>
        <p:spPr>
          <a:xfrm>
            <a:off x="8244688" y="3886200"/>
            <a:ext cx="2834640" cy="45720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VKG</a:t>
            </a:r>
            <a:endParaRPr lang="en-US" sz="1700" dirty="0"/>
          </a:p>
        </p:txBody>
      </p:sp>
      <p:sp>
        <p:nvSpPr>
          <p:cNvPr id="17" name="Text 15"/>
          <p:cNvSpPr/>
          <p:nvPr/>
        </p:nvSpPr>
        <p:spPr>
          <a:xfrm>
            <a:off x="8244688" y="4389120"/>
            <a:ext cx="2834640" cy="457200"/>
          </a:xfrm>
          <a:prstGeom prst="rect">
            <a:avLst/>
          </a:prstGeom>
          <a:noFill/>
          <a:ln/>
        </p:spPr>
        <p:txBody>
          <a:bodyPr wrap="square" rtlCol="0" anchor="ctr"/>
          <a:lstStyle/>
          <a:p>
            <a:pPr marL="0" indent="0" algn="ctr">
              <a:buNone/>
            </a:pPr>
            <a:r>
              <a:rPr lang="en-US" sz="1300" dirty="0">
                <a:solidFill>
                  <a:srgbClr val="9FB3D0"/>
                </a:solidFill>
                <a:latin typeface="Arial" pitchFamily="34" charset="0"/>
                <a:ea typeface="Arial" pitchFamily="34" charset="-122"/>
                <a:cs typeface="Arial" pitchFamily="34" charset="-120"/>
              </a:rPr>
              <a:t>Corneal · Keratoconus</a:t>
            </a:r>
            <a:endParaRPr lang="en-US" sz="1300" dirty="0"/>
          </a:p>
        </p:txBody>
      </p:sp>
      <p:sp>
        <p:nvSpPr>
          <p:cNvPr id="18" name="Text 16"/>
          <p:cNvSpPr/>
          <p:nvPr/>
        </p:nvSpPr>
        <p:spPr>
          <a:xfrm>
            <a:off x="640080" y="5623560"/>
            <a:ext cx="10881360" cy="457200"/>
          </a:xfrm>
          <a:prstGeom prst="rect">
            <a:avLst/>
          </a:prstGeom>
          <a:noFill/>
          <a:ln/>
        </p:spPr>
        <p:txBody>
          <a:bodyPr wrap="square" rtlCol="0" anchor="ctr"/>
          <a:lstStyle/>
          <a:p>
            <a:pPr marL="0" indent="0" algn="ctr">
              <a:buNone/>
            </a:pPr>
            <a:r>
              <a:rPr lang="en-US" sz="1600" b="1" i="1" dirty="0">
                <a:latin typeface="Arial" pitchFamily="34" charset="0"/>
                <a:ea typeface="Arial" pitchFamily="34" charset="-122"/>
                <a:cs typeface="Arial" pitchFamily="34" charset="-120"/>
              </a:rPr>
              <a:t>One face. One dashboard. Three individual solutions underneath.</a:t>
            </a:r>
            <a:endParaRPr lang="en-US" sz="1600" b="1" dirty="0"/>
          </a:p>
        </p:txBody>
      </p:sp>
      <p:sp>
        <p:nvSpPr>
          <p:cNvPr id="19" name="Text 17"/>
          <p:cNvSpPr/>
          <p:nvPr/>
        </p:nvSpPr>
        <p:spPr>
          <a:xfrm>
            <a:off x="457200" y="6473952"/>
            <a:ext cx="3657600" cy="27432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AFIO ScanAI</a:t>
            </a:r>
            <a:endParaRPr lang="en-US" sz="1000" dirty="0"/>
          </a:p>
        </p:txBody>
      </p:sp>
      <p:sp>
        <p:nvSpPr>
          <p:cNvPr id="20" name="Text 18"/>
          <p:cNvSpPr/>
          <p:nvPr/>
        </p:nvSpPr>
        <p:spPr>
          <a:xfrm>
            <a:off x="11002975" y="6473952"/>
            <a:ext cx="8229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05 / 12</a:t>
            </a:r>
            <a:endParaRPr lang="en-US" sz="1000" dirty="0"/>
          </a:p>
        </p:txBody>
      </p:sp>
      <p:sp>
        <p:nvSpPr>
          <p:cNvPr id="22" name="Shape 4">
            <a:extLst>
              <a:ext uri="{FF2B5EF4-FFF2-40B4-BE49-F238E27FC236}">
                <a16:creationId xmlns:a16="http://schemas.microsoft.com/office/drawing/2014/main" id="{1B89D24C-E074-E366-38D7-EF4FA5741845}"/>
              </a:ext>
            </a:extLst>
          </p:cNvPr>
          <p:cNvSpPr/>
          <p:nvPr/>
        </p:nvSpPr>
        <p:spPr>
          <a:xfrm flipH="1">
            <a:off x="2535584" y="2926080"/>
            <a:ext cx="2189243" cy="0"/>
          </a:xfrm>
          <a:prstGeom prst="line">
            <a:avLst/>
          </a:prstGeom>
          <a:noFill/>
          <a:ln w="19050">
            <a:solidFill>
              <a:srgbClr val="3B6EA5"/>
            </a:solidFill>
            <a:prstDash val="dash"/>
          </a:ln>
        </p:spPr>
        <p:txBody>
          <a:bodyPr/>
          <a:lstStyle/>
          <a:p>
            <a:endParaRPr lang="en-US"/>
          </a:p>
        </p:txBody>
      </p:sp>
      <p:sp>
        <p:nvSpPr>
          <p:cNvPr id="25" name="Shape 4">
            <a:extLst>
              <a:ext uri="{FF2B5EF4-FFF2-40B4-BE49-F238E27FC236}">
                <a16:creationId xmlns:a16="http://schemas.microsoft.com/office/drawing/2014/main" id="{9045789C-E0D9-503F-71F0-5A31608B533F}"/>
              </a:ext>
            </a:extLst>
          </p:cNvPr>
          <p:cNvSpPr/>
          <p:nvPr/>
        </p:nvSpPr>
        <p:spPr>
          <a:xfrm flipH="1">
            <a:off x="7466564" y="2925100"/>
            <a:ext cx="2189243" cy="0"/>
          </a:xfrm>
          <a:prstGeom prst="line">
            <a:avLst/>
          </a:prstGeom>
          <a:noFill/>
          <a:ln w="19050">
            <a:solidFill>
              <a:srgbClr val="3B6EA5"/>
            </a:solidFill>
            <a:prstDash val="dash"/>
          </a:ln>
        </p:spPr>
        <p:txBody>
          <a:bodyPr/>
          <a:lstStyle/>
          <a:p>
            <a:endParaRPr lang="en-US"/>
          </a:p>
        </p:txBody>
      </p:sp>
      <p:sp>
        <p:nvSpPr>
          <p:cNvPr id="33" name="Shape 0">
            <a:extLst>
              <a:ext uri="{FF2B5EF4-FFF2-40B4-BE49-F238E27FC236}">
                <a16:creationId xmlns:a16="http://schemas.microsoft.com/office/drawing/2014/main" id="{F9BEF548-7619-F3A1-4EFF-DB8C08D3AC55}"/>
              </a:ext>
            </a:extLst>
          </p:cNvPr>
          <p:cNvSpPr/>
          <p:nvPr/>
        </p:nvSpPr>
        <p:spPr>
          <a:xfrm>
            <a:off x="0" y="0"/>
            <a:ext cx="12191695" cy="64008"/>
          </a:xfrm>
          <a:prstGeom prst="rect">
            <a:avLst/>
          </a:prstGeom>
          <a:solidFill>
            <a:srgbClr val="192C4F"/>
          </a:solidFill>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72" name="Shape 0">
            <a:extLst>
              <a:ext uri="{FF2B5EF4-FFF2-40B4-BE49-F238E27FC236}">
                <a16:creationId xmlns:a16="http://schemas.microsoft.com/office/drawing/2014/main" id="{C6CAE916-D623-7519-8A20-77207243D4E1}"/>
              </a:ext>
            </a:extLst>
          </p:cNvPr>
          <p:cNvSpPr/>
          <p:nvPr/>
        </p:nvSpPr>
        <p:spPr>
          <a:xfrm>
            <a:off x="10671059" y="5121866"/>
            <a:ext cx="1243584" cy="1243584"/>
          </a:xfrm>
          <a:prstGeom prst="ellipse">
            <a:avLst/>
          </a:prstGeom>
          <a:ln w="13970">
            <a:solidFill>
              <a:srgbClr val="18A99B">
                <a:alpha val="14000"/>
              </a:srgbClr>
            </a:solidFill>
            <a:prstDash val="solid"/>
          </a:ln>
        </p:spPr>
        <p:txBody>
          <a:bodyPr/>
          <a:lstStyle/>
          <a:p>
            <a:endParaRPr lang="en-US"/>
          </a:p>
        </p:txBody>
      </p:sp>
      <p:sp>
        <p:nvSpPr>
          <p:cNvPr id="74" name="Shape 1">
            <a:extLst>
              <a:ext uri="{FF2B5EF4-FFF2-40B4-BE49-F238E27FC236}">
                <a16:creationId xmlns:a16="http://schemas.microsoft.com/office/drawing/2014/main" id="{0B7DC721-5324-8D32-D353-0101DC8D0206}"/>
              </a:ext>
            </a:extLst>
          </p:cNvPr>
          <p:cNvSpPr/>
          <p:nvPr/>
        </p:nvSpPr>
        <p:spPr>
          <a:xfrm>
            <a:off x="10049267" y="4500074"/>
            <a:ext cx="2487168" cy="2487168"/>
          </a:xfrm>
          <a:prstGeom prst="ellipse">
            <a:avLst/>
          </a:prstGeom>
          <a:ln w="13970">
            <a:solidFill>
              <a:srgbClr val="18A99B">
                <a:alpha val="14000"/>
              </a:srgbClr>
            </a:solidFill>
            <a:prstDash val="solid"/>
          </a:ln>
        </p:spPr>
        <p:txBody>
          <a:bodyPr/>
          <a:lstStyle/>
          <a:p>
            <a:endParaRPr lang="en-US"/>
          </a:p>
        </p:txBody>
      </p:sp>
      <p:sp>
        <p:nvSpPr>
          <p:cNvPr id="76" name="Shape 2">
            <a:extLst>
              <a:ext uri="{FF2B5EF4-FFF2-40B4-BE49-F238E27FC236}">
                <a16:creationId xmlns:a16="http://schemas.microsoft.com/office/drawing/2014/main" id="{BBF7BBFE-A5BF-961C-8763-FC304A4F71FA}"/>
              </a:ext>
            </a:extLst>
          </p:cNvPr>
          <p:cNvSpPr/>
          <p:nvPr/>
        </p:nvSpPr>
        <p:spPr>
          <a:xfrm>
            <a:off x="9427475" y="3878282"/>
            <a:ext cx="3730752" cy="3730752"/>
          </a:xfrm>
          <a:prstGeom prst="ellipse">
            <a:avLst/>
          </a:prstGeom>
          <a:ln w="13970">
            <a:solidFill>
              <a:srgbClr val="18A99B">
                <a:alpha val="14000"/>
              </a:srgbClr>
            </a:solidFill>
            <a:prstDash val="solid"/>
          </a:ln>
        </p:spPr>
        <p:txBody>
          <a:bodyPr/>
          <a:lstStyle/>
          <a:p>
            <a:endParaRPr lang="en-US"/>
          </a:p>
        </p:txBody>
      </p:sp>
      <p:sp>
        <p:nvSpPr>
          <p:cNvPr id="68" name="Shape 15">
            <a:extLst>
              <a:ext uri="{FF2B5EF4-FFF2-40B4-BE49-F238E27FC236}">
                <a16:creationId xmlns:a16="http://schemas.microsoft.com/office/drawing/2014/main" id="{76C4E861-E9E5-D885-6685-2D2B5CC15A1C}"/>
              </a:ext>
            </a:extLst>
          </p:cNvPr>
          <p:cNvSpPr/>
          <p:nvPr/>
        </p:nvSpPr>
        <p:spPr>
          <a:xfrm>
            <a:off x="666671" y="1741932"/>
            <a:ext cx="10858351" cy="3703320"/>
          </a:xfrm>
          <a:prstGeom prst="roundRect">
            <a:avLst>
              <a:gd name="adj" fmla="val 3127"/>
            </a:avLst>
          </a:prstGeom>
          <a:solidFill>
            <a:srgbClr val="F4F7FA"/>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dirty="0"/>
          </a:p>
        </p:txBody>
      </p:sp>
      <p:sp>
        <p:nvSpPr>
          <p:cNvPr id="2" name="Shape 0"/>
          <p:cNvSpPr/>
          <p:nvPr/>
        </p:nvSpPr>
        <p:spPr>
          <a:xfrm>
            <a:off x="0" y="0"/>
            <a:ext cx="12191695" cy="64008"/>
          </a:xfrm>
          <a:prstGeom prst="rect">
            <a:avLst/>
          </a:prstGeom>
          <a:solidFill>
            <a:srgbClr val="192C4F"/>
          </a:solidFill>
          <a:ln/>
        </p:spPr>
        <p:txBody>
          <a:bodyPr/>
          <a:lstStyle/>
          <a:p>
            <a:endParaRPr lang="en-US"/>
          </a:p>
        </p:txBody>
      </p:sp>
      <p:sp>
        <p:nvSpPr>
          <p:cNvPr id="3" name="Text 1"/>
          <p:cNvSpPr/>
          <p:nvPr/>
        </p:nvSpPr>
        <p:spPr>
          <a:xfrm>
            <a:off x="525780" y="606026"/>
            <a:ext cx="11185855" cy="256032"/>
          </a:xfrm>
          <a:prstGeom prst="rect">
            <a:avLst/>
          </a:prstGeom>
          <a:noFill/>
          <a:ln/>
        </p:spPr>
        <p:txBody>
          <a:bodyPr wrap="square" lIns="0" tIns="0" rIns="0" bIns="0" rtlCol="0" anchor="ctr"/>
          <a:lstStyle/>
          <a:p>
            <a:pPr marL="0" indent="0" algn="l">
              <a:buNone/>
            </a:pPr>
            <a:r>
              <a:rPr lang="en-US" sz="1150" b="1" dirty="0">
                <a:solidFill>
                  <a:srgbClr val="192C4F"/>
                </a:solidFill>
              </a:rPr>
              <a:t>CLINICAL WORKFLOW</a:t>
            </a:r>
          </a:p>
        </p:txBody>
      </p:sp>
      <p:sp>
        <p:nvSpPr>
          <p:cNvPr id="4" name="Text 2"/>
          <p:cNvSpPr/>
          <p:nvPr/>
        </p:nvSpPr>
        <p:spPr>
          <a:xfrm>
            <a:off x="630168" y="1195640"/>
            <a:ext cx="3298767" cy="390947"/>
          </a:xfrm>
          <a:prstGeom prst="rect">
            <a:avLst/>
          </a:prstGeom>
          <a:noFill/>
          <a:ln/>
        </p:spPr>
        <p:txBody>
          <a:bodyPr wrap="square" lIns="0" tIns="0" rIns="0" bIns="0" rtlCol="0" anchor="t"/>
          <a:lstStyle/>
          <a:p>
            <a:pPr marL="0" indent="0">
              <a:lnSpc>
                <a:spcPct val="112000"/>
              </a:lnSpc>
              <a:buNone/>
            </a:pPr>
            <a:r>
              <a:rPr lang="en-US" sz="2400" b="1" dirty="0">
                <a:solidFill>
                  <a:srgbClr val="16324F"/>
                </a:solidFill>
                <a:latin typeface="Inter"/>
                <a:ea typeface="Cambria" pitchFamily="34" charset="-122"/>
                <a:cs typeface="Arial" panose="020B0604020202020204" pitchFamily="34" charset="0"/>
              </a:rPr>
              <a:t>This is how </a:t>
            </a:r>
            <a:r>
              <a:rPr lang="en-US" sz="2400" b="1" dirty="0" err="1">
                <a:solidFill>
                  <a:srgbClr val="16324F"/>
                </a:solidFill>
                <a:latin typeface="Inter"/>
                <a:ea typeface="Cambria" pitchFamily="34" charset="-122"/>
                <a:cs typeface="Arial" panose="020B0604020202020204" pitchFamily="34" charset="0"/>
              </a:rPr>
              <a:t>ScanAI</a:t>
            </a:r>
            <a:r>
              <a:rPr lang="en-US" sz="2400" b="1" dirty="0">
                <a:solidFill>
                  <a:srgbClr val="16324F"/>
                </a:solidFill>
                <a:latin typeface="Inter"/>
                <a:ea typeface="Cambria" pitchFamily="34" charset="-122"/>
                <a:cs typeface="Arial" panose="020B0604020202020204" pitchFamily="34" charset="0"/>
              </a:rPr>
              <a:t> works</a:t>
            </a:r>
            <a:endParaRPr lang="en-US" sz="2400" dirty="0">
              <a:latin typeface="Inter"/>
              <a:cs typeface="Arial" panose="020B0604020202020204" pitchFamily="34" charset="0"/>
            </a:endParaRPr>
          </a:p>
        </p:txBody>
      </p:sp>
      <p:sp>
        <p:nvSpPr>
          <p:cNvPr id="5" name="Shape 3"/>
          <p:cNvSpPr/>
          <p:nvPr/>
        </p:nvSpPr>
        <p:spPr>
          <a:xfrm>
            <a:off x="1399390" y="2312055"/>
            <a:ext cx="2037080" cy="819616"/>
          </a:xfrm>
          <a:prstGeom prst="roundRect">
            <a:avLst>
              <a:gd name="adj" fmla="val 19565"/>
            </a:avLst>
          </a:prstGeom>
          <a:solidFill>
            <a:srgbClr val="FFFFFF"/>
          </a:solidFill>
          <a:ln w="12700">
            <a:solidFill>
              <a:srgbClr val="E1E7EE"/>
            </a:solidFill>
            <a:prstDash val="solid"/>
          </a:ln>
        </p:spPr>
        <p:txBody>
          <a:bodyPr/>
          <a:lstStyle/>
          <a:p>
            <a:endParaRPr lang="en-US" sz="2000"/>
          </a:p>
        </p:txBody>
      </p:sp>
      <p:sp>
        <p:nvSpPr>
          <p:cNvPr id="6" name="Text 4"/>
          <p:cNvSpPr/>
          <p:nvPr/>
        </p:nvSpPr>
        <p:spPr>
          <a:xfrm>
            <a:off x="1549105" y="2343638"/>
            <a:ext cx="1703242" cy="777240"/>
          </a:xfrm>
          <a:prstGeom prst="rect">
            <a:avLst/>
          </a:prstGeom>
          <a:noFill/>
          <a:ln/>
        </p:spPr>
        <p:txBody>
          <a:bodyPr wrap="square" lIns="0" tIns="0" rIns="0" bIns="0" rtlCol="0" anchor="ctr"/>
          <a:lstStyle/>
          <a:p>
            <a:pPr marL="0" indent="0" algn="ctr">
              <a:buNone/>
            </a:pPr>
            <a:r>
              <a:rPr lang="en-US" sz="1400" b="1" dirty="0">
                <a:solidFill>
                  <a:srgbClr val="16324F"/>
                </a:solidFill>
                <a:latin typeface="Calibri" pitchFamily="34" charset="0"/>
                <a:ea typeface="Calibri" pitchFamily="34" charset="-122"/>
                <a:cs typeface="Calibri" pitchFamily="34" charset="-120"/>
              </a:rPr>
              <a:t>Upload Image</a:t>
            </a:r>
            <a:endParaRPr lang="en-US" sz="1400" b="1" dirty="0"/>
          </a:p>
        </p:txBody>
      </p:sp>
      <p:pic>
        <p:nvPicPr>
          <p:cNvPr id="7" name="Image 0" descr="/home/claude/work/assets/icons/arrow-right-teal.png"/>
          <p:cNvPicPr>
            <a:picLocks noChangeAspect="1"/>
          </p:cNvPicPr>
          <p:nvPr/>
        </p:nvPicPr>
        <p:blipFill>
          <a:blip r:embed="rId3"/>
          <a:stretch>
            <a:fillRect/>
          </a:stretch>
        </p:blipFill>
        <p:spPr>
          <a:xfrm>
            <a:off x="3747565" y="2563587"/>
            <a:ext cx="438545" cy="337342"/>
          </a:xfrm>
          <a:prstGeom prst="rect">
            <a:avLst/>
          </a:prstGeom>
        </p:spPr>
      </p:pic>
      <p:sp>
        <p:nvSpPr>
          <p:cNvPr id="8" name="Shape 5"/>
          <p:cNvSpPr/>
          <p:nvPr/>
        </p:nvSpPr>
        <p:spPr>
          <a:xfrm>
            <a:off x="4956808" y="2343638"/>
            <a:ext cx="1819750" cy="777240"/>
          </a:xfrm>
          <a:prstGeom prst="roundRect">
            <a:avLst>
              <a:gd name="adj" fmla="val 19565"/>
            </a:avLst>
          </a:prstGeom>
          <a:solidFill>
            <a:srgbClr val="FFFFFF"/>
          </a:solidFill>
          <a:ln w="12700">
            <a:solidFill>
              <a:srgbClr val="E1E7EE"/>
            </a:solidFill>
            <a:prstDash val="solid"/>
          </a:ln>
        </p:spPr>
        <p:txBody>
          <a:bodyPr/>
          <a:lstStyle/>
          <a:p>
            <a:endParaRPr lang="en-US" sz="2000"/>
          </a:p>
        </p:txBody>
      </p:sp>
      <p:sp>
        <p:nvSpPr>
          <p:cNvPr id="9" name="Text 6"/>
          <p:cNvSpPr/>
          <p:nvPr/>
        </p:nvSpPr>
        <p:spPr>
          <a:xfrm>
            <a:off x="4956808" y="2343638"/>
            <a:ext cx="1819750" cy="77724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AI Analysis</a:t>
            </a:r>
            <a:endParaRPr lang="en-US" sz="1600" dirty="0"/>
          </a:p>
        </p:txBody>
      </p:sp>
      <p:pic>
        <p:nvPicPr>
          <p:cNvPr id="10" name="Image 1" descr="/home/claude/work/assets/icons/arrow-right-teal.png"/>
          <p:cNvPicPr>
            <a:picLocks noChangeAspect="1"/>
          </p:cNvPicPr>
          <p:nvPr/>
        </p:nvPicPr>
        <p:blipFill>
          <a:blip r:embed="rId3"/>
          <a:stretch>
            <a:fillRect/>
          </a:stretch>
        </p:blipFill>
        <p:spPr>
          <a:xfrm>
            <a:off x="7232290" y="2552898"/>
            <a:ext cx="439309" cy="337930"/>
          </a:xfrm>
          <a:prstGeom prst="rect">
            <a:avLst/>
          </a:prstGeom>
        </p:spPr>
      </p:pic>
      <p:sp>
        <p:nvSpPr>
          <p:cNvPr id="11" name="Shape 7"/>
          <p:cNvSpPr/>
          <p:nvPr/>
        </p:nvSpPr>
        <p:spPr>
          <a:xfrm>
            <a:off x="8677835" y="2278597"/>
            <a:ext cx="1965060" cy="733544"/>
          </a:xfrm>
          <a:prstGeom prst="roundRect">
            <a:avLst>
              <a:gd name="adj" fmla="val 19565"/>
            </a:avLst>
          </a:prstGeom>
          <a:solidFill>
            <a:srgbClr val="FFFFFF"/>
          </a:solidFill>
          <a:ln w="12700">
            <a:solidFill>
              <a:srgbClr val="E1E7EE"/>
            </a:solidFill>
            <a:prstDash val="solid"/>
          </a:ln>
        </p:spPr>
        <p:txBody>
          <a:bodyPr/>
          <a:lstStyle/>
          <a:p>
            <a:endParaRPr lang="en-US" sz="2000"/>
          </a:p>
        </p:txBody>
      </p:sp>
      <p:sp>
        <p:nvSpPr>
          <p:cNvPr id="12" name="Text 8"/>
          <p:cNvSpPr/>
          <p:nvPr/>
        </p:nvSpPr>
        <p:spPr>
          <a:xfrm>
            <a:off x="8790788" y="2278597"/>
            <a:ext cx="1739153" cy="733544"/>
          </a:xfrm>
          <a:prstGeom prst="rect">
            <a:avLst/>
          </a:prstGeom>
          <a:noFill/>
          <a:ln/>
        </p:spPr>
        <p:txBody>
          <a:bodyPr wrap="square" lIns="0" tIns="0" rIns="0" bIns="0" rtlCol="0" anchor="ctr"/>
          <a:lstStyle/>
          <a:p>
            <a:pPr marL="0" indent="0" algn="ctr">
              <a:buNone/>
            </a:pPr>
            <a:r>
              <a:rPr lang="en-US" sz="1400" b="1" dirty="0">
                <a:solidFill>
                  <a:srgbClr val="16324F"/>
                </a:solidFill>
                <a:latin typeface="Calibri" pitchFamily="34" charset="0"/>
                <a:ea typeface="Calibri" pitchFamily="34" charset="-122"/>
                <a:cs typeface="Calibri" pitchFamily="34" charset="-120"/>
              </a:rPr>
              <a:t>Grad-CAM Heatmap</a:t>
            </a:r>
            <a:endParaRPr lang="en-US" sz="1400" dirty="0"/>
          </a:p>
        </p:txBody>
      </p:sp>
      <p:pic>
        <p:nvPicPr>
          <p:cNvPr id="13" name="Image 2" descr="/home/claude/work/assets/icons/arrow-right-teal.png"/>
          <p:cNvPicPr>
            <a:picLocks noChangeAspect="1"/>
          </p:cNvPicPr>
          <p:nvPr/>
        </p:nvPicPr>
        <p:blipFill>
          <a:blip r:embed="rId3"/>
          <a:stretch>
            <a:fillRect/>
          </a:stretch>
        </p:blipFill>
        <p:spPr>
          <a:xfrm rot="5400000">
            <a:off x="9453058" y="3319232"/>
            <a:ext cx="414612" cy="318932"/>
          </a:xfrm>
          <a:prstGeom prst="rect">
            <a:avLst/>
          </a:prstGeom>
        </p:spPr>
      </p:pic>
      <p:sp>
        <p:nvSpPr>
          <p:cNvPr id="54" name="Text 43"/>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55" name="Text 44"/>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03</a:t>
            </a:r>
            <a:endParaRPr lang="en-US" sz="1000" dirty="0"/>
          </a:p>
        </p:txBody>
      </p:sp>
      <p:sp>
        <p:nvSpPr>
          <p:cNvPr id="57" name="Shape 7">
            <a:extLst>
              <a:ext uri="{FF2B5EF4-FFF2-40B4-BE49-F238E27FC236}">
                <a16:creationId xmlns:a16="http://schemas.microsoft.com/office/drawing/2014/main" id="{EC8D003C-23CF-47DD-1B93-907BC15C8F93}"/>
              </a:ext>
            </a:extLst>
          </p:cNvPr>
          <p:cNvSpPr/>
          <p:nvPr/>
        </p:nvSpPr>
        <p:spPr>
          <a:xfrm>
            <a:off x="8677835" y="4007157"/>
            <a:ext cx="1965060" cy="733544"/>
          </a:xfrm>
          <a:prstGeom prst="roundRect">
            <a:avLst>
              <a:gd name="adj" fmla="val 19565"/>
            </a:avLst>
          </a:prstGeom>
          <a:solidFill>
            <a:srgbClr val="FFFFFF"/>
          </a:solidFill>
          <a:ln w="12700">
            <a:solidFill>
              <a:srgbClr val="E1E7EE"/>
            </a:solidFill>
            <a:prstDash val="solid"/>
          </a:ln>
        </p:spPr>
        <p:txBody>
          <a:bodyPr/>
          <a:lstStyle/>
          <a:p>
            <a:endParaRPr lang="en-US" sz="2000"/>
          </a:p>
        </p:txBody>
      </p:sp>
      <p:sp>
        <p:nvSpPr>
          <p:cNvPr id="59" name="Text 8">
            <a:extLst>
              <a:ext uri="{FF2B5EF4-FFF2-40B4-BE49-F238E27FC236}">
                <a16:creationId xmlns:a16="http://schemas.microsoft.com/office/drawing/2014/main" id="{BF630275-237B-5F4D-6FA7-9AFDBEA673BD}"/>
              </a:ext>
            </a:extLst>
          </p:cNvPr>
          <p:cNvSpPr/>
          <p:nvPr/>
        </p:nvSpPr>
        <p:spPr>
          <a:xfrm>
            <a:off x="8790788" y="4007157"/>
            <a:ext cx="1739153" cy="733544"/>
          </a:xfrm>
          <a:prstGeom prst="rect">
            <a:avLst/>
          </a:prstGeom>
          <a:noFill/>
          <a:ln/>
        </p:spPr>
        <p:txBody>
          <a:bodyPr wrap="square" lIns="0" tIns="0" rIns="0" bIns="0" rtlCol="0" anchor="ctr"/>
          <a:lstStyle/>
          <a:p>
            <a:pPr marL="0" indent="0" algn="ctr">
              <a:buNone/>
            </a:pPr>
            <a:r>
              <a:rPr lang="en-US" sz="1400" b="1" dirty="0">
                <a:solidFill>
                  <a:srgbClr val="16324F"/>
                </a:solidFill>
                <a:latin typeface="Calibri" pitchFamily="34" charset="0"/>
                <a:ea typeface="Calibri" pitchFamily="34" charset="-122"/>
                <a:cs typeface="Calibri" pitchFamily="34" charset="-120"/>
              </a:rPr>
              <a:t>Draft Report</a:t>
            </a:r>
            <a:endParaRPr lang="en-US" sz="1400" dirty="0"/>
          </a:p>
        </p:txBody>
      </p:sp>
      <p:sp>
        <p:nvSpPr>
          <p:cNvPr id="60" name="Shape 3">
            <a:extLst>
              <a:ext uri="{FF2B5EF4-FFF2-40B4-BE49-F238E27FC236}">
                <a16:creationId xmlns:a16="http://schemas.microsoft.com/office/drawing/2014/main" id="{FA649AC1-FDCB-6A34-C211-4191840F168A}"/>
              </a:ext>
            </a:extLst>
          </p:cNvPr>
          <p:cNvSpPr/>
          <p:nvPr/>
        </p:nvSpPr>
        <p:spPr>
          <a:xfrm>
            <a:off x="1402380" y="3976503"/>
            <a:ext cx="2037080" cy="819616"/>
          </a:xfrm>
          <a:prstGeom prst="roundRect">
            <a:avLst>
              <a:gd name="adj" fmla="val 19565"/>
            </a:avLst>
          </a:prstGeom>
          <a:solidFill>
            <a:srgbClr val="192C4F"/>
          </a:solidFill>
          <a:ln w="12700">
            <a:solidFill>
              <a:srgbClr val="E1E7EE"/>
            </a:solidFill>
            <a:prstDash val="solid"/>
          </a:ln>
        </p:spPr>
        <p:txBody>
          <a:bodyPr/>
          <a:lstStyle/>
          <a:p>
            <a:endParaRPr lang="en-US" sz="2000"/>
          </a:p>
        </p:txBody>
      </p:sp>
      <p:sp>
        <p:nvSpPr>
          <p:cNvPr id="61" name="Text 4">
            <a:extLst>
              <a:ext uri="{FF2B5EF4-FFF2-40B4-BE49-F238E27FC236}">
                <a16:creationId xmlns:a16="http://schemas.microsoft.com/office/drawing/2014/main" id="{0F3A2824-6FF2-8EE5-6CA4-3EA1549E49F4}"/>
              </a:ext>
            </a:extLst>
          </p:cNvPr>
          <p:cNvSpPr/>
          <p:nvPr/>
        </p:nvSpPr>
        <p:spPr>
          <a:xfrm>
            <a:off x="1552095" y="4008086"/>
            <a:ext cx="1703242" cy="7772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Approved Report</a:t>
            </a:r>
            <a:endParaRPr lang="en-US" sz="1400" b="1" dirty="0">
              <a:solidFill>
                <a:schemeClr val="bg1"/>
              </a:solidFill>
            </a:endParaRPr>
          </a:p>
        </p:txBody>
      </p:sp>
      <p:pic>
        <p:nvPicPr>
          <p:cNvPr id="62" name="Image 0" descr="/home/claude/work/assets/icons/arrow-right-teal.png">
            <a:extLst>
              <a:ext uri="{FF2B5EF4-FFF2-40B4-BE49-F238E27FC236}">
                <a16:creationId xmlns:a16="http://schemas.microsoft.com/office/drawing/2014/main" id="{37F9DC4C-127F-EE13-7D52-61B7DCCD36F8}"/>
              </a:ext>
            </a:extLst>
          </p:cNvPr>
          <p:cNvPicPr>
            <a:picLocks noChangeAspect="1"/>
          </p:cNvPicPr>
          <p:nvPr/>
        </p:nvPicPr>
        <p:blipFill>
          <a:blip r:embed="rId3"/>
          <a:stretch>
            <a:fillRect/>
          </a:stretch>
        </p:blipFill>
        <p:spPr>
          <a:xfrm rot="10800000">
            <a:off x="3750555" y="4228035"/>
            <a:ext cx="438545" cy="337342"/>
          </a:xfrm>
          <a:prstGeom prst="rect">
            <a:avLst/>
          </a:prstGeom>
        </p:spPr>
      </p:pic>
      <p:sp>
        <p:nvSpPr>
          <p:cNvPr id="63" name="Shape 5">
            <a:extLst>
              <a:ext uri="{FF2B5EF4-FFF2-40B4-BE49-F238E27FC236}">
                <a16:creationId xmlns:a16="http://schemas.microsoft.com/office/drawing/2014/main" id="{2D5B8608-6D1C-E3F3-A33B-2CCAD64B8021}"/>
              </a:ext>
            </a:extLst>
          </p:cNvPr>
          <p:cNvSpPr/>
          <p:nvPr/>
        </p:nvSpPr>
        <p:spPr>
          <a:xfrm>
            <a:off x="4959798" y="4008086"/>
            <a:ext cx="1819750" cy="777240"/>
          </a:xfrm>
          <a:prstGeom prst="roundRect">
            <a:avLst>
              <a:gd name="adj" fmla="val 19565"/>
            </a:avLst>
          </a:prstGeom>
          <a:solidFill>
            <a:srgbClr val="FFFFFF"/>
          </a:solidFill>
          <a:ln w="12700">
            <a:solidFill>
              <a:srgbClr val="E1E7EE"/>
            </a:solidFill>
            <a:prstDash val="solid"/>
          </a:ln>
        </p:spPr>
        <p:txBody>
          <a:bodyPr/>
          <a:lstStyle/>
          <a:p>
            <a:endParaRPr lang="en-US" sz="2000"/>
          </a:p>
        </p:txBody>
      </p:sp>
      <p:sp>
        <p:nvSpPr>
          <p:cNvPr id="64" name="Text 6">
            <a:extLst>
              <a:ext uri="{FF2B5EF4-FFF2-40B4-BE49-F238E27FC236}">
                <a16:creationId xmlns:a16="http://schemas.microsoft.com/office/drawing/2014/main" id="{1657F2FB-AE01-F9B9-BB1D-FC22F56279A2}"/>
              </a:ext>
            </a:extLst>
          </p:cNvPr>
          <p:cNvSpPr/>
          <p:nvPr/>
        </p:nvSpPr>
        <p:spPr>
          <a:xfrm>
            <a:off x="4959798" y="4008086"/>
            <a:ext cx="1819750" cy="77724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Doctor Review</a:t>
            </a:r>
            <a:endParaRPr lang="en-US" sz="1600" dirty="0"/>
          </a:p>
        </p:txBody>
      </p:sp>
      <p:pic>
        <p:nvPicPr>
          <p:cNvPr id="65" name="Image 1" descr="/home/claude/work/assets/icons/arrow-right-teal.png">
            <a:extLst>
              <a:ext uri="{FF2B5EF4-FFF2-40B4-BE49-F238E27FC236}">
                <a16:creationId xmlns:a16="http://schemas.microsoft.com/office/drawing/2014/main" id="{F5F7CAA5-1464-86AB-EDEC-C0E513421CCE}"/>
              </a:ext>
            </a:extLst>
          </p:cNvPr>
          <p:cNvPicPr>
            <a:picLocks noChangeAspect="1"/>
          </p:cNvPicPr>
          <p:nvPr/>
        </p:nvPicPr>
        <p:blipFill>
          <a:blip r:embed="rId3"/>
          <a:stretch>
            <a:fillRect/>
          </a:stretch>
        </p:blipFill>
        <p:spPr>
          <a:xfrm rot="10800000">
            <a:off x="7235280" y="4217346"/>
            <a:ext cx="439309" cy="3379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107269"/>
                </a:solidFill>
                <a:latin typeface="Arial" pitchFamily="34" charset="0"/>
                <a:ea typeface="Arial" pitchFamily="34" charset="-122"/>
                <a:cs typeface="Arial" pitchFamily="34" charset="-120"/>
              </a:rPr>
              <a:t>WHY THIS MATTERS</a:t>
            </a:r>
            <a:endParaRPr lang="en-US" sz="1400" dirty="0">
              <a:solidFill>
                <a:srgbClr val="107269"/>
              </a:solidFill>
            </a:endParaRPr>
          </a:p>
        </p:txBody>
      </p:sp>
      <p:sp>
        <p:nvSpPr>
          <p:cNvPr id="3" name="Text 1"/>
          <p:cNvSpPr/>
          <p:nvPr/>
        </p:nvSpPr>
        <p:spPr>
          <a:xfrm>
            <a:off x="640080" y="822960"/>
            <a:ext cx="10789920" cy="1005840"/>
          </a:xfrm>
          <a:prstGeom prst="rect">
            <a:avLst/>
          </a:prstGeom>
          <a:noFill/>
          <a:ln/>
        </p:spPr>
        <p:txBody>
          <a:bodyPr wrap="square" rtlCol="0" anchor="ctr"/>
          <a:lstStyle/>
          <a:p>
            <a:pPr marL="0" indent="0">
              <a:lnSpc>
                <a:spcPct val="102000"/>
              </a:lnSpc>
              <a:buNone/>
            </a:pPr>
            <a:r>
              <a:rPr lang="en-US" sz="3400" b="1" dirty="0">
                <a:solidFill>
                  <a:srgbClr val="192C4F"/>
                </a:solidFill>
                <a:latin typeface="Inter"/>
                <a:ea typeface="Arial" pitchFamily="34" charset="-122"/>
                <a:cs typeface="Arial" pitchFamily="34" charset="-120"/>
              </a:rPr>
              <a:t>The Number That Matters Most</a:t>
            </a:r>
            <a:endParaRPr lang="en-US" sz="3400" dirty="0">
              <a:solidFill>
                <a:srgbClr val="192C4F"/>
              </a:solidFill>
              <a:latin typeface="Inter"/>
            </a:endParaRPr>
          </a:p>
        </p:txBody>
      </p:sp>
      <p:sp>
        <p:nvSpPr>
          <p:cNvPr id="4" name="Shape 2"/>
          <p:cNvSpPr/>
          <p:nvPr/>
        </p:nvSpPr>
        <p:spPr>
          <a:xfrm>
            <a:off x="640080" y="2286000"/>
            <a:ext cx="5029200" cy="3291840"/>
          </a:xfrm>
          <a:prstGeom prst="roundRect">
            <a:avLst>
              <a:gd name="adj" fmla="val 3333"/>
            </a:avLst>
          </a:prstGeom>
          <a:solidFill>
            <a:srgbClr val="132E52"/>
          </a:solidFill>
          <a:ln/>
        </p:spPr>
        <p:txBody>
          <a:bodyPr/>
          <a:lstStyle/>
          <a:p>
            <a:endParaRPr lang="en-US"/>
          </a:p>
        </p:txBody>
      </p:sp>
      <p:sp>
        <p:nvSpPr>
          <p:cNvPr id="5" name="Text 3"/>
          <p:cNvSpPr/>
          <p:nvPr/>
        </p:nvSpPr>
        <p:spPr>
          <a:xfrm>
            <a:off x="914400" y="2560320"/>
            <a:ext cx="4480560" cy="365760"/>
          </a:xfrm>
          <a:prstGeom prst="rect">
            <a:avLst/>
          </a:prstGeom>
          <a:noFill/>
          <a:ln/>
        </p:spPr>
        <p:txBody>
          <a:bodyPr wrap="square" rtlCol="0" anchor="ctr"/>
          <a:lstStyle/>
          <a:p>
            <a:pPr marL="0" indent="0">
              <a:buNone/>
            </a:pPr>
            <a:r>
              <a:rPr lang="en-US" sz="1300" b="1" kern="0" spc="150" dirty="0">
                <a:solidFill>
                  <a:schemeClr val="bg1"/>
                </a:solidFill>
                <a:latin typeface="Arial" pitchFamily="34" charset="0"/>
                <a:ea typeface="Arial" pitchFamily="34" charset="-122"/>
                <a:cs typeface="Arial" pitchFamily="34" charset="-120"/>
              </a:rPr>
              <a:t>TRADITIONAL</a:t>
            </a:r>
            <a:endParaRPr lang="en-US" sz="1300" dirty="0">
              <a:solidFill>
                <a:schemeClr val="bg1"/>
              </a:solidFill>
            </a:endParaRPr>
          </a:p>
        </p:txBody>
      </p:sp>
      <p:sp>
        <p:nvSpPr>
          <p:cNvPr id="6" name="Text 4"/>
          <p:cNvSpPr/>
          <p:nvPr/>
        </p:nvSpPr>
        <p:spPr>
          <a:xfrm>
            <a:off x="914400" y="2971800"/>
            <a:ext cx="4480560" cy="1005840"/>
          </a:xfrm>
          <a:prstGeom prst="rect">
            <a:avLst/>
          </a:prstGeom>
          <a:noFill/>
          <a:ln/>
        </p:spPr>
        <p:txBody>
          <a:bodyPr wrap="square" rtlCol="0" anchor="ctr"/>
          <a:lstStyle/>
          <a:p>
            <a:pPr marL="0" indent="0">
              <a:buNone/>
            </a:pPr>
            <a:r>
              <a:rPr lang="en-US" sz="4400" b="1" dirty="0">
                <a:solidFill>
                  <a:schemeClr val="bg1"/>
                </a:solidFill>
                <a:latin typeface="Arial" pitchFamily="34" charset="0"/>
                <a:ea typeface="Arial" pitchFamily="34" charset="-122"/>
                <a:cs typeface="Arial" pitchFamily="34" charset="-120"/>
              </a:rPr>
              <a:t>20–30 min</a:t>
            </a:r>
            <a:endParaRPr lang="en-US" sz="4400" dirty="0">
              <a:solidFill>
                <a:schemeClr val="bg1"/>
              </a:solidFill>
            </a:endParaRPr>
          </a:p>
        </p:txBody>
      </p:sp>
      <p:sp>
        <p:nvSpPr>
          <p:cNvPr id="7" name="Text 5"/>
          <p:cNvSpPr/>
          <p:nvPr/>
        </p:nvSpPr>
        <p:spPr>
          <a:xfrm>
            <a:off x="914400" y="3977640"/>
            <a:ext cx="4480560" cy="457200"/>
          </a:xfrm>
          <a:prstGeom prst="rect">
            <a:avLst/>
          </a:prstGeom>
          <a:noFill/>
          <a:ln/>
        </p:spPr>
        <p:txBody>
          <a:bodyPr wrap="square" rtlCol="0" anchor="ctr"/>
          <a:lstStyle/>
          <a:p>
            <a:pPr marL="0" indent="0">
              <a:buNone/>
            </a:pPr>
            <a:r>
              <a:rPr lang="en-US" sz="1400" dirty="0">
                <a:solidFill>
                  <a:schemeClr val="bg1"/>
                </a:solidFill>
                <a:latin typeface="Arial" pitchFamily="34" charset="0"/>
                <a:ea typeface="Arial" pitchFamily="34" charset="-122"/>
                <a:cs typeface="Arial" pitchFamily="34" charset="-120"/>
              </a:rPr>
              <a:t>per patient, with a specialist</a:t>
            </a:r>
            <a:endParaRPr lang="en-US" sz="1400" dirty="0">
              <a:solidFill>
                <a:schemeClr val="bg1"/>
              </a:solidFill>
            </a:endParaRPr>
          </a:p>
        </p:txBody>
      </p:sp>
      <p:sp>
        <p:nvSpPr>
          <p:cNvPr id="8" name="Text 6"/>
          <p:cNvSpPr/>
          <p:nvPr/>
        </p:nvSpPr>
        <p:spPr>
          <a:xfrm>
            <a:off x="914400" y="4663440"/>
            <a:ext cx="4480560" cy="640080"/>
          </a:xfrm>
          <a:prstGeom prst="rect">
            <a:avLst/>
          </a:prstGeom>
          <a:noFill/>
          <a:ln/>
        </p:spPr>
        <p:txBody>
          <a:bodyPr wrap="square" rtlCol="0" anchor="ctr"/>
          <a:lstStyle/>
          <a:p>
            <a:pPr marL="0" indent="0">
              <a:buNone/>
            </a:pPr>
            <a:r>
              <a:rPr lang="en-US" sz="1400" dirty="0">
                <a:solidFill>
                  <a:schemeClr val="bg1"/>
                </a:solidFill>
                <a:latin typeface="Arial" pitchFamily="34" charset="0"/>
                <a:ea typeface="Arial" pitchFamily="34" charset="-122"/>
                <a:cs typeface="Arial" pitchFamily="34" charset="-120"/>
              </a:rPr>
              <a:t>Specialist reviews every patient</a:t>
            </a:r>
            <a:endParaRPr lang="en-US" sz="1400" dirty="0">
              <a:solidFill>
                <a:schemeClr val="bg1"/>
              </a:solidFill>
            </a:endParaRPr>
          </a:p>
        </p:txBody>
      </p:sp>
      <p:sp>
        <p:nvSpPr>
          <p:cNvPr id="9" name="Shape 7"/>
          <p:cNvSpPr/>
          <p:nvPr/>
        </p:nvSpPr>
        <p:spPr>
          <a:xfrm>
            <a:off x="6492240" y="2286000"/>
            <a:ext cx="5029200" cy="3291840"/>
          </a:xfrm>
          <a:prstGeom prst="roundRect">
            <a:avLst>
              <a:gd name="adj" fmla="val 3333"/>
            </a:avLst>
          </a:prstGeom>
          <a:solidFill>
            <a:srgbClr val="107269"/>
          </a:solidFill>
          <a:ln/>
        </p:spPr>
        <p:txBody>
          <a:bodyPr/>
          <a:lstStyle/>
          <a:p>
            <a:endParaRPr lang="en-US"/>
          </a:p>
        </p:txBody>
      </p:sp>
      <p:sp>
        <p:nvSpPr>
          <p:cNvPr id="10" name="Text 8"/>
          <p:cNvSpPr/>
          <p:nvPr/>
        </p:nvSpPr>
        <p:spPr>
          <a:xfrm>
            <a:off x="6766560" y="2560320"/>
            <a:ext cx="4480560" cy="365760"/>
          </a:xfrm>
          <a:prstGeom prst="rect">
            <a:avLst/>
          </a:prstGeom>
          <a:noFill/>
          <a:ln/>
        </p:spPr>
        <p:txBody>
          <a:bodyPr wrap="square" rtlCol="0" anchor="ctr"/>
          <a:lstStyle/>
          <a:p>
            <a:pPr marL="0" indent="0">
              <a:buNone/>
            </a:pPr>
            <a:r>
              <a:rPr lang="en-US" sz="1300" b="1" kern="0" spc="150" dirty="0">
                <a:solidFill>
                  <a:schemeClr val="bg1"/>
                </a:solidFill>
                <a:latin typeface="Arial" pitchFamily="34" charset="0"/>
                <a:ea typeface="Arial" pitchFamily="34" charset="-122"/>
                <a:cs typeface="Arial" pitchFamily="34" charset="-120"/>
              </a:rPr>
              <a:t>WITH </a:t>
            </a:r>
            <a:r>
              <a:rPr lang="en-US" sz="1300" b="1" kern="0" spc="150" dirty="0" err="1">
                <a:solidFill>
                  <a:schemeClr val="bg1"/>
                </a:solidFill>
                <a:latin typeface="Arial" pitchFamily="34" charset="0"/>
                <a:ea typeface="Arial" pitchFamily="34" charset="-122"/>
                <a:cs typeface="Arial" pitchFamily="34" charset="-120"/>
              </a:rPr>
              <a:t>ScanAI</a:t>
            </a:r>
            <a:endParaRPr lang="en-US" sz="1300" dirty="0">
              <a:solidFill>
                <a:schemeClr val="bg1"/>
              </a:solidFill>
            </a:endParaRPr>
          </a:p>
        </p:txBody>
      </p:sp>
      <p:sp>
        <p:nvSpPr>
          <p:cNvPr id="11" name="Text 9"/>
          <p:cNvSpPr/>
          <p:nvPr/>
        </p:nvSpPr>
        <p:spPr>
          <a:xfrm>
            <a:off x="6766560" y="2971800"/>
            <a:ext cx="4480560" cy="1005840"/>
          </a:xfrm>
          <a:prstGeom prst="rect">
            <a:avLst/>
          </a:prstGeom>
          <a:noFill/>
          <a:ln/>
        </p:spPr>
        <p:txBody>
          <a:bodyPr wrap="square" rtlCol="0" anchor="ctr"/>
          <a:lstStyle/>
          <a:p>
            <a:pPr marL="0" indent="0">
              <a:buNone/>
            </a:pPr>
            <a:r>
              <a:rPr lang="en-US" sz="4400" b="1" dirty="0">
                <a:solidFill>
                  <a:schemeClr val="bg1"/>
                </a:solidFill>
                <a:latin typeface="Arial" pitchFamily="34" charset="0"/>
                <a:ea typeface="Arial" pitchFamily="34" charset="-122"/>
                <a:cs typeface="Arial" pitchFamily="34" charset="-120"/>
              </a:rPr>
              <a:t>~3 min</a:t>
            </a:r>
            <a:endParaRPr lang="en-US" sz="4400" dirty="0">
              <a:solidFill>
                <a:schemeClr val="bg1"/>
              </a:solidFill>
            </a:endParaRPr>
          </a:p>
        </p:txBody>
      </p:sp>
      <p:sp>
        <p:nvSpPr>
          <p:cNvPr id="12" name="Text 10"/>
          <p:cNvSpPr/>
          <p:nvPr/>
        </p:nvSpPr>
        <p:spPr>
          <a:xfrm>
            <a:off x="6766560" y="3977640"/>
            <a:ext cx="4480560" cy="457200"/>
          </a:xfrm>
          <a:prstGeom prst="rect">
            <a:avLst/>
          </a:prstGeom>
          <a:noFill/>
          <a:ln/>
        </p:spPr>
        <p:txBody>
          <a:bodyPr wrap="square" rtlCol="0" anchor="ctr"/>
          <a:lstStyle/>
          <a:p>
            <a:pPr marL="0" indent="0">
              <a:buNone/>
            </a:pPr>
            <a:r>
              <a:rPr lang="en-US" sz="1400" dirty="0">
                <a:solidFill>
                  <a:schemeClr val="bg1"/>
                </a:solidFill>
                <a:latin typeface="Arial" pitchFamily="34" charset="0"/>
                <a:ea typeface="Arial" pitchFamily="34" charset="-122"/>
                <a:cs typeface="Arial" pitchFamily="34" charset="-120"/>
              </a:rPr>
              <a:t>per patient, with a technician</a:t>
            </a:r>
            <a:endParaRPr lang="en-US" sz="1400" dirty="0">
              <a:solidFill>
                <a:schemeClr val="bg1"/>
              </a:solidFill>
            </a:endParaRPr>
          </a:p>
        </p:txBody>
      </p:sp>
      <p:sp>
        <p:nvSpPr>
          <p:cNvPr id="13" name="Text 11"/>
          <p:cNvSpPr/>
          <p:nvPr/>
        </p:nvSpPr>
        <p:spPr>
          <a:xfrm>
            <a:off x="6766560" y="4663440"/>
            <a:ext cx="4480560" cy="640080"/>
          </a:xfrm>
          <a:prstGeom prst="rect">
            <a:avLst/>
          </a:prstGeom>
          <a:noFill/>
          <a:ln/>
        </p:spPr>
        <p:txBody>
          <a:bodyPr wrap="square" rtlCol="0" anchor="ctr"/>
          <a:lstStyle/>
          <a:p>
            <a:pPr marL="0" indent="0">
              <a:buNone/>
            </a:pPr>
            <a:r>
              <a:rPr lang="en-US" sz="1400" dirty="0">
                <a:solidFill>
                  <a:schemeClr val="bg1"/>
                </a:solidFill>
                <a:latin typeface="Arial" pitchFamily="34" charset="0"/>
                <a:ea typeface="Arial" pitchFamily="34" charset="-122"/>
                <a:cs typeface="Arial" pitchFamily="34" charset="-120"/>
              </a:rPr>
              <a:t>Specialist reviews only flagged cases</a:t>
            </a:r>
            <a:endParaRPr lang="en-US" sz="1400" dirty="0">
              <a:solidFill>
                <a:schemeClr val="bg1"/>
              </a:solidFill>
            </a:endParaRPr>
          </a:p>
        </p:txBody>
      </p:sp>
      <p:sp>
        <p:nvSpPr>
          <p:cNvPr id="14" name="Text 12"/>
          <p:cNvSpPr/>
          <p:nvPr/>
        </p:nvSpPr>
        <p:spPr>
          <a:xfrm>
            <a:off x="640080" y="5806440"/>
            <a:ext cx="10881360" cy="548640"/>
          </a:xfrm>
          <a:prstGeom prst="rect">
            <a:avLst/>
          </a:prstGeom>
          <a:noFill/>
          <a:ln/>
        </p:spPr>
        <p:txBody>
          <a:bodyPr wrap="square" rtlCol="0" anchor="ctr"/>
          <a:lstStyle/>
          <a:p>
            <a:pPr marL="0" indent="0">
              <a:buNone/>
            </a:pPr>
            <a:r>
              <a:rPr lang="en-US" sz="1600" b="1" dirty="0">
                <a:solidFill>
                  <a:srgbClr val="192C4F"/>
                </a:solidFill>
                <a:latin typeface="Arial" pitchFamily="34" charset="0"/>
                <a:ea typeface="Arial" pitchFamily="34" charset="-122"/>
                <a:cs typeface="Arial" pitchFamily="34" charset="-120"/>
              </a:rPr>
              <a:t>An ophthalmologist can review 10x more patients with AI-assistance</a:t>
            </a:r>
            <a:endParaRPr lang="en-US" sz="1600" dirty="0">
              <a:solidFill>
                <a:srgbClr val="192C4F"/>
              </a:solidFill>
            </a:endParaRPr>
          </a:p>
        </p:txBody>
      </p:sp>
      <p:sp>
        <p:nvSpPr>
          <p:cNvPr id="15" name="Text 13"/>
          <p:cNvSpPr/>
          <p:nvPr/>
        </p:nvSpPr>
        <p:spPr>
          <a:xfrm>
            <a:off x="457200" y="6473952"/>
            <a:ext cx="3657600" cy="27432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AFIO ScanAI</a:t>
            </a:r>
            <a:endParaRPr lang="en-US" sz="1000" dirty="0"/>
          </a:p>
        </p:txBody>
      </p:sp>
      <p:sp>
        <p:nvSpPr>
          <p:cNvPr id="16" name="Text 14"/>
          <p:cNvSpPr/>
          <p:nvPr/>
        </p:nvSpPr>
        <p:spPr>
          <a:xfrm>
            <a:off x="11002975" y="6473952"/>
            <a:ext cx="8229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09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507197"/>
                </a:solidFill>
                <a:latin typeface="Arial" pitchFamily="34" charset="0"/>
                <a:ea typeface="Arial" pitchFamily="34" charset="-122"/>
                <a:cs typeface="Arial" pitchFamily="34" charset="-120"/>
              </a:rPr>
              <a:t>THE TECHNOLOGY, IN PLAIN TERMS</a:t>
            </a:r>
            <a:endParaRPr lang="en-US" sz="1400" dirty="0">
              <a:solidFill>
                <a:srgbClr val="507197"/>
              </a:solidFill>
            </a:endParaRPr>
          </a:p>
        </p:txBody>
      </p:sp>
      <p:sp>
        <p:nvSpPr>
          <p:cNvPr id="3" name="Text 1"/>
          <p:cNvSpPr/>
          <p:nvPr/>
        </p:nvSpPr>
        <p:spPr>
          <a:xfrm>
            <a:off x="640080" y="822960"/>
            <a:ext cx="10789920" cy="1005840"/>
          </a:xfrm>
          <a:prstGeom prst="rect">
            <a:avLst/>
          </a:prstGeom>
          <a:noFill/>
          <a:ln/>
        </p:spPr>
        <p:txBody>
          <a:bodyPr wrap="square" rtlCol="0" anchor="ctr"/>
          <a:lstStyle/>
          <a:p>
            <a:pPr marL="0" indent="0">
              <a:lnSpc>
                <a:spcPct val="102000"/>
              </a:lnSpc>
              <a:buNone/>
            </a:pPr>
            <a:r>
              <a:rPr lang="en-US" sz="3600" b="1" dirty="0">
                <a:solidFill>
                  <a:srgbClr val="0B2545"/>
                </a:solidFill>
                <a:latin typeface="Arial" pitchFamily="34" charset="0"/>
                <a:ea typeface="Arial" pitchFamily="34" charset="-122"/>
                <a:cs typeface="Arial" pitchFamily="34" charset="-120"/>
              </a:rPr>
              <a:t>The AI Behind the scenes</a:t>
            </a:r>
            <a:endParaRPr lang="en-US" sz="3600" dirty="0"/>
          </a:p>
        </p:txBody>
      </p:sp>
      <p:sp>
        <p:nvSpPr>
          <p:cNvPr id="4" name="Shape 2"/>
          <p:cNvSpPr/>
          <p:nvPr/>
        </p:nvSpPr>
        <p:spPr>
          <a:xfrm>
            <a:off x="640080" y="2103120"/>
            <a:ext cx="3383280" cy="2606040"/>
          </a:xfrm>
          <a:prstGeom prst="roundRect">
            <a:avLst>
              <a:gd name="adj" fmla="val 4211"/>
            </a:avLst>
          </a:prstGeom>
          <a:solidFill>
            <a:srgbClr val="0B2545"/>
          </a:solidFill>
          <a:ln/>
        </p:spPr>
        <p:txBody>
          <a:bodyPr/>
          <a:lstStyle/>
          <a:p>
            <a:endParaRPr lang="en-US"/>
          </a:p>
        </p:txBody>
      </p:sp>
      <p:sp>
        <p:nvSpPr>
          <p:cNvPr id="5" name="Text 3"/>
          <p:cNvSpPr/>
          <p:nvPr/>
        </p:nvSpPr>
        <p:spPr>
          <a:xfrm>
            <a:off x="868680" y="2286000"/>
            <a:ext cx="2926080" cy="41148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RetinalAI</a:t>
            </a:r>
            <a:endParaRPr lang="en-US" sz="1700" dirty="0"/>
          </a:p>
        </p:txBody>
      </p:sp>
      <p:sp>
        <p:nvSpPr>
          <p:cNvPr id="6" name="Text 4"/>
          <p:cNvSpPr/>
          <p:nvPr/>
        </p:nvSpPr>
        <p:spPr>
          <a:xfrm>
            <a:off x="868680" y="2697480"/>
            <a:ext cx="2926080" cy="822960"/>
          </a:xfrm>
          <a:prstGeom prst="rect">
            <a:avLst/>
          </a:prstGeom>
          <a:noFill/>
          <a:ln/>
        </p:spPr>
        <p:txBody>
          <a:bodyPr wrap="square" rtlCol="0" anchor="ctr"/>
          <a:lstStyle/>
          <a:p>
            <a:pPr marL="0" indent="0">
              <a:buNone/>
            </a:pPr>
            <a:r>
              <a:rPr lang="en-US" sz="4400" b="1" dirty="0">
                <a:solidFill>
                  <a:schemeClr val="bg1"/>
                </a:solidFill>
                <a:latin typeface="Arial" pitchFamily="34" charset="0"/>
                <a:ea typeface="Arial" pitchFamily="34" charset="-122"/>
                <a:cs typeface="Arial" pitchFamily="34" charset="-120"/>
              </a:rPr>
              <a:t>98%</a:t>
            </a:r>
            <a:endParaRPr lang="en-US" sz="4400" dirty="0">
              <a:solidFill>
                <a:schemeClr val="bg1"/>
              </a:solidFill>
            </a:endParaRPr>
          </a:p>
        </p:txBody>
      </p:sp>
      <p:sp>
        <p:nvSpPr>
          <p:cNvPr id="7" name="Text 5"/>
          <p:cNvSpPr/>
          <p:nvPr/>
        </p:nvSpPr>
        <p:spPr>
          <a:xfrm>
            <a:off x="868680" y="3611880"/>
            <a:ext cx="2926080" cy="365760"/>
          </a:xfrm>
          <a:prstGeom prst="rect">
            <a:avLst/>
          </a:prstGeom>
          <a:noFill/>
          <a:ln/>
        </p:spPr>
        <p:txBody>
          <a:bodyPr wrap="square" rtlCol="0" anchor="ctr"/>
          <a:lstStyle/>
          <a:p>
            <a:pPr marL="0" indent="0">
              <a:buNone/>
            </a:pPr>
            <a:r>
              <a:rPr lang="en-US" sz="1350" dirty="0">
                <a:solidFill>
                  <a:srgbClr val="C9D6E8"/>
                </a:solidFill>
                <a:latin typeface="Arial" pitchFamily="34" charset="0"/>
                <a:ea typeface="Arial" pitchFamily="34" charset="-122"/>
                <a:cs typeface="Arial" pitchFamily="34" charset="-120"/>
              </a:rPr>
              <a:t>Fundus photographs</a:t>
            </a:r>
            <a:endParaRPr lang="en-US" sz="1350" dirty="0"/>
          </a:p>
        </p:txBody>
      </p:sp>
      <p:sp>
        <p:nvSpPr>
          <p:cNvPr id="8" name="Text 6"/>
          <p:cNvSpPr/>
          <p:nvPr/>
        </p:nvSpPr>
        <p:spPr>
          <a:xfrm>
            <a:off x="868680" y="3977640"/>
            <a:ext cx="2926080" cy="548640"/>
          </a:xfrm>
          <a:prstGeom prst="rect">
            <a:avLst/>
          </a:prstGeom>
          <a:noFill/>
          <a:ln/>
        </p:spPr>
        <p:txBody>
          <a:bodyPr wrap="square" rtlCol="0" anchor="ctr"/>
          <a:lstStyle/>
          <a:p>
            <a:pPr marL="0" indent="0">
              <a:buNone/>
            </a:pPr>
            <a:r>
              <a:rPr lang="en-US" sz="1250" dirty="0">
                <a:solidFill>
                  <a:srgbClr val="8FA3C0"/>
                </a:solidFill>
                <a:latin typeface="Arial" pitchFamily="34" charset="0"/>
                <a:ea typeface="Arial" pitchFamily="34" charset="-122"/>
                <a:cs typeface="Arial" pitchFamily="34" charset="-120"/>
              </a:rPr>
              <a:t>DR · Glaucoma · HR</a:t>
            </a:r>
            <a:endParaRPr lang="en-US" sz="1250" dirty="0"/>
          </a:p>
        </p:txBody>
      </p:sp>
      <p:sp>
        <p:nvSpPr>
          <p:cNvPr id="9" name="Shape 7"/>
          <p:cNvSpPr/>
          <p:nvPr/>
        </p:nvSpPr>
        <p:spPr>
          <a:xfrm>
            <a:off x="4389120" y="2103120"/>
            <a:ext cx="3383280" cy="2606040"/>
          </a:xfrm>
          <a:prstGeom prst="roundRect">
            <a:avLst>
              <a:gd name="adj" fmla="val 4211"/>
            </a:avLst>
          </a:prstGeom>
          <a:solidFill>
            <a:srgbClr val="0B2545"/>
          </a:solidFill>
          <a:ln/>
        </p:spPr>
        <p:txBody>
          <a:bodyPr/>
          <a:lstStyle/>
          <a:p>
            <a:endParaRPr lang="en-US"/>
          </a:p>
        </p:txBody>
      </p:sp>
      <p:sp>
        <p:nvSpPr>
          <p:cNvPr id="10" name="Text 8"/>
          <p:cNvSpPr/>
          <p:nvPr/>
        </p:nvSpPr>
        <p:spPr>
          <a:xfrm>
            <a:off x="4617720" y="2286000"/>
            <a:ext cx="2926080" cy="41148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OCT Analyzer</a:t>
            </a:r>
            <a:endParaRPr lang="en-US" sz="1700" dirty="0"/>
          </a:p>
        </p:txBody>
      </p:sp>
      <p:sp>
        <p:nvSpPr>
          <p:cNvPr id="11" name="Text 9"/>
          <p:cNvSpPr/>
          <p:nvPr/>
        </p:nvSpPr>
        <p:spPr>
          <a:xfrm>
            <a:off x="4617720" y="2697480"/>
            <a:ext cx="2926080" cy="822960"/>
          </a:xfrm>
          <a:prstGeom prst="rect">
            <a:avLst/>
          </a:prstGeom>
          <a:noFill/>
          <a:ln/>
        </p:spPr>
        <p:txBody>
          <a:bodyPr wrap="square" rtlCol="0" anchor="ctr"/>
          <a:lstStyle/>
          <a:p>
            <a:pPr marL="0" indent="0">
              <a:buNone/>
            </a:pPr>
            <a:r>
              <a:rPr lang="en-US" sz="4400" b="1" dirty="0">
                <a:solidFill>
                  <a:schemeClr val="bg1"/>
                </a:solidFill>
                <a:latin typeface="Arial" pitchFamily="34" charset="0"/>
                <a:ea typeface="Arial" pitchFamily="34" charset="-122"/>
                <a:cs typeface="Arial" pitchFamily="34" charset="-120"/>
              </a:rPr>
              <a:t>97%</a:t>
            </a:r>
            <a:endParaRPr lang="en-US" sz="4400" dirty="0">
              <a:solidFill>
                <a:schemeClr val="bg1"/>
              </a:solidFill>
            </a:endParaRPr>
          </a:p>
        </p:txBody>
      </p:sp>
      <p:sp>
        <p:nvSpPr>
          <p:cNvPr id="12" name="Text 10"/>
          <p:cNvSpPr/>
          <p:nvPr/>
        </p:nvSpPr>
        <p:spPr>
          <a:xfrm>
            <a:off x="4617720" y="3611880"/>
            <a:ext cx="2926080" cy="365760"/>
          </a:xfrm>
          <a:prstGeom prst="rect">
            <a:avLst/>
          </a:prstGeom>
          <a:noFill/>
          <a:ln/>
        </p:spPr>
        <p:txBody>
          <a:bodyPr wrap="square" rtlCol="0" anchor="ctr"/>
          <a:lstStyle/>
          <a:p>
            <a:pPr marL="0" indent="0">
              <a:buNone/>
            </a:pPr>
            <a:r>
              <a:rPr lang="en-US" sz="1350" dirty="0">
                <a:solidFill>
                  <a:srgbClr val="C9D6E8"/>
                </a:solidFill>
                <a:latin typeface="Arial" pitchFamily="34" charset="0"/>
                <a:ea typeface="Arial" pitchFamily="34" charset="-122"/>
                <a:cs typeface="Arial" pitchFamily="34" charset="-120"/>
              </a:rPr>
              <a:t>OCT scans</a:t>
            </a:r>
            <a:endParaRPr lang="en-US" sz="1350" dirty="0"/>
          </a:p>
        </p:txBody>
      </p:sp>
      <p:sp>
        <p:nvSpPr>
          <p:cNvPr id="13" name="Text 11"/>
          <p:cNvSpPr/>
          <p:nvPr/>
        </p:nvSpPr>
        <p:spPr>
          <a:xfrm>
            <a:off x="4617720" y="3977640"/>
            <a:ext cx="2926080" cy="548640"/>
          </a:xfrm>
          <a:prstGeom prst="rect">
            <a:avLst/>
          </a:prstGeom>
          <a:noFill/>
          <a:ln/>
        </p:spPr>
        <p:txBody>
          <a:bodyPr wrap="square" rtlCol="0" anchor="ctr"/>
          <a:lstStyle/>
          <a:p>
            <a:pPr marL="0" indent="0">
              <a:buNone/>
            </a:pPr>
            <a:r>
              <a:rPr lang="en-US" sz="1250" dirty="0">
                <a:solidFill>
                  <a:srgbClr val="8FA3C0"/>
                </a:solidFill>
                <a:latin typeface="Arial" pitchFamily="34" charset="0"/>
                <a:ea typeface="Arial" pitchFamily="34" charset="-122"/>
                <a:cs typeface="Arial" pitchFamily="34" charset="-120"/>
              </a:rPr>
              <a:t>4-class classification</a:t>
            </a:r>
            <a:endParaRPr lang="en-US" sz="1250" dirty="0"/>
          </a:p>
        </p:txBody>
      </p:sp>
      <p:sp>
        <p:nvSpPr>
          <p:cNvPr id="14" name="Shape 12"/>
          <p:cNvSpPr/>
          <p:nvPr/>
        </p:nvSpPr>
        <p:spPr>
          <a:xfrm>
            <a:off x="8138160" y="2103120"/>
            <a:ext cx="3383280" cy="2606040"/>
          </a:xfrm>
          <a:prstGeom prst="roundRect">
            <a:avLst>
              <a:gd name="adj" fmla="val 4211"/>
            </a:avLst>
          </a:prstGeom>
          <a:solidFill>
            <a:srgbClr val="0B2545"/>
          </a:solidFill>
          <a:ln/>
        </p:spPr>
        <p:txBody>
          <a:bodyPr/>
          <a:lstStyle/>
          <a:p>
            <a:endParaRPr lang="en-US"/>
          </a:p>
        </p:txBody>
      </p:sp>
      <p:sp>
        <p:nvSpPr>
          <p:cNvPr id="15" name="Text 13"/>
          <p:cNvSpPr/>
          <p:nvPr/>
        </p:nvSpPr>
        <p:spPr>
          <a:xfrm>
            <a:off x="8366760" y="2286000"/>
            <a:ext cx="2926080" cy="41148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VKG</a:t>
            </a:r>
            <a:endParaRPr lang="en-US" sz="1700" dirty="0"/>
          </a:p>
        </p:txBody>
      </p:sp>
      <p:sp>
        <p:nvSpPr>
          <p:cNvPr id="16" name="Text 14"/>
          <p:cNvSpPr/>
          <p:nvPr/>
        </p:nvSpPr>
        <p:spPr>
          <a:xfrm>
            <a:off x="8366760" y="2697480"/>
            <a:ext cx="2926080" cy="822960"/>
          </a:xfrm>
          <a:prstGeom prst="rect">
            <a:avLst/>
          </a:prstGeom>
          <a:noFill/>
          <a:ln/>
        </p:spPr>
        <p:txBody>
          <a:bodyPr wrap="square" rtlCol="0" anchor="ctr"/>
          <a:lstStyle/>
          <a:p>
            <a:pPr marL="0" indent="0">
              <a:buNone/>
            </a:pPr>
            <a:r>
              <a:rPr lang="en-US" sz="4400" b="1" dirty="0">
                <a:solidFill>
                  <a:schemeClr val="bg1"/>
                </a:solidFill>
                <a:latin typeface="Arial" pitchFamily="34" charset="0"/>
                <a:ea typeface="Arial" pitchFamily="34" charset="-122"/>
                <a:cs typeface="Arial" pitchFamily="34" charset="-120"/>
              </a:rPr>
              <a:t>92.6%</a:t>
            </a:r>
            <a:endParaRPr lang="en-US" sz="4400" dirty="0">
              <a:solidFill>
                <a:schemeClr val="bg1"/>
              </a:solidFill>
            </a:endParaRPr>
          </a:p>
        </p:txBody>
      </p:sp>
      <p:sp>
        <p:nvSpPr>
          <p:cNvPr id="17" name="Text 15"/>
          <p:cNvSpPr/>
          <p:nvPr/>
        </p:nvSpPr>
        <p:spPr>
          <a:xfrm>
            <a:off x="8366760" y="3611880"/>
            <a:ext cx="2926080" cy="365760"/>
          </a:xfrm>
          <a:prstGeom prst="rect">
            <a:avLst/>
          </a:prstGeom>
          <a:noFill/>
          <a:ln/>
        </p:spPr>
        <p:txBody>
          <a:bodyPr wrap="square" rtlCol="0" anchor="ctr"/>
          <a:lstStyle/>
          <a:p>
            <a:pPr marL="0" indent="0">
              <a:buNone/>
            </a:pPr>
            <a:r>
              <a:rPr lang="en-US" sz="1350" dirty="0">
                <a:solidFill>
                  <a:srgbClr val="C9D6E8"/>
                </a:solidFill>
                <a:latin typeface="Arial" pitchFamily="34" charset="0"/>
                <a:ea typeface="Arial" pitchFamily="34" charset="-122"/>
                <a:cs typeface="Arial" pitchFamily="34" charset="-120"/>
              </a:rPr>
              <a:t>Corneal imaging</a:t>
            </a:r>
            <a:endParaRPr lang="en-US" sz="1350" dirty="0"/>
          </a:p>
        </p:txBody>
      </p:sp>
      <p:sp>
        <p:nvSpPr>
          <p:cNvPr id="18" name="Text 16"/>
          <p:cNvSpPr/>
          <p:nvPr/>
        </p:nvSpPr>
        <p:spPr>
          <a:xfrm>
            <a:off x="8366760" y="3977640"/>
            <a:ext cx="2926080" cy="548640"/>
          </a:xfrm>
          <a:prstGeom prst="rect">
            <a:avLst/>
          </a:prstGeom>
          <a:noFill/>
          <a:ln/>
        </p:spPr>
        <p:txBody>
          <a:bodyPr wrap="square" rtlCol="0" anchor="ctr"/>
          <a:lstStyle/>
          <a:p>
            <a:pPr marL="0" indent="0">
              <a:buNone/>
            </a:pPr>
            <a:r>
              <a:rPr lang="en-US" sz="1250" dirty="0">
                <a:solidFill>
                  <a:srgbClr val="8FA3C0"/>
                </a:solidFill>
                <a:latin typeface="Arial" pitchFamily="34" charset="0"/>
                <a:ea typeface="Arial" pitchFamily="34" charset="-122"/>
                <a:cs typeface="Arial" pitchFamily="34" charset="-120"/>
              </a:rPr>
              <a:t>Keratoconus screening</a:t>
            </a:r>
            <a:endParaRPr lang="en-US" sz="1250" dirty="0"/>
          </a:p>
        </p:txBody>
      </p:sp>
      <p:sp>
        <p:nvSpPr>
          <p:cNvPr id="19" name="Text 17"/>
          <p:cNvSpPr/>
          <p:nvPr/>
        </p:nvSpPr>
        <p:spPr>
          <a:xfrm>
            <a:off x="640080" y="5074920"/>
            <a:ext cx="10881360" cy="640080"/>
          </a:xfrm>
          <a:prstGeom prst="rect">
            <a:avLst/>
          </a:prstGeom>
          <a:noFill/>
          <a:ln/>
        </p:spPr>
        <p:txBody>
          <a:bodyPr wrap="square" rtlCol="0" anchor="ctr"/>
          <a:lstStyle/>
          <a:p>
            <a:pPr marL="0" indent="0">
              <a:buNone/>
            </a:pPr>
            <a:r>
              <a:rPr lang="en-US" sz="1500" dirty="0">
                <a:solidFill>
                  <a:srgbClr val="1A2433"/>
                </a:solidFill>
                <a:latin typeface="Arial" pitchFamily="34" charset="0"/>
                <a:ea typeface="Arial" pitchFamily="34" charset="-122"/>
                <a:cs typeface="Arial" pitchFamily="34" charset="-120"/>
              </a:rPr>
              <a:t>Trained on </a:t>
            </a:r>
            <a:r>
              <a:rPr lang="en-US" sz="1500" b="1" dirty="0">
                <a:solidFill>
                  <a:srgbClr val="1E5F9E"/>
                </a:solidFill>
                <a:latin typeface="Arial" pitchFamily="34" charset="0"/>
                <a:ea typeface="Arial" pitchFamily="34" charset="-122"/>
                <a:cs typeface="Arial" pitchFamily="34" charset="-120"/>
              </a:rPr>
              <a:t>public research datasets (Kaggle)</a:t>
            </a:r>
            <a:r>
              <a:rPr lang="en-US" sz="1500" dirty="0">
                <a:solidFill>
                  <a:srgbClr val="1A2433"/>
                </a:solidFill>
                <a:latin typeface="Arial" pitchFamily="34" charset="0"/>
                <a:ea typeface="Arial" pitchFamily="34" charset="-122"/>
                <a:cs typeface="Arial" pitchFamily="34" charset="-120"/>
              </a:rPr>
              <a:t> + institutional data. Internal evaluation results, local validation is next.</a:t>
            </a:r>
            <a:endParaRPr lang="en-US" sz="1500" dirty="0"/>
          </a:p>
        </p:txBody>
      </p:sp>
      <p:sp>
        <p:nvSpPr>
          <p:cNvPr id="20" name="Text 18"/>
          <p:cNvSpPr/>
          <p:nvPr/>
        </p:nvSpPr>
        <p:spPr>
          <a:xfrm>
            <a:off x="457200" y="6473952"/>
            <a:ext cx="3657600" cy="27432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AFIO ScanAI</a:t>
            </a:r>
            <a:endParaRPr lang="en-US" sz="1000" dirty="0"/>
          </a:p>
        </p:txBody>
      </p:sp>
      <p:sp>
        <p:nvSpPr>
          <p:cNvPr id="21" name="Text 19"/>
          <p:cNvSpPr/>
          <p:nvPr/>
        </p:nvSpPr>
        <p:spPr>
          <a:xfrm>
            <a:off x="11002975" y="6473952"/>
            <a:ext cx="8229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08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0">
            <a:extLst>
              <a:ext uri="{FF2B5EF4-FFF2-40B4-BE49-F238E27FC236}">
                <a16:creationId xmlns:a16="http://schemas.microsoft.com/office/drawing/2014/main" id="{4276C4DB-7C76-2146-83D5-F76E494DE386}"/>
              </a:ext>
            </a:extLst>
          </p:cNvPr>
          <p:cNvSpPr/>
          <p:nvPr/>
        </p:nvSpPr>
        <p:spPr>
          <a:xfrm>
            <a:off x="10198303" y="932688"/>
            <a:ext cx="1243584" cy="1243584"/>
          </a:xfrm>
          <a:prstGeom prst="ellipse">
            <a:avLst/>
          </a:prstGeom>
          <a:ln w="13970">
            <a:solidFill>
              <a:srgbClr val="18A99B">
                <a:alpha val="14000"/>
              </a:srgbClr>
            </a:solidFill>
            <a:prstDash val="solid"/>
          </a:ln>
        </p:spPr>
        <p:txBody>
          <a:bodyPr/>
          <a:lstStyle/>
          <a:p>
            <a:endParaRPr lang="en-US"/>
          </a:p>
        </p:txBody>
      </p:sp>
      <p:sp>
        <p:nvSpPr>
          <p:cNvPr id="26" name="Shape 1">
            <a:extLst>
              <a:ext uri="{FF2B5EF4-FFF2-40B4-BE49-F238E27FC236}">
                <a16:creationId xmlns:a16="http://schemas.microsoft.com/office/drawing/2014/main" id="{8A72691C-33CE-FC2A-0D32-B82E696DE9D6}"/>
              </a:ext>
            </a:extLst>
          </p:cNvPr>
          <p:cNvSpPr/>
          <p:nvPr/>
        </p:nvSpPr>
        <p:spPr>
          <a:xfrm>
            <a:off x="9576511" y="310896"/>
            <a:ext cx="2487168" cy="2487168"/>
          </a:xfrm>
          <a:prstGeom prst="ellipse">
            <a:avLst/>
          </a:prstGeom>
          <a:ln w="13970">
            <a:solidFill>
              <a:srgbClr val="18A99B">
                <a:alpha val="14000"/>
              </a:srgbClr>
            </a:solidFill>
            <a:prstDash val="solid"/>
          </a:ln>
        </p:spPr>
        <p:txBody>
          <a:bodyPr/>
          <a:lstStyle/>
          <a:p>
            <a:endParaRPr lang="en-US"/>
          </a:p>
        </p:txBody>
      </p:sp>
      <p:sp>
        <p:nvSpPr>
          <p:cNvPr id="28" name="Shape 2">
            <a:extLst>
              <a:ext uri="{FF2B5EF4-FFF2-40B4-BE49-F238E27FC236}">
                <a16:creationId xmlns:a16="http://schemas.microsoft.com/office/drawing/2014/main" id="{7D07999A-DC3F-F1A0-DE33-CE9BCDA5D571}"/>
              </a:ext>
            </a:extLst>
          </p:cNvPr>
          <p:cNvSpPr/>
          <p:nvPr/>
        </p:nvSpPr>
        <p:spPr>
          <a:xfrm>
            <a:off x="8954719" y="-310896"/>
            <a:ext cx="3730752" cy="3730752"/>
          </a:xfrm>
          <a:prstGeom prst="ellipse">
            <a:avLst/>
          </a:prstGeom>
          <a:ln w="13970">
            <a:solidFill>
              <a:srgbClr val="18A99B">
                <a:alpha val="14000"/>
              </a:srgbClr>
            </a:solidFill>
            <a:prstDash val="solid"/>
          </a:ln>
        </p:spPr>
        <p:txBody>
          <a:bodyPr/>
          <a:lstStyle/>
          <a:p>
            <a:endParaRPr lang="en-US"/>
          </a:p>
        </p:txBody>
      </p:sp>
      <p:sp>
        <p:nvSpPr>
          <p:cNvPr id="2" name="Text 0"/>
          <p:cNvSpPr/>
          <p:nvPr/>
        </p:nvSpPr>
        <p:spPr>
          <a:xfrm>
            <a:off x="640080" y="502920"/>
            <a:ext cx="7315200" cy="365760"/>
          </a:xfrm>
          <a:prstGeom prst="rect">
            <a:avLst/>
          </a:prstGeom>
          <a:noFill/>
          <a:ln/>
        </p:spPr>
        <p:txBody>
          <a:bodyPr wrap="square" rtlCol="0" anchor="ctr"/>
          <a:lstStyle/>
          <a:p>
            <a:pPr marL="0" indent="0">
              <a:buNone/>
            </a:pPr>
            <a:r>
              <a:rPr lang="en-US" sz="1400" b="1" kern="0" spc="200" dirty="0">
                <a:solidFill>
                  <a:srgbClr val="507197"/>
                </a:solidFill>
                <a:latin typeface="Arial" pitchFamily="34" charset="0"/>
                <a:ea typeface="Arial" pitchFamily="34" charset="-122"/>
                <a:cs typeface="Arial" pitchFamily="34" charset="-120"/>
              </a:rPr>
              <a:t>PROPOSED PARTNERSHIP</a:t>
            </a:r>
            <a:endParaRPr lang="en-US" sz="1400" dirty="0">
              <a:solidFill>
                <a:srgbClr val="507197"/>
              </a:solidFill>
            </a:endParaRPr>
          </a:p>
        </p:txBody>
      </p:sp>
      <p:sp>
        <p:nvSpPr>
          <p:cNvPr id="3" name="Text 1"/>
          <p:cNvSpPr/>
          <p:nvPr/>
        </p:nvSpPr>
        <p:spPr>
          <a:xfrm>
            <a:off x="640080" y="822960"/>
            <a:ext cx="10789920" cy="1005840"/>
          </a:xfrm>
          <a:prstGeom prst="rect">
            <a:avLst/>
          </a:prstGeom>
          <a:noFill/>
          <a:ln/>
        </p:spPr>
        <p:txBody>
          <a:bodyPr wrap="square" rtlCol="0" anchor="ctr"/>
          <a:lstStyle/>
          <a:p>
            <a:pPr marL="0" indent="0">
              <a:lnSpc>
                <a:spcPct val="102000"/>
              </a:lnSpc>
              <a:buNone/>
            </a:pPr>
            <a:r>
              <a:rPr lang="en-US" sz="3400" b="1" dirty="0">
                <a:latin typeface="Arial" pitchFamily="34" charset="0"/>
                <a:ea typeface="Arial" pitchFamily="34" charset="-122"/>
                <a:cs typeface="Arial" pitchFamily="34" charset="-120"/>
              </a:rPr>
              <a:t>What We Need From AFIO</a:t>
            </a:r>
            <a:endParaRPr lang="en-US" sz="3400" dirty="0"/>
          </a:p>
        </p:txBody>
      </p:sp>
      <p:sp>
        <p:nvSpPr>
          <p:cNvPr id="4" name="Shape 2"/>
          <p:cNvSpPr/>
          <p:nvPr/>
        </p:nvSpPr>
        <p:spPr>
          <a:xfrm>
            <a:off x="640080" y="2240280"/>
            <a:ext cx="2560320" cy="2743200"/>
          </a:xfrm>
          <a:prstGeom prst="roundRect">
            <a:avLst>
              <a:gd name="adj" fmla="val 3571"/>
            </a:avLst>
          </a:prstGeom>
          <a:solidFill>
            <a:srgbClr val="192C4F"/>
          </a:solidFill>
          <a:ln/>
        </p:spPr>
        <p:txBody>
          <a:bodyPr/>
          <a:lstStyle/>
          <a:p>
            <a:endParaRPr lang="en-US"/>
          </a:p>
        </p:txBody>
      </p:sp>
      <p:pic>
        <p:nvPicPr>
          <p:cNvPr id="5" name="Image 0" descr="/home/claude/icons/database.png"/>
          <p:cNvPicPr>
            <a:picLocks noChangeAspect="1"/>
          </p:cNvPicPr>
          <p:nvPr/>
        </p:nvPicPr>
        <p:blipFill>
          <a:blip r:embed="rId3">
            <a:lum bright="70000" contrast="-70000"/>
          </a:blip>
          <a:stretch>
            <a:fillRect/>
          </a:stretch>
        </p:blipFill>
        <p:spPr>
          <a:xfrm>
            <a:off x="1645920" y="2560320"/>
            <a:ext cx="548640" cy="548640"/>
          </a:xfrm>
          <a:prstGeom prst="rect">
            <a:avLst/>
          </a:prstGeom>
        </p:spPr>
      </p:pic>
      <p:sp>
        <p:nvSpPr>
          <p:cNvPr id="6" name="Text 3"/>
          <p:cNvSpPr/>
          <p:nvPr/>
        </p:nvSpPr>
        <p:spPr>
          <a:xfrm>
            <a:off x="822960" y="3291840"/>
            <a:ext cx="2194560" cy="822960"/>
          </a:xfrm>
          <a:prstGeom prst="rect">
            <a:avLst/>
          </a:prstGeom>
          <a:noFill/>
          <a:ln/>
        </p:spPr>
        <p:txBody>
          <a:bodyPr wrap="square" rtlCol="0" anchor="ctr"/>
          <a:lstStyle/>
          <a:p>
            <a:pPr marL="0" indent="0" algn="ctr">
              <a:lnSpc>
                <a:spcPct val="115000"/>
              </a:lnSpc>
              <a:buNone/>
            </a:pPr>
            <a:r>
              <a:rPr lang="en-US" sz="1450" b="1" dirty="0">
                <a:solidFill>
                  <a:srgbClr val="FFFFFF"/>
                </a:solidFill>
                <a:latin typeface="Arial" pitchFamily="34" charset="0"/>
                <a:ea typeface="Arial" pitchFamily="34" charset="-122"/>
                <a:cs typeface="Arial" pitchFamily="34" charset="-120"/>
              </a:rPr>
              <a:t>De-identified patient images</a:t>
            </a:r>
            <a:endParaRPr lang="en-US" sz="1450" dirty="0"/>
          </a:p>
        </p:txBody>
      </p:sp>
      <p:sp>
        <p:nvSpPr>
          <p:cNvPr id="7" name="Text 4"/>
          <p:cNvSpPr/>
          <p:nvPr/>
        </p:nvSpPr>
        <p:spPr>
          <a:xfrm>
            <a:off x="822960" y="4206240"/>
            <a:ext cx="2194560" cy="640080"/>
          </a:xfrm>
          <a:prstGeom prst="rect">
            <a:avLst/>
          </a:prstGeom>
          <a:noFill/>
          <a:ln/>
        </p:spPr>
        <p:txBody>
          <a:bodyPr wrap="square" rtlCol="0" anchor="ctr"/>
          <a:lstStyle/>
          <a:p>
            <a:pPr marL="0" indent="0" algn="ctr">
              <a:lnSpc>
                <a:spcPct val="115000"/>
              </a:lnSpc>
              <a:buNone/>
            </a:pPr>
            <a:r>
              <a:rPr lang="en-US" sz="1200" dirty="0">
                <a:solidFill>
                  <a:srgbClr val="9FB3D0"/>
                </a:solidFill>
                <a:latin typeface="Arial" pitchFamily="34" charset="0"/>
                <a:ea typeface="Arial" pitchFamily="34" charset="-122"/>
                <a:cs typeface="Arial" pitchFamily="34" charset="-120"/>
              </a:rPr>
              <a:t>for local population validation</a:t>
            </a:r>
            <a:endParaRPr lang="en-US" sz="1200" dirty="0"/>
          </a:p>
        </p:txBody>
      </p:sp>
      <p:sp>
        <p:nvSpPr>
          <p:cNvPr id="8" name="Shape 5"/>
          <p:cNvSpPr/>
          <p:nvPr/>
        </p:nvSpPr>
        <p:spPr>
          <a:xfrm>
            <a:off x="3474720" y="2240280"/>
            <a:ext cx="2560320" cy="2743200"/>
          </a:xfrm>
          <a:prstGeom prst="roundRect">
            <a:avLst>
              <a:gd name="adj" fmla="val 3571"/>
            </a:avLst>
          </a:prstGeom>
          <a:solidFill>
            <a:srgbClr val="192C4F"/>
          </a:solidFill>
          <a:ln/>
        </p:spPr>
        <p:txBody>
          <a:bodyPr/>
          <a:lstStyle/>
          <a:p>
            <a:endParaRPr lang="en-US"/>
          </a:p>
        </p:txBody>
      </p:sp>
      <p:pic>
        <p:nvPicPr>
          <p:cNvPr id="9" name="Image 1" descr="/home/claude/icons/message-square.png"/>
          <p:cNvPicPr>
            <a:picLocks noChangeAspect="1"/>
          </p:cNvPicPr>
          <p:nvPr/>
        </p:nvPicPr>
        <p:blipFill>
          <a:blip r:embed="rId4">
            <a:lum bright="70000" contrast="-70000"/>
          </a:blip>
          <a:stretch>
            <a:fillRect/>
          </a:stretch>
        </p:blipFill>
        <p:spPr>
          <a:xfrm>
            <a:off x="4480560" y="2560320"/>
            <a:ext cx="548640" cy="548640"/>
          </a:xfrm>
          <a:prstGeom prst="rect">
            <a:avLst/>
          </a:prstGeom>
        </p:spPr>
      </p:pic>
      <p:sp>
        <p:nvSpPr>
          <p:cNvPr id="10" name="Text 6"/>
          <p:cNvSpPr/>
          <p:nvPr/>
        </p:nvSpPr>
        <p:spPr>
          <a:xfrm>
            <a:off x="3657600" y="3291840"/>
            <a:ext cx="2194560" cy="822960"/>
          </a:xfrm>
          <a:prstGeom prst="rect">
            <a:avLst/>
          </a:prstGeom>
          <a:noFill/>
          <a:ln/>
        </p:spPr>
        <p:txBody>
          <a:bodyPr wrap="square" rtlCol="0" anchor="ctr"/>
          <a:lstStyle/>
          <a:p>
            <a:pPr marL="0" indent="0" algn="ctr">
              <a:lnSpc>
                <a:spcPct val="115000"/>
              </a:lnSpc>
              <a:buNone/>
            </a:pPr>
            <a:r>
              <a:rPr lang="en-US" sz="1450" b="1" dirty="0">
                <a:solidFill>
                  <a:srgbClr val="FFFFFF"/>
                </a:solidFill>
                <a:latin typeface="Arial" pitchFamily="34" charset="0"/>
                <a:ea typeface="Arial" pitchFamily="34" charset="-122"/>
                <a:cs typeface="Arial" pitchFamily="34" charset="-120"/>
              </a:rPr>
              <a:t>Ophthalmologist feedback</a:t>
            </a:r>
            <a:endParaRPr lang="en-US" sz="1450" dirty="0"/>
          </a:p>
        </p:txBody>
      </p:sp>
      <p:sp>
        <p:nvSpPr>
          <p:cNvPr id="11" name="Text 7"/>
          <p:cNvSpPr/>
          <p:nvPr/>
        </p:nvSpPr>
        <p:spPr>
          <a:xfrm>
            <a:off x="3657600" y="4206240"/>
            <a:ext cx="2194560" cy="640080"/>
          </a:xfrm>
          <a:prstGeom prst="rect">
            <a:avLst/>
          </a:prstGeom>
          <a:noFill/>
          <a:ln/>
        </p:spPr>
        <p:txBody>
          <a:bodyPr wrap="square" rtlCol="0" anchor="ctr"/>
          <a:lstStyle/>
          <a:p>
            <a:pPr marL="0" indent="0" algn="ctr">
              <a:lnSpc>
                <a:spcPct val="115000"/>
              </a:lnSpc>
              <a:buNone/>
            </a:pPr>
            <a:r>
              <a:rPr lang="en-US" sz="1200" dirty="0">
                <a:solidFill>
                  <a:srgbClr val="9FB3D0"/>
                </a:solidFill>
                <a:latin typeface="Arial" pitchFamily="34" charset="0"/>
                <a:ea typeface="Arial" pitchFamily="34" charset="-122"/>
                <a:cs typeface="Arial" pitchFamily="34" charset="-120"/>
              </a:rPr>
              <a:t>on sample AI predictions</a:t>
            </a:r>
            <a:endParaRPr lang="en-US" sz="1200" dirty="0"/>
          </a:p>
        </p:txBody>
      </p:sp>
      <p:sp>
        <p:nvSpPr>
          <p:cNvPr id="12" name="Shape 8"/>
          <p:cNvSpPr/>
          <p:nvPr/>
        </p:nvSpPr>
        <p:spPr>
          <a:xfrm>
            <a:off x="6309360" y="2240280"/>
            <a:ext cx="2560320" cy="2743200"/>
          </a:xfrm>
          <a:prstGeom prst="roundRect">
            <a:avLst>
              <a:gd name="adj" fmla="val 3571"/>
            </a:avLst>
          </a:prstGeom>
          <a:solidFill>
            <a:srgbClr val="192C4F"/>
          </a:solidFill>
          <a:ln/>
        </p:spPr>
        <p:txBody>
          <a:bodyPr/>
          <a:lstStyle/>
          <a:p>
            <a:endParaRPr lang="en-US"/>
          </a:p>
        </p:txBody>
      </p:sp>
      <p:pic>
        <p:nvPicPr>
          <p:cNvPr id="13" name="Image 2" descr="/home/claude/icons/hospital.png"/>
          <p:cNvPicPr>
            <a:picLocks noChangeAspect="1"/>
          </p:cNvPicPr>
          <p:nvPr/>
        </p:nvPicPr>
        <p:blipFill>
          <a:blip r:embed="rId5">
            <a:lum bright="70000" contrast="-70000"/>
          </a:blip>
          <a:stretch>
            <a:fillRect/>
          </a:stretch>
        </p:blipFill>
        <p:spPr>
          <a:xfrm>
            <a:off x="7315200" y="2560320"/>
            <a:ext cx="548640" cy="548640"/>
          </a:xfrm>
          <a:prstGeom prst="rect">
            <a:avLst/>
          </a:prstGeom>
        </p:spPr>
      </p:pic>
      <p:sp>
        <p:nvSpPr>
          <p:cNvPr id="14" name="Text 9"/>
          <p:cNvSpPr/>
          <p:nvPr/>
        </p:nvSpPr>
        <p:spPr>
          <a:xfrm>
            <a:off x="6492240" y="3291840"/>
            <a:ext cx="2194560" cy="822960"/>
          </a:xfrm>
          <a:prstGeom prst="rect">
            <a:avLst/>
          </a:prstGeom>
          <a:noFill/>
          <a:ln/>
        </p:spPr>
        <p:txBody>
          <a:bodyPr wrap="square" rtlCol="0" anchor="ctr"/>
          <a:lstStyle/>
          <a:p>
            <a:pPr marL="0" indent="0" algn="ctr">
              <a:lnSpc>
                <a:spcPct val="115000"/>
              </a:lnSpc>
              <a:buNone/>
            </a:pPr>
            <a:r>
              <a:rPr lang="en-US" sz="1450" b="1" dirty="0">
                <a:solidFill>
                  <a:srgbClr val="FFFFFF"/>
                </a:solidFill>
                <a:latin typeface="Arial" pitchFamily="34" charset="0"/>
                <a:ea typeface="Arial" pitchFamily="34" charset="-122"/>
                <a:cs typeface="Arial" pitchFamily="34" charset="-120"/>
              </a:rPr>
              <a:t>Pilot deployment</a:t>
            </a:r>
            <a:endParaRPr lang="en-US" sz="1450" dirty="0"/>
          </a:p>
        </p:txBody>
      </p:sp>
      <p:sp>
        <p:nvSpPr>
          <p:cNvPr id="15" name="Text 10"/>
          <p:cNvSpPr/>
          <p:nvPr/>
        </p:nvSpPr>
        <p:spPr>
          <a:xfrm>
            <a:off x="6492240" y="4206240"/>
            <a:ext cx="2194560" cy="640080"/>
          </a:xfrm>
          <a:prstGeom prst="rect">
            <a:avLst/>
          </a:prstGeom>
          <a:noFill/>
          <a:ln/>
        </p:spPr>
        <p:txBody>
          <a:bodyPr wrap="square" rtlCol="0" anchor="ctr"/>
          <a:lstStyle/>
          <a:p>
            <a:pPr marL="0" indent="0" algn="ctr">
              <a:lnSpc>
                <a:spcPct val="115000"/>
              </a:lnSpc>
              <a:buNone/>
            </a:pPr>
            <a:r>
              <a:rPr lang="en-US" sz="1200" dirty="0">
                <a:solidFill>
                  <a:srgbClr val="9FB3D0"/>
                </a:solidFill>
                <a:latin typeface="Arial" pitchFamily="34" charset="0"/>
                <a:ea typeface="Arial" pitchFamily="34" charset="-122"/>
                <a:cs typeface="Arial" pitchFamily="34" charset="-120"/>
              </a:rPr>
              <a:t>one OPD, 4–8 weeks</a:t>
            </a:r>
            <a:endParaRPr lang="en-US" sz="1200" dirty="0"/>
          </a:p>
        </p:txBody>
      </p:sp>
      <p:sp>
        <p:nvSpPr>
          <p:cNvPr id="16" name="Shape 11"/>
          <p:cNvSpPr/>
          <p:nvPr/>
        </p:nvSpPr>
        <p:spPr>
          <a:xfrm>
            <a:off x="9144000" y="2240280"/>
            <a:ext cx="2560320" cy="2743200"/>
          </a:xfrm>
          <a:prstGeom prst="roundRect">
            <a:avLst>
              <a:gd name="adj" fmla="val 3571"/>
            </a:avLst>
          </a:prstGeom>
          <a:solidFill>
            <a:srgbClr val="192C4F"/>
          </a:solidFill>
          <a:ln/>
        </p:spPr>
        <p:txBody>
          <a:bodyPr/>
          <a:lstStyle/>
          <a:p>
            <a:endParaRPr lang="en-US"/>
          </a:p>
        </p:txBody>
      </p:sp>
      <p:pic>
        <p:nvPicPr>
          <p:cNvPr id="17" name="Image 3" descr="/home/claude/icons/laptop.png"/>
          <p:cNvPicPr>
            <a:picLocks noChangeAspect="1"/>
          </p:cNvPicPr>
          <p:nvPr/>
        </p:nvPicPr>
        <p:blipFill>
          <a:blip r:embed="rId6">
            <a:lum bright="70000" contrast="-70000"/>
          </a:blip>
          <a:stretch>
            <a:fillRect/>
          </a:stretch>
        </p:blipFill>
        <p:spPr>
          <a:xfrm>
            <a:off x="10149840" y="2560320"/>
            <a:ext cx="548640" cy="548640"/>
          </a:xfrm>
          <a:prstGeom prst="rect">
            <a:avLst/>
          </a:prstGeom>
        </p:spPr>
      </p:pic>
      <p:sp>
        <p:nvSpPr>
          <p:cNvPr id="18" name="Text 12"/>
          <p:cNvSpPr/>
          <p:nvPr/>
        </p:nvSpPr>
        <p:spPr>
          <a:xfrm>
            <a:off x="9326880" y="3291840"/>
            <a:ext cx="2194560" cy="822960"/>
          </a:xfrm>
          <a:prstGeom prst="rect">
            <a:avLst/>
          </a:prstGeom>
          <a:noFill/>
          <a:ln/>
        </p:spPr>
        <p:txBody>
          <a:bodyPr wrap="square" rtlCol="0" anchor="ctr"/>
          <a:lstStyle/>
          <a:p>
            <a:pPr marL="0" indent="0" algn="ctr">
              <a:lnSpc>
                <a:spcPct val="115000"/>
              </a:lnSpc>
              <a:buNone/>
            </a:pPr>
            <a:r>
              <a:rPr lang="en-US" sz="1450" b="1" dirty="0">
                <a:solidFill>
                  <a:srgbClr val="FFFFFF"/>
                </a:solidFill>
                <a:latin typeface="Arial" pitchFamily="34" charset="0"/>
                <a:ea typeface="Arial" pitchFamily="34" charset="-122"/>
                <a:cs typeface="Arial" pitchFamily="34" charset="-120"/>
              </a:rPr>
              <a:t>Standard hospital laptop</a:t>
            </a:r>
            <a:endParaRPr lang="en-US" sz="1450" dirty="0"/>
          </a:p>
        </p:txBody>
      </p:sp>
      <p:sp>
        <p:nvSpPr>
          <p:cNvPr id="19" name="Text 13"/>
          <p:cNvSpPr/>
          <p:nvPr/>
        </p:nvSpPr>
        <p:spPr>
          <a:xfrm>
            <a:off x="9326880" y="4206240"/>
            <a:ext cx="2194560" cy="640080"/>
          </a:xfrm>
          <a:prstGeom prst="rect">
            <a:avLst/>
          </a:prstGeom>
          <a:noFill/>
          <a:ln/>
        </p:spPr>
        <p:txBody>
          <a:bodyPr wrap="square" rtlCol="0" anchor="ctr"/>
          <a:lstStyle/>
          <a:p>
            <a:pPr marL="0" indent="0" algn="ctr">
              <a:lnSpc>
                <a:spcPct val="115000"/>
              </a:lnSpc>
              <a:buNone/>
            </a:pPr>
            <a:r>
              <a:rPr lang="en-US" sz="1200" dirty="0">
                <a:solidFill>
                  <a:srgbClr val="9FB3D0"/>
                </a:solidFill>
                <a:latin typeface="Arial" pitchFamily="34" charset="0"/>
                <a:ea typeface="Arial" pitchFamily="34" charset="-122"/>
                <a:cs typeface="Arial" pitchFamily="34" charset="-120"/>
              </a:rPr>
              <a:t>no GPU required</a:t>
            </a:r>
            <a:endParaRPr lang="en-US" sz="1200" dirty="0"/>
          </a:p>
        </p:txBody>
      </p:sp>
      <p:sp>
        <p:nvSpPr>
          <p:cNvPr id="21" name="Text 15"/>
          <p:cNvSpPr/>
          <p:nvPr/>
        </p:nvSpPr>
        <p:spPr>
          <a:xfrm>
            <a:off x="457200" y="6473952"/>
            <a:ext cx="3657600" cy="274320"/>
          </a:xfrm>
          <a:prstGeom prst="rect">
            <a:avLst/>
          </a:prstGeom>
          <a:noFill/>
          <a:ln/>
        </p:spPr>
        <p:txBody>
          <a:bodyPr wrap="square" rtlCol="0" anchor="ctr"/>
          <a:lstStyle/>
          <a:p>
            <a:pPr marL="0" indent="0">
              <a:buNone/>
            </a:pPr>
            <a:r>
              <a:rPr lang="en-US" sz="1000" dirty="0">
                <a:solidFill>
                  <a:srgbClr val="6B7280"/>
                </a:solidFill>
                <a:latin typeface="Arial" pitchFamily="34" charset="0"/>
                <a:ea typeface="Arial" pitchFamily="34" charset="-122"/>
                <a:cs typeface="Arial" pitchFamily="34" charset="-120"/>
              </a:rPr>
              <a:t>AFIO ScanAI</a:t>
            </a:r>
            <a:endParaRPr lang="en-US" sz="1000" dirty="0"/>
          </a:p>
        </p:txBody>
      </p:sp>
      <p:sp>
        <p:nvSpPr>
          <p:cNvPr id="22" name="Text 16"/>
          <p:cNvSpPr/>
          <p:nvPr/>
        </p:nvSpPr>
        <p:spPr>
          <a:xfrm>
            <a:off x="11002975" y="6473952"/>
            <a:ext cx="8229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11 / 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86800" y="-1828800"/>
            <a:ext cx="6400800" cy="6400800"/>
          </a:xfrm>
          <a:prstGeom prst="ellipse">
            <a:avLst/>
          </a:prstGeom>
          <a:solidFill>
            <a:srgbClr val="192C4F">
              <a:alpha val="25000"/>
            </a:srgbClr>
          </a:solidFill>
          <a:ln/>
        </p:spPr>
        <p:txBody>
          <a:bodyPr/>
          <a:lstStyle/>
          <a:p>
            <a:endParaRPr lang="en-US"/>
          </a:p>
        </p:txBody>
      </p:sp>
      <p:sp>
        <p:nvSpPr>
          <p:cNvPr id="3" name="Text 1"/>
          <p:cNvSpPr/>
          <p:nvPr/>
        </p:nvSpPr>
        <p:spPr>
          <a:xfrm>
            <a:off x="640080" y="438974"/>
            <a:ext cx="7315200" cy="914400"/>
          </a:xfrm>
          <a:prstGeom prst="rect">
            <a:avLst/>
          </a:prstGeom>
          <a:noFill/>
          <a:ln/>
        </p:spPr>
        <p:txBody>
          <a:bodyPr wrap="square" rtlCol="0" anchor="ctr"/>
          <a:lstStyle/>
          <a:p>
            <a:pPr marL="0" indent="0">
              <a:buNone/>
            </a:pPr>
            <a:r>
              <a:rPr lang="en-US" sz="4400" b="1" dirty="0">
                <a:latin typeface="Arial" pitchFamily="34" charset="0"/>
                <a:ea typeface="Arial" pitchFamily="34" charset="-122"/>
                <a:cs typeface="Arial" pitchFamily="34" charset="-120"/>
              </a:rPr>
              <a:t>Thank You</a:t>
            </a:r>
            <a:endParaRPr lang="en-US" sz="4400" dirty="0"/>
          </a:p>
        </p:txBody>
      </p:sp>
      <p:sp>
        <p:nvSpPr>
          <p:cNvPr id="4" name="Shape 2"/>
          <p:cNvSpPr/>
          <p:nvPr/>
        </p:nvSpPr>
        <p:spPr>
          <a:xfrm>
            <a:off x="640080" y="158197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5" name="Text 3"/>
          <p:cNvSpPr/>
          <p:nvPr/>
        </p:nvSpPr>
        <p:spPr>
          <a:xfrm>
            <a:off x="640080" y="158197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RM</a:t>
            </a:r>
            <a:endParaRPr lang="en-US" sz="2200" dirty="0">
              <a:solidFill>
                <a:schemeClr val="bg1"/>
              </a:solidFill>
            </a:endParaRPr>
          </a:p>
        </p:txBody>
      </p:sp>
      <p:sp>
        <p:nvSpPr>
          <p:cNvPr id="6" name="Text 4"/>
          <p:cNvSpPr/>
          <p:nvPr/>
        </p:nvSpPr>
        <p:spPr>
          <a:xfrm>
            <a:off x="457200" y="299929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Raahym Mustafa</a:t>
            </a:r>
            <a:endParaRPr lang="en-US" sz="1050" dirty="0"/>
          </a:p>
        </p:txBody>
      </p:sp>
      <p:sp>
        <p:nvSpPr>
          <p:cNvPr id="7" name="Shape 5"/>
          <p:cNvSpPr/>
          <p:nvPr/>
        </p:nvSpPr>
        <p:spPr>
          <a:xfrm>
            <a:off x="2331720" y="158197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8" name="Text 6"/>
          <p:cNvSpPr/>
          <p:nvPr/>
        </p:nvSpPr>
        <p:spPr>
          <a:xfrm>
            <a:off x="2331720" y="158197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RS</a:t>
            </a:r>
            <a:endParaRPr lang="en-US" sz="2200" dirty="0">
              <a:solidFill>
                <a:schemeClr val="bg1"/>
              </a:solidFill>
            </a:endParaRPr>
          </a:p>
        </p:txBody>
      </p:sp>
      <p:sp>
        <p:nvSpPr>
          <p:cNvPr id="9" name="Text 7"/>
          <p:cNvSpPr/>
          <p:nvPr/>
        </p:nvSpPr>
        <p:spPr>
          <a:xfrm>
            <a:off x="2148840" y="299929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Rafay Shahzad</a:t>
            </a:r>
            <a:endParaRPr lang="en-US" sz="1050" dirty="0"/>
          </a:p>
        </p:txBody>
      </p:sp>
      <p:sp>
        <p:nvSpPr>
          <p:cNvPr id="10" name="Shape 8"/>
          <p:cNvSpPr/>
          <p:nvPr/>
        </p:nvSpPr>
        <p:spPr>
          <a:xfrm>
            <a:off x="4023360" y="158197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11" name="Text 9"/>
          <p:cNvSpPr/>
          <p:nvPr/>
        </p:nvSpPr>
        <p:spPr>
          <a:xfrm>
            <a:off x="4023360" y="158197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KB</a:t>
            </a:r>
            <a:endParaRPr lang="en-US" sz="2200" dirty="0">
              <a:solidFill>
                <a:schemeClr val="bg1"/>
              </a:solidFill>
            </a:endParaRPr>
          </a:p>
        </p:txBody>
      </p:sp>
      <p:sp>
        <p:nvSpPr>
          <p:cNvPr id="12" name="Text 10"/>
          <p:cNvSpPr/>
          <p:nvPr/>
        </p:nvSpPr>
        <p:spPr>
          <a:xfrm>
            <a:off x="3840480" y="299929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Khadija Bibi</a:t>
            </a:r>
            <a:endParaRPr lang="en-US" sz="1050" dirty="0"/>
          </a:p>
        </p:txBody>
      </p:sp>
      <p:sp>
        <p:nvSpPr>
          <p:cNvPr id="13" name="Shape 11"/>
          <p:cNvSpPr/>
          <p:nvPr/>
        </p:nvSpPr>
        <p:spPr>
          <a:xfrm>
            <a:off x="5715000" y="1581974"/>
            <a:ext cx="1371600" cy="1371600"/>
          </a:xfrm>
          <a:prstGeom prst="ellipse">
            <a:avLst/>
          </a:prstGeom>
          <a:solidFill>
            <a:srgbClr val="132E52"/>
          </a:solidFill>
          <a:ln w="19050">
            <a:solidFill>
              <a:srgbClr val="1E5F9E"/>
            </a:solidFill>
            <a:prstDash val="solid"/>
          </a:ln>
        </p:spPr>
        <p:txBody>
          <a:bodyPr/>
          <a:lstStyle/>
          <a:p>
            <a:endParaRPr lang="en-US">
              <a:solidFill>
                <a:schemeClr val="bg1"/>
              </a:solidFill>
            </a:endParaRPr>
          </a:p>
        </p:txBody>
      </p:sp>
      <p:sp>
        <p:nvSpPr>
          <p:cNvPr id="14" name="Text 12"/>
          <p:cNvSpPr/>
          <p:nvPr/>
        </p:nvSpPr>
        <p:spPr>
          <a:xfrm>
            <a:off x="5715000" y="158197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MA</a:t>
            </a:r>
            <a:endParaRPr lang="en-US" sz="2200" dirty="0">
              <a:solidFill>
                <a:schemeClr val="bg1"/>
              </a:solidFill>
            </a:endParaRPr>
          </a:p>
        </p:txBody>
      </p:sp>
      <p:sp>
        <p:nvSpPr>
          <p:cNvPr id="15" name="Text 13"/>
          <p:cNvSpPr/>
          <p:nvPr/>
        </p:nvSpPr>
        <p:spPr>
          <a:xfrm>
            <a:off x="5532120" y="299929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Mashal Areej</a:t>
            </a:r>
            <a:endParaRPr lang="en-US" sz="1050" dirty="0"/>
          </a:p>
        </p:txBody>
      </p:sp>
      <p:sp>
        <p:nvSpPr>
          <p:cNvPr id="16" name="Shape 14"/>
          <p:cNvSpPr/>
          <p:nvPr/>
        </p:nvSpPr>
        <p:spPr>
          <a:xfrm>
            <a:off x="640080" y="342362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17" name="Text 15"/>
          <p:cNvSpPr/>
          <p:nvPr/>
        </p:nvSpPr>
        <p:spPr>
          <a:xfrm>
            <a:off x="640080" y="342362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AS</a:t>
            </a:r>
            <a:endParaRPr lang="en-US" sz="2200" dirty="0">
              <a:solidFill>
                <a:schemeClr val="bg1"/>
              </a:solidFill>
            </a:endParaRPr>
          </a:p>
        </p:txBody>
      </p:sp>
      <p:sp>
        <p:nvSpPr>
          <p:cNvPr id="18" name="Text 16"/>
          <p:cNvSpPr/>
          <p:nvPr/>
        </p:nvSpPr>
        <p:spPr>
          <a:xfrm>
            <a:off x="457200" y="484094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Arsal Saeed</a:t>
            </a:r>
            <a:endParaRPr lang="en-US" sz="1050" dirty="0"/>
          </a:p>
        </p:txBody>
      </p:sp>
      <p:sp>
        <p:nvSpPr>
          <p:cNvPr id="19" name="Shape 17"/>
          <p:cNvSpPr/>
          <p:nvPr/>
        </p:nvSpPr>
        <p:spPr>
          <a:xfrm>
            <a:off x="2331720" y="342362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20" name="Text 18"/>
          <p:cNvSpPr/>
          <p:nvPr/>
        </p:nvSpPr>
        <p:spPr>
          <a:xfrm>
            <a:off x="2331720" y="342362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MA</a:t>
            </a:r>
            <a:endParaRPr lang="en-US" sz="2200" dirty="0">
              <a:solidFill>
                <a:schemeClr val="bg1"/>
              </a:solidFill>
            </a:endParaRPr>
          </a:p>
        </p:txBody>
      </p:sp>
      <p:sp>
        <p:nvSpPr>
          <p:cNvPr id="21" name="Text 19"/>
          <p:cNvSpPr/>
          <p:nvPr/>
        </p:nvSpPr>
        <p:spPr>
          <a:xfrm>
            <a:off x="2148840" y="484094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Malik Ahmed</a:t>
            </a:r>
            <a:endParaRPr lang="en-US" sz="1050" dirty="0"/>
          </a:p>
        </p:txBody>
      </p:sp>
      <p:sp>
        <p:nvSpPr>
          <p:cNvPr id="22" name="Shape 20"/>
          <p:cNvSpPr/>
          <p:nvPr/>
        </p:nvSpPr>
        <p:spPr>
          <a:xfrm>
            <a:off x="4023360" y="3423624"/>
            <a:ext cx="1371600" cy="1371600"/>
          </a:xfrm>
          <a:prstGeom prst="ellipse">
            <a:avLst/>
          </a:prstGeom>
          <a:solidFill>
            <a:srgbClr val="132E52"/>
          </a:solidFill>
          <a:ln w="19050">
            <a:solidFill>
              <a:srgbClr val="1E5F9E"/>
            </a:solidFill>
            <a:prstDash val="solid"/>
          </a:ln>
        </p:spPr>
        <p:txBody>
          <a:bodyPr/>
          <a:lstStyle/>
          <a:p>
            <a:endParaRPr lang="en-US"/>
          </a:p>
        </p:txBody>
      </p:sp>
      <p:sp>
        <p:nvSpPr>
          <p:cNvPr id="23" name="Text 21"/>
          <p:cNvSpPr/>
          <p:nvPr/>
        </p:nvSpPr>
        <p:spPr>
          <a:xfrm>
            <a:off x="4023360" y="3423624"/>
            <a:ext cx="1371600" cy="137160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Zu</a:t>
            </a:r>
            <a:endParaRPr lang="en-US" sz="2200" dirty="0">
              <a:solidFill>
                <a:schemeClr val="bg1"/>
              </a:solidFill>
            </a:endParaRPr>
          </a:p>
        </p:txBody>
      </p:sp>
      <p:sp>
        <p:nvSpPr>
          <p:cNvPr id="24" name="Text 22"/>
          <p:cNvSpPr/>
          <p:nvPr/>
        </p:nvSpPr>
        <p:spPr>
          <a:xfrm>
            <a:off x="3840480" y="4840944"/>
            <a:ext cx="1737360" cy="365760"/>
          </a:xfrm>
          <a:prstGeom prst="rect">
            <a:avLst/>
          </a:prstGeom>
          <a:noFill/>
          <a:ln/>
        </p:spPr>
        <p:txBody>
          <a:bodyPr wrap="square" rtlCol="0" anchor="ctr"/>
          <a:lstStyle/>
          <a:p>
            <a:pPr marL="0" indent="0" algn="ctr">
              <a:buNone/>
            </a:pPr>
            <a:r>
              <a:rPr lang="en-US" sz="1050" dirty="0">
                <a:latin typeface="Arial" pitchFamily="34" charset="0"/>
                <a:ea typeface="Arial" pitchFamily="34" charset="-122"/>
                <a:cs typeface="Arial" pitchFamily="34" charset="-120"/>
              </a:rPr>
              <a:t>Zain ul Abidin</a:t>
            </a:r>
            <a:endParaRPr lang="en-US" sz="1050" dirty="0"/>
          </a:p>
        </p:txBody>
      </p:sp>
      <p:sp>
        <p:nvSpPr>
          <p:cNvPr id="25" name="Shape 23"/>
          <p:cNvSpPr/>
          <p:nvPr/>
        </p:nvSpPr>
        <p:spPr>
          <a:xfrm>
            <a:off x="640080" y="5464288"/>
            <a:ext cx="10881360" cy="0"/>
          </a:xfrm>
          <a:prstGeom prst="line">
            <a:avLst/>
          </a:prstGeom>
          <a:noFill/>
          <a:ln w="12700">
            <a:solidFill>
              <a:srgbClr val="2C4A72"/>
            </a:solidFill>
            <a:prstDash val="solid"/>
          </a:ln>
        </p:spPr>
        <p:txBody>
          <a:bodyPr/>
          <a:lstStyle/>
          <a:p>
            <a:endParaRPr lang="en-US"/>
          </a:p>
        </p:txBody>
      </p:sp>
      <p:sp>
        <p:nvSpPr>
          <p:cNvPr id="30" name="Text 26"/>
          <p:cNvSpPr/>
          <p:nvPr/>
        </p:nvSpPr>
        <p:spPr>
          <a:xfrm>
            <a:off x="3200400" y="5481322"/>
            <a:ext cx="5760720" cy="1005840"/>
          </a:xfrm>
          <a:prstGeom prst="rect">
            <a:avLst/>
          </a:prstGeom>
          <a:noFill/>
          <a:ln/>
        </p:spPr>
        <p:txBody>
          <a:bodyPr wrap="square" rtlCol="0" anchor="ctr"/>
          <a:lstStyle/>
          <a:p>
            <a:pPr marL="0" indent="0" algn="ctr">
              <a:lnSpc>
                <a:spcPct val="120000"/>
              </a:lnSpc>
              <a:buNone/>
            </a:pPr>
            <a:r>
              <a:rPr lang="en-US" sz="1500" b="1" i="1" dirty="0">
                <a:latin typeface="Arial" pitchFamily="34" charset="0"/>
                <a:ea typeface="Arial" pitchFamily="34" charset="-122"/>
                <a:cs typeface="Arial" pitchFamily="34" charset="-120"/>
              </a:rPr>
              <a:t>“AI doesn’t replace ophthalmologists.</a:t>
            </a:r>
            <a:endParaRPr lang="en-US" sz="1500" b="1" dirty="0"/>
          </a:p>
          <a:p>
            <a:pPr marL="0" indent="0" algn="ctr">
              <a:lnSpc>
                <a:spcPct val="120000"/>
              </a:lnSpc>
              <a:buNone/>
            </a:pPr>
            <a:r>
              <a:rPr lang="en-US" sz="1500" b="1" i="1" dirty="0">
                <a:latin typeface="Arial" pitchFamily="34" charset="0"/>
                <a:ea typeface="Arial" pitchFamily="34" charset="-122"/>
                <a:cs typeface="Arial" pitchFamily="34" charset="-120"/>
              </a:rPr>
              <a:t>It ensures no patient falls through the cracks.”</a:t>
            </a:r>
            <a:endParaRPr lang="en-US" sz="1500" b="1"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217959" y="-1027459"/>
            <a:ext cx="5118100" cy="5118100"/>
          </a:xfrm>
          <a:prstGeom prst="ellipse">
            <a:avLst/>
          </a:prstGeom>
          <a:ln w="14288">
            <a:solidFill>
              <a:srgbClr val="2A7B7B">
                <a:alpha val="12000"/>
              </a:srgbClr>
            </a:solidFill>
            <a:prstDash val="solid"/>
          </a:ln>
        </p:spPr>
        <p:txBody>
          <a:bodyPr/>
          <a:lstStyle/>
          <a:p>
            <a:endParaRPr lang="en-US" sz="2400"/>
          </a:p>
        </p:txBody>
      </p:sp>
      <p:sp>
        <p:nvSpPr>
          <p:cNvPr id="4" name="Text 2"/>
          <p:cNvSpPr/>
          <p:nvPr/>
        </p:nvSpPr>
        <p:spPr>
          <a:xfrm>
            <a:off x="975320" y="499071"/>
            <a:ext cx="2533611" cy="158749"/>
          </a:xfrm>
          <a:prstGeom prst="rect">
            <a:avLst/>
          </a:prstGeom>
          <a:noFill/>
          <a:ln/>
        </p:spPr>
        <p:txBody>
          <a:bodyPr wrap="none" lIns="0" tIns="0" rIns="0" bIns="0" rtlCol="0" anchor="ctr"/>
          <a:lstStyle/>
          <a:p>
            <a:pPr>
              <a:spcAft>
                <a:spcPts val="809"/>
              </a:spcAft>
            </a:pPr>
            <a:r>
              <a:rPr lang="en-US" sz="1053" b="1" kern="0" spc="105" dirty="0">
                <a:solidFill>
                  <a:srgbClr val="2A7B7B"/>
                </a:solidFill>
                <a:latin typeface="Inter" pitchFamily="34" charset="0"/>
                <a:ea typeface="Inter" pitchFamily="34" charset="-122"/>
                <a:cs typeface="Inter" pitchFamily="34" charset="-120"/>
              </a:rPr>
              <a:t>05. PATIENT OUTCOMES</a:t>
            </a:r>
            <a:endParaRPr lang="en-US" sz="1053" dirty="0"/>
          </a:p>
        </p:txBody>
      </p:sp>
      <p:sp>
        <p:nvSpPr>
          <p:cNvPr id="5" name="Text 3"/>
          <p:cNvSpPr/>
          <p:nvPr/>
        </p:nvSpPr>
        <p:spPr>
          <a:xfrm>
            <a:off x="975321" y="758627"/>
            <a:ext cx="12590393" cy="501651"/>
          </a:xfrm>
          <a:prstGeom prst="rect">
            <a:avLst/>
          </a:prstGeom>
          <a:noFill/>
          <a:ln/>
        </p:spPr>
        <p:txBody>
          <a:bodyPr wrap="none" lIns="0" tIns="0" rIns="0" bIns="0" rtlCol="0" anchor="ctr"/>
          <a:lstStyle/>
          <a:p>
            <a:r>
              <a:rPr lang="en-US" sz="3267" b="1" kern="0" spc="-65" dirty="0">
                <a:solidFill>
                  <a:srgbClr val="1A1A2E"/>
                </a:solidFill>
                <a:latin typeface="Inter" pitchFamily="34" charset="0"/>
                <a:ea typeface="Inter" pitchFamily="34" charset="-122"/>
                <a:cs typeface="Inter" pitchFamily="34" charset="-120"/>
              </a:rPr>
              <a:t>Earlier Detection. Earlier Treatment. Better Vision.</a:t>
            </a:r>
            <a:endParaRPr lang="en-US" sz="3267" dirty="0"/>
          </a:p>
        </p:txBody>
      </p:sp>
      <p:sp>
        <p:nvSpPr>
          <p:cNvPr id="6" name="Shape 4"/>
          <p:cNvSpPr/>
          <p:nvPr/>
        </p:nvSpPr>
        <p:spPr>
          <a:xfrm>
            <a:off x="975320" y="1581945"/>
            <a:ext cx="4876800" cy="1739900"/>
          </a:xfrm>
          <a:prstGeom prst="rect">
            <a:avLst/>
          </a:prstGeom>
          <a:ln/>
        </p:spPr>
        <p:txBody>
          <a:bodyPr/>
          <a:lstStyle/>
          <a:p>
            <a:endParaRPr lang="en-US" sz="2400"/>
          </a:p>
        </p:txBody>
      </p:sp>
      <p:sp>
        <p:nvSpPr>
          <p:cNvPr id="7" name="Shape 5"/>
          <p:cNvSpPr/>
          <p:nvPr/>
        </p:nvSpPr>
        <p:spPr>
          <a:xfrm>
            <a:off x="976561" y="1583829"/>
            <a:ext cx="241300" cy="25400"/>
          </a:xfrm>
          <a:prstGeom prst="rect">
            <a:avLst/>
          </a:prstGeom>
          <a:solidFill>
            <a:srgbClr val="2A7B7B"/>
          </a:solidFill>
          <a:ln/>
        </p:spPr>
        <p:txBody>
          <a:bodyPr/>
          <a:lstStyle/>
          <a:p>
            <a:endParaRPr lang="en-US" sz="2400"/>
          </a:p>
        </p:txBody>
      </p:sp>
      <p:sp>
        <p:nvSpPr>
          <p:cNvPr id="8" name="Text 6"/>
          <p:cNvSpPr/>
          <p:nvPr/>
        </p:nvSpPr>
        <p:spPr>
          <a:xfrm>
            <a:off x="975320" y="1740992"/>
            <a:ext cx="3732779"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Faster Screening and Reporting</a:t>
            </a:r>
            <a:endParaRPr lang="en-US" sz="1440" dirty="0"/>
          </a:p>
        </p:txBody>
      </p:sp>
      <p:sp>
        <p:nvSpPr>
          <p:cNvPr id="9" name="Text 7"/>
          <p:cNvSpPr/>
          <p:nvPr/>
        </p:nvSpPr>
        <p:spPr>
          <a:xfrm>
            <a:off x="975320" y="2060675"/>
            <a:ext cx="6010643" cy="165100"/>
          </a:xfrm>
          <a:prstGeom prst="rect">
            <a:avLst/>
          </a:prstGeom>
          <a:noFill/>
          <a:ln/>
        </p:spPr>
        <p:txBody>
          <a:bodyPr wrap="none" lIns="0" tIns="0" rIns="0" bIns="0" rtlCol="0" anchor="ctr"/>
          <a:lstStyle/>
          <a:p>
            <a:r>
              <a:rPr lang="en-US" sz="1107" dirty="0">
                <a:solidFill>
                  <a:srgbClr val="4A4A68"/>
                </a:solidFill>
                <a:latin typeface="Inter" pitchFamily="34" charset="0"/>
                <a:ea typeface="Inter" pitchFamily="34" charset="-122"/>
                <a:cs typeface="Inter" pitchFamily="34" charset="-120"/>
              </a:rPr>
              <a:t>Patients receive AI-assisted results within seconds of image capture.</a:t>
            </a:r>
            <a:endParaRPr lang="en-US" sz="1107" dirty="0"/>
          </a:p>
        </p:txBody>
      </p:sp>
      <p:sp>
        <p:nvSpPr>
          <p:cNvPr id="10" name="Shape 8"/>
          <p:cNvSpPr/>
          <p:nvPr/>
        </p:nvSpPr>
        <p:spPr>
          <a:xfrm>
            <a:off x="6339831" y="1581945"/>
            <a:ext cx="4876800" cy="1739900"/>
          </a:xfrm>
          <a:prstGeom prst="rect">
            <a:avLst/>
          </a:prstGeom>
          <a:ln/>
        </p:spPr>
        <p:txBody>
          <a:bodyPr/>
          <a:lstStyle/>
          <a:p>
            <a:endParaRPr lang="en-US" sz="2400"/>
          </a:p>
        </p:txBody>
      </p:sp>
      <p:sp>
        <p:nvSpPr>
          <p:cNvPr id="11" name="Shape 9"/>
          <p:cNvSpPr/>
          <p:nvPr/>
        </p:nvSpPr>
        <p:spPr>
          <a:xfrm>
            <a:off x="6341022" y="1583829"/>
            <a:ext cx="241300" cy="25400"/>
          </a:xfrm>
          <a:prstGeom prst="rect">
            <a:avLst/>
          </a:prstGeom>
          <a:solidFill>
            <a:srgbClr val="2A7B7B"/>
          </a:solidFill>
          <a:ln/>
        </p:spPr>
        <p:txBody>
          <a:bodyPr/>
          <a:lstStyle/>
          <a:p>
            <a:endParaRPr lang="en-US" sz="2400"/>
          </a:p>
        </p:txBody>
      </p:sp>
      <p:sp>
        <p:nvSpPr>
          <p:cNvPr id="12" name="Text 10"/>
          <p:cNvSpPr/>
          <p:nvPr/>
        </p:nvSpPr>
        <p:spPr>
          <a:xfrm>
            <a:off x="6339781" y="1740992"/>
            <a:ext cx="3230513"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Reduced Missed Pathology</a:t>
            </a:r>
            <a:endParaRPr lang="en-US" sz="1440" dirty="0"/>
          </a:p>
        </p:txBody>
      </p:sp>
      <p:sp>
        <p:nvSpPr>
          <p:cNvPr id="13" name="Text 11"/>
          <p:cNvSpPr/>
          <p:nvPr/>
        </p:nvSpPr>
        <p:spPr>
          <a:xfrm>
            <a:off x="6339780" y="2060675"/>
            <a:ext cx="5643811"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AI second opinion reduces the likelihood of subtle findings being</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overlooked.</a:t>
            </a:r>
            <a:endParaRPr lang="en-US" sz="1107" dirty="0"/>
          </a:p>
        </p:txBody>
      </p:sp>
      <p:sp>
        <p:nvSpPr>
          <p:cNvPr id="14" name="Shape 12"/>
          <p:cNvSpPr/>
          <p:nvPr/>
        </p:nvSpPr>
        <p:spPr>
          <a:xfrm>
            <a:off x="975320" y="3491509"/>
            <a:ext cx="4876800" cy="1739900"/>
          </a:xfrm>
          <a:prstGeom prst="rect">
            <a:avLst/>
          </a:prstGeom>
          <a:ln/>
        </p:spPr>
        <p:txBody>
          <a:bodyPr/>
          <a:lstStyle/>
          <a:p>
            <a:endParaRPr lang="en-US" sz="2400"/>
          </a:p>
        </p:txBody>
      </p:sp>
      <p:sp>
        <p:nvSpPr>
          <p:cNvPr id="15" name="Shape 13"/>
          <p:cNvSpPr/>
          <p:nvPr/>
        </p:nvSpPr>
        <p:spPr>
          <a:xfrm>
            <a:off x="976561" y="3493393"/>
            <a:ext cx="241300" cy="25400"/>
          </a:xfrm>
          <a:prstGeom prst="rect">
            <a:avLst/>
          </a:prstGeom>
          <a:solidFill>
            <a:srgbClr val="2A7B7B"/>
          </a:solidFill>
          <a:ln/>
        </p:spPr>
        <p:txBody>
          <a:bodyPr/>
          <a:lstStyle/>
          <a:p>
            <a:endParaRPr lang="en-US" sz="2400"/>
          </a:p>
        </p:txBody>
      </p:sp>
      <p:sp>
        <p:nvSpPr>
          <p:cNvPr id="16" name="Text 14"/>
          <p:cNvSpPr/>
          <p:nvPr/>
        </p:nvSpPr>
        <p:spPr>
          <a:xfrm>
            <a:off x="975321" y="3650556"/>
            <a:ext cx="2658209"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Secure Digital Reports</a:t>
            </a:r>
            <a:endParaRPr lang="en-US" sz="1440" dirty="0"/>
          </a:p>
        </p:txBody>
      </p:sp>
      <p:sp>
        <p:nvSpPr>
          <p:cNvPr id="17" name="Text 15"/>
          <p:cNvSpPr/>
          <p:nvPr/>
        </p:nvSpPr>
        <p:spPr>
          <a:xfrm>
            <a:off x="975320" y="3970239"/>
            <a:ext cx="5943957"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Encrypted, easy-to-access reports that patients and care teams can</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share securely.</a:t>
            </a:r>
            <a:endParaRPr lang="en-US" sz="1107" dirty="0"/>
          </a:p>
        </p:txBody>
      </p:sp>
      <p:sp>
        <p:nvSpPr>
          <p:cNvPr id="18" name="Shape 16"/>
          <p:cNvSpPr/>
          <p:nvPr/>
        </p:nvSpPr>
        <p:spPr>
          <a:xfrm>
            <a:off x="6339831" y="3491509"/>
            <a:ext cx="4876800" cy="1739900"/>
          </a:xfrm>
          <a:prstGeom prst="rect">
            <a:avLst/>
          </a:prstGeom>
          <a:ln/>
        </p:spPr>
        <p:txBody>
          <a:bodyPr/>
          <a:lstStyle/>
          <a:p>
            <a:endParaRPr lang="en-US" sz="2400"/>
          </a:p>
        </p:txBody>
      </p:sp>
      <p:sp>
        <p:nvSpPr>
          <p:cNvPr id="19" name="Shape 17"/>
          <p:cNvSpPr/>
          <p:nvPr/>
        </p:nvSpPr>
        <p:spPr>
          <a:xfrm>
            <a:off x="6341022" y="3493393"/>
            <a:ext cx="241300" cy="25400"/>
          </a:xfrm>
          <a:prstGeom prst="rect">
            <a:avLst/>
          </a:prstGeom>
          <a:solidFill>
            <a:srgbClr val="2A7B7B"/>
          </a:solidFill>
          <a:ln/>
        </p:spPr>
        <p:txBody>
          <a:bodyPr/>
          <a:lstStyle/>
          <a:p>
            <a:endParaRPr lang="en-US" sz="2400"/>
          </a:p>
        </p:txBody>
      </p:sp>
      <p:sp>
        <p:nvSpPr>
          <p:cNvPr id="20" name="Text 18"/>
          <p:cNvSpPr/>
          <p:nvPr/>
        </p:nvSpPr>
        <p:spPr>
          <a:xfrm>
            <a:off x="6339781" y="3650556"/>
            <a:ext cx="3361303"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Physician-Reviewed Results</a:t>
            </a:r>
            <a:endParaRPr lang="en-US" sz="1440" dirty="0"/>
          </a:p>
        </p:txBody>
      </p:sp>
      <p:sp>
        <p:nvSpPr>
          <p:cNvPr id="21" name="Text 19"/>
          <p:cNvSpPr/>
          <p:nvPr/>
        </p:nvSpPr>
        <p:spPr>
          <a:xfrm>
            <a:off x="6339780" y="3970239"/>
            <a:ext cx="6125696"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Patients gain confidence knowing AI findings are always reviewed and</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validated by an ophthalmologist.</a:t>
            </a:r>
            <a:endParaRPr lang="en-US" sz="1107" dirty="0"/>
          </a:p>
        </p:txBody>
      </p:sp>
      <p:sp>
        <p:nvSpPr>
          <p:cNvPr id="22" name="Shape 20"/>
          <p:cNvSpPr/>
          <p:nvPr/>
        </p:nvSpPr>
        <p:spPr>
          <a:xfrm>
            <a:off x="974726" y="5437188"/>
            <a:ext cx="10242549" cy="254000"/>
          </a:xfrm>
          <a:prstGeom prst="rect">
            <a:avLst/>
          </a:prstGeom>
          <a:ln/>
        </p:spPr>
        <p:txBody>
          <a:bodyPr/>
          <a:lstStyle/>
          <a:p>
            <a:endParaRPr lang="en-US" sz="2400"/>
          </a:p>
        </p:txBody>
      </p:sp>
      <p:sp>
        <p:nvSpPr>
          <p:cNvPr id="23" name="Text 21"/>
          <p:cNvSpPr/>
          <p:nvPr/>
        </p:nvSpPr>
        <p:spPr>
          <a:xfrm>
            <a:off x="1311871" y="5461595"/>
            <a:ext cx="6091128" cy="203200"/>
          </a:xfrm>
          <a:prstGeom prst="rect">
            <a:avLst/>
          </a:prstGeom>
          <a:noFill/>
          <a:ln/>
        </p:spPr>
        <p:txBody>
          <a:bodyPr wrap="none" lIns="0" tIns="0" rIns="0" bIns="0" rtlCol="0" anchor="ctr"/>
          <a:lstStyle/>
          <a:p>
            <a:r>
              <a:rPr lang="en-US" sz="1347" b="1" i="1" dirty="0">
                <a:solidFill>
                  <a:srgbClr val="4A4A68"/>
                </a:solidFill>
                <a:latin typeface="Inter" pitchFamily="34" charset="0"/>
                <a:ea typeface="Inter" pitchFamily="34" charset="-122"/>
                <a:cs typeface="Inter" pitchFamily="34" charset="-120"/>
              </a:rPr>
              <a:t>The goal isn't faster technology. It's better patient care.</a:t>
            </a:r>
            <a:endParaRPr lang="en-US" sz="1347" dirty="0"/>
          </a:p>
        </p:txBody>
      </p:sp>
      <p:sp>
        <p:nvSpPr>
          <p:cNvPr id="24" name="Shape 22"/>
          <p:cNvSpPr/>
          <p:nvPr/>
        </p:nvSpPr>
        <p:spPr>
          <a:xfrm>
            <a:off x="0" y="6172200"/>
            <a:ext cx="12192000" cy="685800"/>
          </a:xfrm>
          <a:prstGeom prst="rect">
            <a:avLst/>
          </a:prstGeom>
          <a:solidFill>
            <a:srgbClr val="2A7B7B"/>
          </a:solidFill>
          <a:ln/>
        </p:spPr>
        <p:txBody>
          <a:bodyPr/>
          <a:lstStyle/>
          <a:p>
            <a:endParaRPr lang="en-US" sz="2400"/>
          </a:p>
        </p:txBody>
      </p:sp>
      <p:sp>
        <p:nvSpPr>
          <p:cNvPr id="25" name="Text 23"/>
          <p:cNvSpPr/>
          <p:nvPr/>
        </p:nvSpPr>
        <p:spPr>
          <a:xfrm>
            <a:off x="975320" y="6436320"/>
            <a:ext cx="530096" cy="152400"/>
          </a:xfrm>
          <a:prstGeom prst="rect">
            <a:avLst/>
          </a:prstGeom>
          <a:noFill/>
          <a:ln/>
        </p:spPr>
        <p:txBody>
          <a:bodyPr wrap="none" lIns="0" tIns="0" rIns="0" bIns="0" rtlCol="0" anchor="ctr"/>
          <a:lstStyle/>
          <a:p>
            <a:r>
              <a:rPr lang="en-US" sz="960" b="1" kern="0" spc="115" dirty="0">
                <a:solidFill>
                  <a:srgbClr val="FFFFFF"/>
                </a:solidFill>
                <a:latin typeface="Inter" pitchFamily="34" charset="0"/>
                <a:ea typeface="Inter" pitchFamily="34" charset="-122"/>
                <a:cs typeface="Inter" pitchFamily="34" charset="-120"/>
              </a:rPr>
              <a:t>AFIO</a:t>
            </a:r>
            <a:endParaRPr lang="en-US" sz="960" dirty="0"/>
          </a:p>
        </p:txBody>
      </p:sp>
      <p:sp>
        <p:nvSpPr>
          <p:cNvPr id="26" name="Text 24"/>
          <p:cNvSpPr/>
          <p:nvPr/>
        </p:nvSpPr>
        <p:spPr>
          <a:xfrm>
            <a:off x="11061205" y="6436320"/>
            <a:ext cx="278319" cy="152400"/>
          </a:xfrm>
          <a:prstGeom prst="rect">
            <a:avLst/>
          </a:prstGeom>
          <a:noFill/>
          <a:ln/>
        </p:spPr>
        <p:txBody>
          <a:bodyPr wrap="none" lIns="0" tIns="0" rIns="0" bIns="0" rtlCol="0" anchor="ctr"/>
          <a:lstStyle/>
          <a:p>
            <a:r>
              <a:rPr lang="en-US" sz="960" dirty="0">
                <a:solidFill>
                  <a:srgbClr val="D4E5E5"/>
                </a:solidFill>
                <a:latin typeface="Inter" pitchFamily="34" charset="0"/>
                <a:ea typeface="Inter" pitchFamily="34" charset="-122"/>
                <a:cs typeface="Inter" pitchFamily="34" charset="-120"/>
              </a:rPr>
              <a:t>06</a:t>
            </a:r>
            <a:endParaRPr lang="en-US" sz="960" dirty="0"/>
          </a:p>
        </p:txBody>
      </p:sp>
      <p:pic>
        <p:nvPicPr>
          <p:cNvPr id="2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20" y="1581945"/>
            <a:ext cx="4876800" cy="1739900"/>
          </a:xfrm>
          <a:prstGeom prst="rect">
            <a:avLst/>
          </a:prstGeom>
        </p:spPr>
      </p:pic>
      <p:pic>
        <p:nvPicPr>
          <p:cNvPr id="2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39831" y="1581945"/>
            <a:ext cx="4876800" cy="1739900"/>
          </a:xfrm>
          <a:prstGeom prst="rect">
            <a:avLst/>
          </a:prstGeom>
        </p:spPr>
      </p:pic>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5320" y="3491509"/>
            <a:ext cx="4876800" cy="1739900"/>
          </a:xfrm>
          <a:prstGeom prst="rect">
            <a:avLst/>
          </a:prstGeom>
        </p:spPr>
      </p:pic>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9831" y="3491509"/>
            <a:ext cx="4876800" cy="1739900"/>
          </a:xfrm>
          <a:prstGeom prst="rect">
            <a:avLst/>
          </a:prstGeom>
        </p:spPr>
      </p:pic>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4726" y="5437188"/>
            <a:ext cx="10242549" cy="254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txBody>
          <a:bodyPr/>
          <a:lstStyle/>
          <a:p>
            <a:endParaRPr lang="en-US" sz="2400"/>
          </a:p>
        </p:txBody>
      </p:sp>
      <p:sp>
        <p:nvSpPr>
          <p:cNvPr id="3" name="Shape 1"/>
          <p:cNvSpPr/>
          <p:nvPr/>
        </p:nvSpPr>
        <p:spPr>
          <a:xfrm>
            <a:off x="1219200" y="-1447800"/>
            <a:ext cx="9753600" cy="9753600"/>
          </a:xfrm>
          <a:prstGeom prst="ellipse">
            <a:avLst/>
          </a:prstGeom>
          <a:ln w="9525">
            <a:solidFill>
              <a:srgbClr val="2A7B7B">
                <a:alpha val="8000"/>
              </a:srgbClr>
            </a:solidFill>
            <a:prstDash val="solid"/>
          </a:ln>
        </p:spPr>
        <p:txBody>
          <a:bodyPr/>
          <a:lstStyle/>
          <a:p>
            <a:endParaRPr lang="en-US" sz="2400"/>
          </a:p>
        </p:txBody>
      </p:sp>
      <p:sp>
        <p:nvSpPr>
          <p:cNvPr id="4" name="Shape 2"/>
          <p:cNvSpPr/>
          <p:nvPr/>
        </p:nvSpPr>
        <p:spPr>
          <a:xfrm>
            <a:off x="2743200" y="76200"/>
            <a:ext cx="6705600" cy="6705600"/>
          </a:xfrm>
          <a:prstGeom prst="ellipse">
            <a:avLst/>
          </a:prstGeom>
          <a:ln w="9525">
            <a:solidFill>
              <a:srgbClr val="2A7B7B">
                <a:alpha val="6000"/>
              </a:srgbClr>
            </a:solidFill>
            <a:prstDash val="solid"/>
          </a:ln>
        </p:spPr>
        <p:txBody>
          <a:bodyPr/>
          <a:lstStyle/>
          <a:p>
            <a:endParaRPr lang="en-US" sz="2400"/>
          </a:p>
        </p:txBody>
      </p:sp>
      <p:sp>
        <p:nvSpPr>
          <p:cNvPr id="5" name="Text 3"/>
          <p:cNvSpPr/>
          <p:nvPr/>
        </p:nvSpPr>
        <p:spPr>
          <a:xfrm>
            <a:off x="975320" y="499071"/>
            <a:ext cx="1666707" cy="158749"/>
          </a:xfrm>
          <a:prstGeom prst="rect">
            <a:avLst/>
          </a:prstGeom>
          <a:noFill/>
          <a:ln/>
        </p:spPr>
        <p:txBody>
          <a:bodyPr wrap="none" lIns="0" tIns="0" rIns="0" bIns="0" rtlCol="0" anchor="ctr"/>
          <a:lstStyle/>
          <a:p>
            <a:pPr>
              <a:spcAft>
                <a:spcPts val="809"/>
              </a:spcAft>
            </a:pPr>
            <a:r>
              <a:rPr lang="en-US" sz="1053" b="1" kern="0" spc="105" dirty="0">
                <a:solidFill>
                  <a:srgbClr val="2A7B7B"/>
                </a:solidFill>
                <a:latin typeface="Inter" pitchFamily="34" charset="0"/>
                <a:ea typeface="Inter" pitchFamily="34" charset="-122"/>
                <a:cs typeface="Inter" pitchFamily="34" charset="-120"/>
              </a:rPr>
              <a:t>09. OUR VISION</a:t>
            </a:r>
            <a:endParaRPr lang="en-US" sz="1053" dirty="0"/>
          </a:p>
        </p:txBody>
      </p:sp>
      <p:sp>
        <p:nvSpPr>
          <p:cNvPr id="6" name="Text 4"/>
          <p:cNvSpPr/>
          <p:nvPr/>
        </p:nvSpPr>
        <p:spPr>
          <a:xfrm>
            <a:off x="975321" y="758627"/>
            <a:ext cx="6554569" cy="501651"/>
          </a:xfrm>
          <a:prstGeom prst="rect">
            <a:avLst/>
          </a:prstGeom>
          <a:noFill/>
          <a:ln/>
        </p:spPr>
        <p:txBody>
          <a:bodyPr wrap="none" lIns="0" tIns="0" rIns="0" bIns="0" rtlCol="0" anchor="ctr"/>
          <a:lstStyle/>
          <a:p>
            <a:r>
              <a:rPr lang="en-US" sz="3267" b="1" kern="0" spc="-65" dirty="0">
                <a:solidFill>
                  <a:srgbClr val="1A1A2E"/>
                </a:solidFill>
                <a:latin typeface="Inter" pitchFamily="34" charset="0"/>
                <a:ea typeface="Inter" pitchFamily="34" charset="-122"/>
                <a:cs typeface="Inter" pitchFamily="34" charset="-120"/>
              </a:rPr>
              <a:t>Making Early Eye Disease</a:t>
            </a:r>
            <a:endParaRPr lang="en-US" sz="3267" dirty="0"/>
          </a:p>
        </p:txBody>
      </p:sp>
      <p:sp>
        <p:nvSpPr>
          <p:cNvPr id="7" name="Text 5"/>
          <p:cNvSpPr/>
          <p:nvPr/>
        </p:nvSpPr>
        <p:spPr>
          <a:xfrm>
            <a:off x="975320" y="1214537"/>
            <a:ext cx="8577560" cy="501651"/>
          </a:xfrm>
          <a:prstGeom prst="rect">
            <a:avLst/>
          </a:prstGeom>
          <a:noFill/>
          <a:ln/>
        </p:spPr>
        <p:txBody>
          <a:bodyPr wrap="none" lIns="0" tIns="0" rIns="0" bIns="0" rtlCol="0" anchor="ctr"/>
          <a:lstStyle/>
          <a:p>
            <a:r>
              <a:rPr lang="en-US" sz="3267" b="1" kern="0" spc="-65" dirty="0">
                <a:solidFill>
                  <a:srgbClr val="1A1A2E"/>
                </a:solidFill>
                <a:latin typeface="Inter" pitchFamily="34" charset="0"/>
                <a:ea typeface="Inter" pitchFamily="34" charset="-122"/>
                <a:cs typeface="Inter" pitchFamily="34" charset="-120"/>
              </a:rPr>
              <a:t>Detection Accessible to Everyone</a:t>
            </a:r>
            <a:endParaRPr lang="en-US" sz="3267" dirty="0"/>
          </a:p>
        </p:txBody>
      </p:sp>
      <p:sp>
        <p:nvSpPr>
          <p:cNvPr id="8" name="Text 6"/>
          <p:cNvSpPr/>
          <p:nvPr/>
        </p:nvSpPr>
        <p:spPr>
          <a:xfrm>
            <a:off x="975321" y="1994298"/>
            <a:ext cx="615097" cy="444500"/>
          </a:xfrm>
          <a:prstGeom prst="rect">
            <a:avLst/>
          </a:prstGeom>
          <a:noFill/>
          <a:ln/>
        </p:spPr>
        <p:txBody>
          <a:bodyPr wrap="none" lIns="0" tIns="0" rIns="0" bIns="0" rtlCol="0" anchor="ctr"/>
          <a:lstStyle/>
          <a:p>
            <a:r>
              <a:rPr lang="en-US" sz="2880" b="1" dirty="0">
                <a:solidFill>
                  <a:srgbClr val="BFD7D7"/>
                </a:solidFill>
                <a:latin typeface="Inter" pitchFamily="34" charset="0"/>
                <a:ea typeface="Inter" pitchFamily="34" charset="-122"/>
                <a:cs typeface="Inter" pitchFamily="34" charset="-120"/>
              </a:rPr>
              <a:t>01</a:t>
            </a:r>
            <a:endParaRPr lang="en-US" sz="2880" dirty="0"/>
          </a:p>
        </p:txBody>
      </p:sp>
      <p:sp>
        <p:nvSpPr>
          <p:cNvPr id="9" name="Text 7"/>
          <p:cNvSpPr/>
          <p:nvPr/>
        </p:nvSpPr>
        <p:spPr>
          <a:xfrm>
            <a:off x="1633638" y="2032397"/>
            <a:ext cx="4090452"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Timely Screening for Every Patient</a:t>
            </a:r>
            <a:endParaRPr lang="en-US" sz="1440" dirty="0"/>
          </a:p>
        </p:txBody>
      </p:sp>
      <p:sp>
        <p:nvSpPr>
          <p:cNvPr id="10" name="Text 8"/>
          <p:cNvSpPr/>
          <p:nvPr/>
        </p:nvSpPr>
        <p:spPr>
          <a:xfrm>
            <a:off x="1633637" y="2352081"/>
            <a:ext cx="5157024"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A future where every patient receives screening when they</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need it, not when a slot becomes available.</a:t>
            </a:r>
            <a:endParaRPr lang="en-US" sz="1107" dirty="0"/>
          </a:p>
        </p:txBody>
      </p:sp>
      <p:sp>
        <p:nvSpPr>
          <p:cNvPr id="11" name="Text 9"/>
          <p:cNvSpPr/>
          <p:nvPr/>
        </p:nvSpPr>
        <p:spPr>
          <a:xfrm>
            <a:off x="6339780" y="1994298"/>
            <a:ext cx="708352" cy="444500"/>
          </a:xfrm>
          <a:prstGeom prst="rect">
            <a:avLst/>
          </a:prstGeom>
          <a:noFill/>
          <a:ln/>
        </p:spPr>
        <p:txBody>
          <a:bodyPr wrap="none" lIns="0" tIns="0" rIns="0" bIns="0" rtlCol="0" anchor="ctr"/>
          <a:lstStyle/>
          <a:p>
            <a:r>
              <a:rPr lang="en-US" sz="2880" b="1" dirty="0">
                <a:solidFill>
                  <a:srgbClr val="BFD7D7"/>
                </a:solidFill>
                <a:latin typeface="Inter" pitchFamily="34" charset="0"/>
                <a:ea typeface="Inter" pitchFamily="34" charset="-122"/>
                <a:cs typeface="Inter" pitchFamily="34" charset="-120"/>
              </a:rPr>
              <a:t>02</a:t>
            </a:r>
            <a:endParaRPr lang="en-US" sz="2880" dirty="0"/>
          </a:p>
        </p:txBody>
      </p:sp>
      <p:sp>
        <p:nvSpPr>
          <p:cNvPr id="12" name="Text 10"/>
          <p:cNvSpPr/>
          <p:nvPr/>
        </p:nvSpPr>
        <p:spPr>
          <a:xfrm>
            <a:off x="7069833" y="2032397"/>
            <a:ext cx="4379119"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Preventable Blindness Becomes Rare</a:t>
            </a:r>
            <a:endParaRPr lang="en-US" sz="1440" dirty="0"/>
          </a:p>
        </p:txBody>
      </p:sp>
      <p:sp>
        <p:nvSpPr>
          <p:cNvPr id="13" name="Text 11"/>
          <p:cNvSpPr/>
          <p:nvPr/>
        </p:nvSpPr>
        <p:spPr>
          <a:xfrm>
            <a:off x="7069833" y="2352081"/>
            <a:ext cx="5221129"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Better detection rates mean fewer cases of avoidable vision</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loss reaching irreversible stages.</a:t>
            </a:r>
            <a:endParaRPr lang="en-US" sz="1107" dirty="0"/>
          </a:p>
        </p:txBody>
      </p:sp>
      <p:sp>
        <p:nvSpPr>
          <p:cNvPr id="14" name="Text 12"/>
          <p:cNvSpPr/>
          <p:nvPr/>
        </p:nvSpPr>
        <p:spPr>
          <a:xfrm>
            <a:off x="975321" y="3640435"/>
            <a:ext cx="717511" cy="444500"/>
          </a:xfrm>
          <a:prstGeom prst="rect">
            <a:avLst/>
          </a:prstGeom>
          <a:noFill/>
          <a:ln/>
        </p:spPr>
        <p:txBody>
          <a:bodyPr wrap="none" lIns="0" tIns="0" rIns="0" bIns="0" rtlCol="0" anchor="ctr"/>
          <a:lstStyle/>
          <a:p>
            <a:r>
              <a:rPr lang="en-US" sz="2880" b="1" dirty="0">
                <a:solidFill>
                  <a:srgbClr val="BFD7D7"/>
                </a:solidFill>
                <a:latin typeface="Inter" pitchFamily="34" charset="0"/>
                <a:ea typeface="Inter" pitchFamily="34" charset="-122"/>
                <a:cs typeface="Inter" pitchFamily="34" charset="-120"/>
              </a:rPr>
              <a:t>03</a:t>
            </a:r>
            <a:endParaRPr lang="en-US" sz="2880" dirty="0"/>
          </a:p>
        </p:txBody>
      </p:sp>
      <p:sp>
        <p:nvSpPr>
          <p:cNvPr id="15" name="Text 13"/>
          <p:cNvSpPr/>
          <p:nvPr/>
        </p:nvSpPr>
        <p:spPr>
          <a:xfrm>
            <a:off x="1712417" y="3678535"/>
            <a:ext cx="3398321"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AI Expands Clinical Capacity</a:t>
            </a:r>
            <a:endParaRPr lang="en-US" sz="1440" dirty="0"/>
          </a:p>
        </p:txBody>
      </p:sp>
      <p:sp>
        <p:nvSpPr>
          <p:cNvPr id="16" name="Text 14"/>
          <p:cNvSpPr/>
          <p:nvPr/>
        </p:nvSpPr>
        <p:spPr>
          <a:xfrm>
            <a:off x="1712416" y="3998218"/>
            <a:ext cx="5414605"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Scaling screening programs without a proportional increase in</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specialist workload or overhead.</a:t>
            </a:r>
            <a:endParaRPr lang="en-US" sz="1107" dirty="0"/>
          </a:p>
        </p:txBody>
      </p:sp>
      <p:sp>
        <p:nvSpPr>
          <p:cNvPr id="17" name="Text 15"/>
          <p:cNvSpPr/>
          <p:nvPr/>
        </p:nvSpPr>
        <p:spPr>
          <a:xfrm>
            <a:off x="6339781" y="3640435"/>
            <a:ext cx="732601" cy="444500"/>
          </a:xfrm>
          <a:prstGeom prst="rect">
            <a:avLst/>
          </a:prstGeom>
          <a:noFill/>
          <a:ln/>
        </p:spPr>
        <p:txBody>
          <a:bodyPr wrap="none" lIns="0" tIns="0" rIns="0" bIns="0" rtlCol="0" anchor="ctr"/>
          <a:lstStyle/>
          <a:p>
            <a:r>
              <a:rPr lang="en-US" sz="2880" b="1" dirty="0">
                <a:solidFill>
                  <a:srgbClr val="BFD7D7"/>
                </a:solidFill>
                <a:latin typeface="Inter" pitchFamily="34" charset="0"/>
                <a:ea typeface="Inter" pitchFamily="34" charset="-122"/>
                <a:cs typeface="Inter" pitchFamily="34" charset="-120"/>
              </a:rPr>
              <a:t>04</a:t>
            </a:r>
            <a:endParaRPr lang="en-US" sz="2880" dirty="0"/>
          </a:p>
        </p:txBody>
      </p:sp>
      <p:sp>
        <p:nvSpPr>
          <p:cNvPr id="18" name="Text 16"/>
          <p:cNvSpPr/>
          <p:nvPr/>
        </p:nvSpPr>
        <p:spPr>
          <a:xfrm>
            <a:off x="7088485" y="3678535"/>
            <a:ext cx="3920451" cy="222251"/>
          </a:xfrm>
          <a:prstGeom prst="rect">
            <a:avLst/>
          </a:prstGeom>
          <a:noFill/>
          <a:ln/>
        </p:spPr>
        <p:txBody>
          <a:bodyPr wrap="none" lIns="0" tIns="0" rIns="0" bIns="0" rtlCol="0" anchor="ctr"/>
          <a:lstStyle/>
          <a:p>
            <a:pPr>
              <a:spcAft>
                <a:spcPts val="540"/>
              </a:spcAft>
            </a:pPr>
            <a:r>
              <a:rPr lang="en-US" sz="1440" b="1" dirty="0">
                <a:solidFill>
                  <a:srgbClr val="1A1A2E"/>
                </a:solidFill>
                <a:latin typeface="Inter" pitchFamily="34" charset="0"/>
                <a:ea typeface="Inter" pitchFamily="34" charset="-122"/>
                <a:cs typeface="Inter" pitchFamily="34" charset="-120"/>
              </a:rPr>
              <a:t>Technology Empowers Clinicians</a:t>
            </a:r>
            <a:endParaRPr lang="en-US" sz="1440" dirty="0"/>
          </a:p>
        </p:txBody>
      </p:sp>
      <p:sp>
        <p:nvSpPr>
          <p:cNvPr id="19" name="Text 17"/>
          <p:cNvSpPr/>
          <p:nvPr/>
        </p:nvSpPr>
        <p:spPr>
          <a:xfrm>
            <a:off x="7088486" y="3998218"/>
            <a:ext cx="5265500" cy="389335"/>
          </a:xfrm>
          <a:prstGeom prst="rect">
            <a:avLst/>
          </a:prstGeom>
          <a:noFill/>
          <a:ln/>
        </p:spPr>
        <p:txBody>
          <a:bodyPr wrap="none" lIns="0" tIns="0" rIns="0" bIns="0" rtlCol="0" anchor="t"/>
          <a:lstStyle/>
          <a:p>
            <a:pPr>
              <a:lnSpc>
                <a:spcPts val="1765"/>
              </a:lnSpc>
            </a:pPr>
            <a:r>
              <a:rPr lang="en-US" sz="1107" dirty="0">
                <a:solidFill>
                  <a:srgbClr val="4A4A68"/>
                </a:solidFill>
                <a:latin typeface="Inter" pitchFamily="34" charset="0"/>
                <a:ea typeface="Inter" pitchFamily="34" charset="-122"/>
                <a:cs typeface="Inter" pitchFamily="34" charset="-120"/>
              </a:rPr>
              <a:t>Tools that amplify clinical expertise rather than replacing the</a:t>
            </a:r>
            <a:endParaRPr lang="en-US" sz="1107" dirty="0"/>
          </a:p>
          <a:p>
            <a:pPr>
              <a:lnSpc>
                <a:spcPts val="1765"/>
              </a:lnSpc>
            </a:pPr>
            <a:r>
              <a:rPr lang="en-US" sz="1107" dirty="0">
                <a:solidFill>
                  <a:srgbClr val="4A4A68"/>
                </a:solidFill>
                <a:latin typeface="Inter" pitchFamily="34" charset="0"/>
                <a:ea typeface="Inter" pitchFamily="34" charset="-122"/>
                <a:cs typeface="Inter" pitchFamily="34" charset="-120"/>
              </a:rPr>
              <a:t>human judgment at the heart of care.</a:t>
            </a:r>
            <a:endParaRPr lang="en-US" sz="1107" dirty="0"/>
          </a:p>
        </p:txBody>
      </p:sp>
      <p:sp>
        <p:nvSpPr>
          <p:cNvPr id="20" name="Text 18"/>
          <p:cNvSpPr/>
          <p:nvPr/>
        </p:nvSpPr>
        <p:spPr>
          <a:xfrm>
            <a:off x="2502059" y="5424984"/>
            <a:ext cx="7187883" cy="234949"/>
          </a:xfrm>
          <a:prstGeom prst="rect">
            <a:avLst/>
          </a:prstGeom>
          <a:noFill/>
          <a:ln/>
        </p:spPr>
        <p:txBody>
          <a:bodyPr wrap="none" lIns="0" tIns="0" rIns="0" bIns="0" rtlCol="0" anchor="ctr"/>
          <a:lstStyle/>
          <a:p>
            <a:pPr algn="ctr"/>
            <a:r>
              <a:rPr lang="en-US" sz="1533" b="1" kern="0" spc="31" dirty="0">
                <a:solidFill>
                  <a:srgbClr val="2A7B7B"/>
                </a:solidFill>
                <a:latin typeface="Inter" pitchFamily="34" charset="0"/>
                <a:ea typeface="Inter" pitchFamily="34" charset="-122"/>
                <a:cs typeface="Inter" pitchFamily="34" charset="-120"/>
              </a:rPr>
              <a:t>More patients screened. Earlier diagnoses. Better lives.</a:t>
            </a:r>
            <a:endParaRPr lang="en-US" sz="1533" dirty="0"/>
          </a:p>
        </p:txBody>
      </p:sp>
      <p:sp>
        <p:nvSpPr>
          <p:cNvPr id="21" name="Shape 19"/>
          <p:cNvSpPr/>
          <p:nvPr/>
        </p:nvSpPr>
        <p:spPr>
          <a:xfrm>
            <a:off x="0" y="6172200"/>
            <a:ext cx="12192000" cy="685800"/>
          </a:xfrm>
          <a:prstGeom prst="rect">
            <a:avLst/>
          </a:prstGeom>
          <a:solidFill>
            <a:srgbClr val="2A7B7B"/>
          </a:solidFill>
          <a:ln/>
        </p:spPr>
        <p:txBody>
          <a:bodyPr/>
          <a:lstStyle/>
          <a:p>
            <a:endParaRPr lang="en-US" sz="2400"/>
          </a:p>
        </p:txBody>
      </p:sp>
      <p:sp>
        <p:nvSpPr>
          <p:cNvPr id="22" name="Text 20"/>
          <p:cNvSpPr/>
          <p:nvPr/>
        </p:nvSpPr>
        <p:spPr>
          <a:xfrm>
            <a:off x="975320" y="6436320"/>
            <a:ext cx="530096" cy="152400"/>
          </a:xfrm>
          <a:prstGeom prst="rect">
            <a:avLst/>
          </a:prstGeom>
          <a:noFill/>
          <a:ln/>
        </p:spPr>
        <p:txBody>
          <a:bodyPr wrap="none" lIns="0" tIns="0" rIns="0" bIns="0" rtlCol="0" anchor="ctr"/>
          <a:lstStyle/>
          <a:p>
            <a:r>
              <a:rPr lang="en-US" sz="960" b="1" kern="0" spc="115" dirty="0">
                <a:solidFill>
                  <a:srgbClr val="FFFFFF"/>
                </a:solidFill>
                <a:latin typeface="Inter" pitchFamily="34" charset="0"/>
                <a:ea typeface="Inter" pitchFamily="34" charset="-122"/>
                <a:cs typeface="Inter" pitchFamily="34" charset="-120"/>
              </a:rPr>
              <a:t>AFIO</a:t>
            </a:r>
            <a:endParaRPr lang="en-US" sz="960" dirty="0"/>
          </a:p>
        </p:txBody>
      </p:sp>
      <p:sp>
        <p:nvSpPr>
          <p:cNvPr id="23" name="Text 21"/>
          <p:cNvSpPr/>
          <p:nvPr/>
        </p:nvSpPr>
        <p:spPr>
          <a:xfrm>
            <a:off x="11087397" y="6436320"/>
            <a:ext cx="244267" cy="152400"/>
          </a:xfrm>
          <a:prstGeom prst="rect">
            <a:avLst/>
          </a:prstGeom>
          <a:noFill/>
          <a:ln/>
        </p:spPr>
        <p:txBody>
          <a:bodyPr wrap="none" lIns="0" tIns="0" rIns="0" bIns="0" rtlCol="0" anchor="ctr"/>
          <a:lstStyle/>
          <a:p>
            <a:r>
              <a:rPr lang="en-US" sz="960" dirty="0">
                <a:solidFill>
                  <a:srgbClr val="D4E5E5"/>
                </a:solidFill>
                <a:latin typeface="Inter" pitchFamily="34" charset="0"/>
                <a:ea typeface="Inter" pitchFamily="34" charset="-122"/>
                <a:cs typeface="Inter" pitchFamily="34" charset="-120"/>
              </a:rPr>
              <a:t>10</a:t>
            </a:r>
            <a:endParaRPr lang="en-US" sz="96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txBody>
          <a:bodyPr/>
          <a:lstStyle/>
          <a:p>
            <a:endParaRPr lang="en-US" sz="2400"/>
          </a:p>
        </p:txBody>
      </p:sp>
      <p:sp>
        <p:nvSpPr>
          <p:cNvPr id="3" name="Shape 1"/>
          <p:cNvSpPr/>
          <p:nvPr/>
        </p:nvSpPr>
        <p:spPr>
          <a:xfrm>
            <a:off x="7071320" y="-1371600"/>
            <a:ext cx="6096000" cy="6096000"/>
          </a:xfrm>
          <a:prstGeom prst="ellipse">
            <a:avLst/>
          </a:prstGeom>
          <a:ln w="14288">
            <a:solidFill>
              <a:srgbClr val="2A7B7B">
                <a:alpha val="12000"/>
              </a:srgbClr>
            </a:solidFill>
            <a:prstDash val="solid"/>
          </a:ln>
        </p:spPr>
        <p:txBody>
          <a:bodyPr/>
          <a:lstStyle/>
          <a:p>
            <a:endParaRPr lang="en-US" sz="2400"/>
          </a:p>
        </p:txBody>
      </p:sp>
      <p:sp>
        <p:nvSpPr>
          <p:cNvPr id="4" name="Text 2"/>
          <p:cNvSpPr/>
          <p:nvPr/>
        </p:nvSpPr>
        <p:spPr>
          <a:xfrm>
            <a:off x="975320" y="499071"/>
            <a:ext cx="2137499" cy="158749"/>
          </a:xfrm>
          <a:prstGeom prst="rect">
            <a:avLst/>
          </a:prstGeom>
          <a:noFill/>
          <a:ln/>
        </p:spPr>
        <p:txBody>
          <a:bodyPr wrap="none" lIns="0" tIns="0" rIns="0" bIns="0" rtlCol="0" anchor="ctr"/>
          <a:lstStyle/>
          <a:p>
            <a:pPr>
              <a:spcAft>
                <a:spcPts val="809"/>
              </a:spcAft>
            </a:pPr>
            <a:r>
              <a:rPr lang="en-US" sz="1053" b="1" kern="0" spc="105" dirty="0">
                <a:solidFill>
                  <a:srgbClr val="2A7B7B"/>
                </a:solidFill>
                <a:latin typeface="Inter" pitchFamily="34" charset="0"/>
                <a:ea typeface="Inter" pitchFamily="34" charset="-122"/>
                <a:cs typeface="Inter" pitchFamily="34" charset="-120"/>
              </a:rPr>
              <a:t>06. EXPLAINABLE AI</a:t>
            </a:r>
            <a:endParaRPr lang="en-US" sz="1053" dirty="0"/>
          </a:p>
        </p:txBody>
      </p:sp>
      <p:sp>
        <p:nvSpPr>
          <p:cNvPr id="5" name="Text 3"/>
          <p:cNvSpPr/>
          <p:nvPr/>
        </p:nvSpPr>
        <p:spPr>
          <a:xfrm>
            <a:off x="975320" y="752276"/>
            <a:ext cx="7494995" cy="565149"/>
          </a:xfrm>
          <a:prstGeom prst="rect">
            <a:avLst/>
          </a:prstGeom>
          <a:noFill/>
          <a:ln/>
        </p:spPr>
        <p:txBody>
          <a:bodyPr wrap="none" lIns="0" tIns="0" rIns="0" bIns="0" rtlCol="0" anchor="ctr"/>
          <a:lstStyle/>
          <a:p>
            <a:r>
              <a:rPr lang="en-US" sz="3653" b="1" kern="0" spc="-73" dirty="0">
                <a:solidFill>
                  <a:srgbClr val="1A1A2E"/>
                </a:solidFill>
                <a:latin typeface="Inter" pitchFamily="34" charset="0"/>
                <a:ea typeface="Inter" pitchFamily="34" charset="-122"/>
                <a:cs typeface="Inter" pitchFamily="34" charset="-120"/>
              </a:rPr>
              <a:t>Transparency Builds Trust</a:t>
            </a:r>
            <a:endParaRPr lang="en-US" sz="3653" dirty="0"/>
          </a:p>
        </p:txBody>
      </p:sp>
      <p:sp>
        <p:nvSpPr>
          <p:cNvPr id="6" name="Text 4"/>
          <p:cNvSpPr/>
          <p:nvPr/>
        </p:nvSpPr>
        <p:spPr>
          <a:xfrm>
            <a:off x="975321" y="1456035"/>
            <a:ext cx="5893783" cy="222251"/>
          </a:xfrm>
          <a:prstGeom prst="rect">
            <a:avLst/>
          </a:prstGeom>
          <a:noFill/>
          <a:ln/>
        </p:spPr>
        <p:txBody>
          <a:bodyPr wrap="none" lIns="0" tIns="0" rIns="0" bIns="0" rtlCol="0" anchor="ctr"/>
          <a:lstStyle/>
          <a:p>
            <a:pPr>
              <a:spcBef>
                <a:spcPts val="1080"/>
              </a:spcBef>
            </a:pPr>
            <a:r>
              <a:rPr lang="en-US" sz="1440" dirty="0">
                <a:solidFill>
                  <a:srgbClr val="4A4A68"/>
                </a:solidFill>
                <a:latin typeface="Inter" pitchFamily="34" charset="0"/>
                <a:ea typeface="Inter" pitchFamily="34" charset="-122"/>
                <a:cs typeface="Inter" pitchFamily="34" charset="-120"/>
              </a:rPr>
              <a:t>AFIO explains every prediction — not just the result.</a:t>
            </a:r>
            <a:endParaRPr lang="en-US" sz="1440" dirty="0"/>
          </a:p>
        </p:txBody>
      </p:sp>
      <p:sp>
        <p:nvSpPr>
          <p:cNvPr id="7" name="Shape 5"/>
          <p:cNvSpPr/>
          <p:nvPr/>
        </p:nvSpPr>
        <p:spPr>
          <a:xfrm>
            <a:off x="975966" y="2049115"/>
            <a:ext cx="3168649" cy="2768600"/>
          </a:xfrm>
          <a:prstGeom prst="roundRect">
            <a:avLst>
              <a:gd name="adj" fmla="val 3523"/>
            </a:avLst>
          </a:prstGeom>
          <a:solidFill>
            <a:srgbClr val="F8F9FA"/>
          </a:solidFill>
          <a:ln/>
        </p:spPr>
        <p:txBody>
          <a:bodyPr/>
          <a:lstStyle/>
          <a:p>
            <a:endParaRPr lang="en-US" sz="2400"/>
          </a:p>
        </p:txBody>
      </p:sp>
      <p:sp>
        <p:nvSpPr>
          <p:cNvPr id="8" name="Shape 6"/>
          <p:cNvSpPr/>
          <p:nvPr/>
        </p:nvSpPr>
        <p:spPr>
          <a:xfrm>
            <a:off x="1278831" y="2320727"/>
            <a:ext cx="368300" cy="368300"/>
          </a:xfrm>
          <a:prstGeom prst="roundRect">
            <a:avLst>
              <a:gd name="adj" fmla="val 16552"/>
            </a:avLst>
          </a:prstGeom>
          <a:solidFill>
            <a:srgbClr val="2A7B7B"/>
          </a:solidFill>
          <a:ln/>
        </p:spPr>
        <p:txBody>
          <a:bodyPr/>
          <a:lstStyle/>
          <a:p>
            <a:endParaRPr lang="en-US" sz="2400"/>
          </a:p>
        </p:txBody>
      </p:sp>
      <p:sp>
        <p:nvSpPr>
          <p:cNvPr id="9" name="Text 7"/>
          <p:cNvSpPr/>
          <p:nvPr/>
        </p:nvSpPr>
        <p:spPr>
          <a:xfrm>
            <a:off x="1280120" y="2893417"/>
            <a:ext cx="1911261" cy="203200"/>
          </a:xfrm>
          <a:prstGeom prst="rect">
            <a:avLst/>
          </a:prstGeom>
          <a:noFill/>
          <a:ln/>
        </p:spPr>
        <p:txBody>
          <a:bodyPr wrap="none" lIns="0" tIns="0" rIns="0" bIns="0" rtlCol="0" anchor="ctr"/>
          <a:lstStyle/>
          <a:p>
            <a:pPr>
              <a:spcAft>
                <a:spcPts val="809"/>
              </a:spcAft>
            </a:pPr>
            <a:r>
              <a:rPr lang="en-US" sz="1347" b="1" dirty="0">
                <a:solidFill>
                  <a:srgbClr val="1A1A2E"/>
                </a:solidFill>
                <a:latin typeface="Inter" pitchFamily="34" charset="0"/>
                <a:ea typeface="Inter" pitchFamily="34" charset="-122"/>
                <a:cs typeface="Inter" pitchFamily="34" charset="-120"/>
              </a:rPr>
              <a:t>Visual Heatmaps</a:t>
            </a:r>
            <a:endParaRPr lang="en-US" sz="1347" dirty="0"/>
          </a:p>
        </p:txBody>
      </p:sp>
      <p:sp>
        <p:nvSpPr>
          <p:cNvPr id="10" name="Text 8"/>
          <p:cNvSpPr/>
          <p:nvPr/>
        </p:nvSpPr>
        <p:spPr>
          <a:xfrm>
            <a:off x="1280121" y="3232746"/>
            <a:ext cx="3313063" cy="901997"/>
          </a:xfrm>
          <a:prstGeom prst="rect">
            <a:avLst/>
          </a:prstGeom>
          <a:noFill/>
          <a:ln/>
        </p:spPr>
        <p:txBody>
          <a:bodyPr wrap="none" lIns="0" tIns="0" rIns="0" bIns="0" rtlCol="0" anchor="t"/>
          <a:lstStyle/>
          <a:p>
            <a:pPr>
              <a:lnSpc>
                <a:spcPts val="1901"/>
              </a:lnSpc>
            </a:pPr>
            <a:r>
              <a:rPr lang="en-US" sz="1147" dirty="0">
                <a:solidFill>
                  <a:srgbClr val="4A4A68"/>
                </a:solidFill>
                <a:latin typeface="Inter" pitchFamily="34" charset="0"/>
                <a:ea typeface="Inter" pitchFamily="34" charset="-122"/>
                <a:cs typeface="Inter" pitchFamily="34" charset="-120"/>
              </a:rPr>
              <a:t>Highlights suspicious retinal regions</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using visual heatmaps that show</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exactly where the AI detected</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anomalies.</a:t>
            </a:r>
            <a:endParaRPr lang="en-US" sz="1147" dirty="0"/>
          </a:p>
        </p:txBody>
      </p:sp>
      <p:sp>
        <p:nvSpPr>
          <p:cNvPr id="11" name="Shape 9"/>
          <p:cNvSpPr/>
          <p:nvPr/>
        </p:nvSpPr>
        <p:spPr>
          <a:xfrm>
            <a:off x="4511626" y="2049115"/>
            <a:ext cx="3168649" cy="2768600"/>
          </a:xfrm>
          <a:prstGeom prst="roundRect">
            <a:avLst>
              <a:gd name="adj" fmla="val 3523"/>
            </a:avLst>
          </a:prstGeom>
          <a:solidFill>
            <a:srgbClr val="F8F9FA"/>
          </a:solidFill>
          <a:ln/>
        </p:spPr>
        <p:txBody>
          <a:bodyPr/>
          <a:lstStyle/>
          <a:p>
            <a:endParaRPr lang="en-US" sz="2400"/>
          </a:p>
        </p:txBody>
      </p:sp>
      <p:sp>
        <p:nvSpPr>
          <p:cNvPr id="12" name="Shape 10"/>
          <p:cNvSpPr/>
          <p:nvPr/>
        </p:nvSpPr>
        <p:spPr>
          <a:xfrm>
            <a:off x="4814491" y="2320727"/>
            <a:ext cx="368300" cy="368300"/>
          </a:xfrm>
          <a:prstGeom prst="roundRect">
            <a:avLst>
              <a:gd name="adj" fmla="val 16552"/>
            </a:avLst>
          </a:prstGeom>
          <a:solidFill>
            <a:srgbClr val="2A7B7B">
              <a:alpha val="70000"/>
            </a:srgbClr>
          </a:solidFill>
          <a:ln/>
        </p:spPr>
        <p:txBody>
          <a:bodyPr/>
          <a:lstStyle/>
          <a:p>
            <a:endParaRPr lang="en-US" sz="2400"/>
          </a:p>
        </p:txBody>
      </p:sp>
      <p:sp>
        <p:nvSpPr>
          <p:cNvPr id="13" name="Text 11"/>
          <p:cNvSpPr/>
          <p:nvPr/>
        </p:nvSpPr>
        <p:spPr>
          <a:xfrm>
            <a:off x="4815781" y="2893417"/>
            <a:ext cx="3266241" cy="203200"/>
          </a:xfrm>
          <a:prstGeom prst="rect">
            <a:avLst/>
          </a:prstGeom>
          <a:noFill/>
          <a:ln/>
        </p:spPr>
        <p:txBody>
          <a:bodyPr wrap="none" lIns="0" tIns="0" rIns="0" bIns="0" rtlCol="0" anchor="ctr"/>
          <a:lstStyle/>
          <a:p>
            <a:pPr>
              <a:spcAft>
                <a:spcPts val="809"/>
              </a:spcAft>
            </a:pPr>
            <a:r>
              <a:rPr lang="en-US" sz="1347" b="1" dirty="0">
                <a:solidFill>
                  <a:srgbClr val="1A1A2E"/>
                </a:solidFill>
                <a:latin typeface="Inter" pitchFamily="34" charset="0"/>
                <a:ea typeface="Inter" pitchFamily="34" charset="-122"/>
                <a:cs typeface="Inter" pitchFamily="34" charset="-120"/>
              </a:rPr>
              <a:t>Evidence-Backed Predictions</a:t>
            </a:r>
            <a:endParaRPr lang="en-US" sz="1347" dirty="0"/>
          </a:p>
        </p:txBody>
      </p:sp>
      <p:sp>
        <p:nvSpPr>
          <p:cNvPr id="14" name="Text 12"/>
          <p:cNvSpPr/>
          <p:nvPr/>
        </p:nvSpPr>
        <p:spPr>
          <a:xfrm>
            <a:off x="4815780" y="3232746"/>
            <a:ext cx="3349824" cy="660599"/>
          </a:xfrm>
          <a:prstGeom prst="rect">
            <a:avLst/>
          </a:prstGeom>
          <a:noFill/>
          <a:ln/>
        </p:spPr>
        <p:txBody>
          <a:bodyPr wrap="none" lIns="0" tIns="0" rIns="0" bIns="0" rtlCol="0" anchor="t"/>
          <a:lstStyle/>
          <a:p>
            <a:pPr>
              <a:lnSpc>
                <a:spcPts val="1901"/>
              </a:lnSpc>
            </a:pPr>
            <a:r>
              <a:rPr lang="en-US" sz="1147" dirty="0">
                <a:solidFill>
                  <a:srgbClr val="4A4A68"/>
                </a:solidFill>
                <a:latin typeface="Inter" pitchFamily="34" charset="0"/>
                <a:ea typeface="Inter" pitchFamily="34" charset="-122"/>
                <a:cs typeface="Inter" pitchFamily="34" charset="-120"/>
              </a:rPr>
              <a:t>Shows the evidence supporting</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each prediction, giving clinicians the</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context to understand AI reasoning.</a:t>
            </a:r>
            <a:endParaRPr lang="en-US" sz="1147" dirty="0"/>
          </a:p>
        </p:txBody>
      </p:sp>
      <p:sp>
        <p:nvSpPr>
          <p:cNvPr id="15" name="Shape 13"/>
          <p:cNvSpPr/>
          <p:nvPr/>
        </p:nvSpPr>
        <p:spPr>
          <a:xfrm>
            <a:off x="8047286" y="2049115"/>
            <a:ext cx="3168649" cy="2768600"/>
          </a:xfrm>
          <a:prstGeom prst="roundRect">
            <a:avLst>
              <a:gd name="adj" fmla="val 3523"/>
            </a:avLst>
          </a:prstGeom>
          <a:solidFill>
            <a:srgbClr val="F8F9FA"/>
          </a:solidFill>
          <a:ln/>
        </p:spPr>
        <p:txBody>
          <a:bodyPr/>
          <a:lstStyle/>
          <a:p>
            <a:endParaRPr lang="en-US" sz="2400"/>
          </a:p>
        </p:txBody>
      </p:sp>
      <p:sp>
        <p:nvSpPr>
          <p:cNvPr id="16" name="Shape 14"/>
          <p:cNvSpPr/>
          <p:nvPr/>
        </p:nvSpPr>
        <p:spPr>
          <a:xfrm>
            <a:off x="8350151" y="2320727"/>
            <a:ext cx="368300" cy="368300"/>
          </a:xfrm>
          <a:prstGeom prst="roundRect">
            <a:avLst>
              <a:gd name="adj" fmla="val 16552"/>
            </a:avLst>
          </a:prstGeom>
          <a:solidFill>
            <a:srgbClr val="2A7B7B">
              <a:alpha val="40000"/>
            </a:srgbClr>
          </a:solidFill>
          <a:ln/>
        </p:spPr>
        <p:txBody>
          <a:bodyPr/>
          <a:lstStyle/>
          <a:p>
            <a:endParaRPr lang="en-US" sz="2400"/>
          </a:p>
        </p:txBody>
      </p:sp>
      <p:sp>
        <p:nvSpPr>
          <p:cNvPr id="17" name="Text 15"/>
          <p:cNvSpPr/>
          <p:nvPr/>
        </p:nvSpPr>
        <p:spPr>
          <a:xfrm>
            <a:off x="8351441" y="2893417"/>
            <a:ext cx="2154655" cy="203200"/>
          </a:xfrm>
          <a:prstGeom prst="rect">
            <a:avLst/>
          </a:prstGeom>
          <a:noFill/>
          <a:ln/>
        </p:spPr>
        <p:txBody>
          <a:bodyPr wrap="none" lIns="0" tIns="0" rIns="0" bIns="0" rtlCol="0" anchor="ctr"/>
          <a:lstStyle/>
          <a:p>
            <a:pPr>
              <a:spcAft>
                <a:spcPts val="809"/>
              </a:spcAft>
            </a:pPr>
            <a:r>
              <a:rPr lang="en-US" sz="1347" b="1" dirty="0">
                <a:solidFill>
                  <a:srgbClr val="1A1A2E"/>
                </a:solidFill>
                <a:latin typeface="Inter" pitchFamily="34" charset="0"/>
                <a:ea typeface="Inter" pitchFamily="34" charset="-122"/>
                <a:cs typeface="Inter" pitchFamily="34" charset="-120"/>
              </a:rPr>
              <a:t>Clinician Validation</a:t>
            </a:r>
            <a:endParaRPr lang="en-US" sz="1347" dirty="0"/>
          </a:p>
        </p:txBody>
      </p:sp>
      <p:sp>
        <p:nvSpPr>
          <p:cNvPr id="18" name="Text 16"/>
          <p:cNvSpPr/>
          <p:nvPr/>
        </p:nvSpPr>
        <p:spPr>
          <a:xfrm>
            <a:off x="8351441" y="3232746"/>
            <a:ext cx="3256052" cy="660599"/>
          </a:xfrm>
          <a:prstGeom prst="rect">
            <a:avLst/>
          </a:prstGeom>
          <a:noFill/>
          <a:ln/>
        </p:spPr>
        <p:txBody>
          <a:bodyPr wrap="none" lIns="0" tIns="0" rIns="0" bIns="0" rtlCol="0" anchor="t"/>
          <a:lstStyle/>
          <a:p>
            <a:pPr>
              <a:lnSpc>
                <a:spcPts val="1901"/>
              </a:lnSpc>
            </a:pPr>
            <a:r>
              <a:rPr lang="en-US" sz="1147" dirty="0">
                <a:solidFill>
                  <a:srgbClr val="4A4A68"/>
                </a:solidFill>
                <a:latin typeface="Inter" pitchFamily="34" charset="0"/>
                <a:ea typeface="Inter" pitchFamily="34" charset="-122"/>
                <a:cs typeface="Inter" pitchFamily="34" charset="-120"/>
              </a:rPr>
              <a:t>Allows clinicians to review and</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validate every AI finding before any</a:t>
            </a:r>
            <a:endParaRPr lang="en-US" sz="1147" dirty="0"/>
          </a:p>
          <a:p>
            <a:pPr>
              <a:lnSpc>
                <a:spcPts val="1901"/>
              </a:lnSpc>
            </a:pPr>
            <a:r>
              <a:rPr lang="en-US" sz="1147" dirty="0">
                <a:solidFill>
                  <a:srgbClr val="4A4A68"/>
                </a:solidFill>
                <a:latin typeface="Inter" pitchFamily="34" charset="0"/>
                <a:ea typeface="Inter" pitchFamily="34" charset="-122"/>
                <a:cs typeface="Inter" pitchFamily="34" charset="-120"/>
              </a:rPr>
              <a:t>decision is made or report issued.</a:t>
            </a:r>
            <a:endParaRPr lang="en-US" sz="1147" dirty="0"/>
          </a:p>
        </p:txBody>
      </p:sp>
      <p:sp>
        <p:nvSpPr>
          <p:cNvPr id="19" name="Shape 17"/>
          <p:cNvSpPr/>
          <p:nvPr/>
        </p:nvSpPr>
        <p:spPr>
          <a:xfrm>
            <a:off x="974726" y="5094289"/>
            <a:ext cx="10242549" cy="596900"/>
          </a:xfrm>
          <a:prstGeom prst="roundRect">
            <a:avLst>
              <a:gd name="adj" fmla="val 16340"/>
            </a:avLst>
          </a:prstGeom>
          <a:solidFill>
            <a:srgbClr val="1A1A2E"/>
          </a:solidFill>
          <a:ln/>
        </p:spPr>
        <p:txBody>
          <a:bodyPr/>
          <a:lstStyle/>
          <a:p>
            <a:endParaRPr lang="en-US" sz="2400"/>
          </a:p>
        </p:txBody>
      </p:sp>
      <p:sp>
        <p:nvSpPr>
          <p:cNvPr id="20" name="Text 18"/>
          <p:cNvSpPr/>
          <p:nvPr/>
        </p:nvSpPr>
        <p:spPr>
          <a:xfrm>
            <a:off x="3378121" y="5277445"/>
            <a:ext cx="5435759" cy="222251"/>
          </a:xfrm>
          <a:prstGeom prst="rect">
            <a:avLst/>
          </a:prstGeom>
          <a:noFill/>
          <a:ln/>
        </p:spPr>
        <p:txBody>
          <a:bodyPr wrap="none" lIns="0" tIns="0" rIns="0" bIns="0" rtlCol="0" anchor="ctr"/>
          <a:lstStyle/>
          <a:p>
            <a:pPr algn="ctr"/>
            <a:r>
              <a:rPr lang="en-US" sz="1440" b="1" kern="0" spc="15" dirty="0">
                <a:solidFill>
                  <a:srgbClr val="FFFFFF"/>
                </a:solidFill>
                <a:latin typeface="Inter" pitchFamily="34" charset="0"/>
                <a:ea typeface="Inter" pitchFamily="34" charset="-122"/>
                <a:cs typeface="Inter" pitchFamily="34" charset="-120"/>
              </a:rPr>
              <a:t>An explainable AI is an AI clinicians can trust.</a:t>
            </a:r>
            <a:endParaRPr lang="en-US" sz="1440" dirty="0"/>
          </a:p>
        </p:txBody>
      </p:sp>
      <p:sp>
        <p:nvSpPr>
          <p:cNvPr id="21" name="Shape 19"/>
          <p:cNvSpPr/>
          <p:nvPr/>
        </p:nvSpPr>
        <p:spPr>
          <a:xfrm>
            <a:off x="0" y="6172200"/>
            <a:ext cx="12192000" cy="685800"/>
          </a:xfrm>
          <a:prstGeom prst="rect">
            <a:avLst/>
          </a:prstGeom>
          <a:solidFill>
            <a:srgbClr val="2A7B7B"/>
          </a:solidFill>
          <a:ln/>
        </p:spPr>
        <p:txBody>
          <a:bodyPr/>
          <a:lstStyle/>
          <a:p>
            <a:endParaRPr lang="en-US" sz="2400"/>
          </a:p>
        </p:txBody>
      </p:sp>
      <p:sp>
        <p:nvSpPr>
          <p:cNvPr id="22" name="Text 20"/>
          <p:cNvSpPr/>
          <p:nvPr/>
        </p:nvSpPr>
        <p:spPr>
          <a:xfrm>
            <a:off x="975320" y="6436320"/>
            <a:ext cx="530096" cy="152400"/>
          </a:xfrm>
          <a:prstGeom prst="rect">
            <a:avLst/>
          </a:prstGeom>
          <a:noFill/>
          <a:ln/>
        </p:spPr>
        <p:txBody>
          <a:bodyPr wrap="none" lIns="0" tIns="0" rIns="0" bIns="0" rtlCol="0" anchor="ctr"/>
          <a:lstStyle/>
          <a:p>
            <a:r>
              <a:rPr lang="en-US" sz="960" b="1" kern="0" spc="115" dirty="0">
                <a:solidFill>
                  <a:srgbClr val="FFFFFF"/>
                </a:solidFill>
                <a:latin typeface="Inter" pitchFamily="34" charset="0"/>
                <a:ea typeface="Inter" pitchFamily="34" charset="-122"/>
                <a:cs typeface="Inter" pitchFamily="34" charset="-120"/>
              </a:rPr>
              <a:t>AFIO</a:t>
            </a:r>
            <a:endParaRPr lang="en-US" sz="960" dirty="0"/>
          </a:p>
        </p:txBody>
      </p:sp>
      <p:sp>
        <p:nvSpPr>
          <p:cNvPr id="23" name="Text 21"/>
          <p:cNvSpPr/>
          <p:nvPr/>
        </p:nvSpPr>
        <p:spPr>
          <a:xfrm>
            <a:off x="11070729" y="6436320"/>
            <a:ext cx="265936" cy="152400"/>
          </a:xfrm>
          <a:prstGeom prst="rect">
            <a:avLst/>
          </a:prstGeom>
          <a:noFill/>
          <a:ln/>
        </p:spPr>
        <p:txBody>
          <a:bodyPr wrap="none" lIns="0" tIns="0" rIns="0" bIns="0" rtlCol="0" anchor="ctr"/>
          <a:lstStyle/>
          <a:p>
            <a:r>
              <a:rPr lang="en-US" sz="960" dirty="0">
                <a:solidFill>
                  <a:srgbClr val="D4E5E5"/>
                </a:solidFill>
                <a:latin typeface="Inter" pitchFamily="34" charset="0"/>
                <a:ea typeface="Inter" pitchFamily="34" charset="-122"/>
                <a:cs typeface="Inter" pitchFamily="34" charset="-120"/>
              </a:rPr>
              <a:t>07</a:t>
            </a:r>
            <a:endParaRPr lang="en-US" sz="96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OCT ANALYZER</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400" b="1" dirty="0">
                <a:solidFill>
                  <a:srgbClr val="16324F"/>
                </a:solidFill>
                <a:latin typeface="Cambria" pitchFamily="34" charset="0"/>
                <a:ea typeface="Cambria" pitchFamily="34" charset="-122"/>
                <a:cs typeface="Cambria" pitchFamily="34" charset="-120"/>
              </a:rPr>
              <a:t>Retinal layer classification — four categories, one scan.</a:t>
            </a:r>
            <a:endParaRPr lang="en-US" sz="2400" dirty="0"/>
          </a:p>
        </p:txBody>
      </p:sp>
      <p:sp>
        <p:nvSpPr>
          <p:cNvPr id="5" name="Shape 3"/>
          <p:cNvSpPr/>
          <p:nvPr/>
        </p:nvSpPr>
        <p:spPr>
          <a:xfrm>
            <a:off x="502920" y="1691640"/>
            <a:ext cx="3339066" cy="2139696"/>
          </a:xfrm>
          <a:prstGeom prst="roundRect">
            <a:avLst>
              <a:gd name="adj" fmla="val 384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740664" y="1911096"/>
            <a:ext cx="576072" cy="310896"/>
          </a:xfrm>
          <a:prstGeom prst="roundRect">
            <a:avLst>
              <a:gd name="adj" fmla="val 50000"/>
            </a:avLst>
          </a:prstGeom>
          <a:solidFill>
            <a:srgbClr val="C0392B"/>
          </a:solidFill>
          <a:ln/>
        </p:spPr>
        <p:txBody>
          <a:bodyPr/>
          <a:lstStyle/>
          <a:p>
            <a:endParaRPr lang="en-US"/>
          </a:p>
        </p:txBody>
      </p:sp>
      <p:sp>
        <p:nvSpPr>
          <p:cNvPr id="7" name="Text 5"/>
          <p:cNvSpPr/>
          <p:nvPr/>
        </p:nvSpPr>
        <p:spPr>
          <a:xfrm>
            <a:off x="740664" y="1911096"/>
            <a:ext cx="576072"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CNV</a:t>
            </a:r>
            <a:endParaRPr lang="en-US" sz="1050" dirty="0"/>
          </a:p>
        </p:txBody>
      </p:sp>
      <p:sp>
        <p:nvSpPr>
          <p:cNvPr id="8" name="Text 6"/>
          <p:cNvSpPr/>
          <p:nvPr/>
        </p:nvSpPr>
        <p:spPr>
          <a:xfrm>
            <a:off x="740664" y="2313432"/>
            <a:ext cx="2863578" cy="502920"/>
          </a:xfrm>
          <a:prstGeom prst="rect">
            <a:avLst/>
          </a:prstGeom>
          <a:noFill/>
          <a:ln/>
        </p:spPr>
        <p:txBody>
          <a:bodyPr wrap="square" lIns="0" tIns="0" rIns="0" bIns="0" rtlCol="0" anchor="t"/>
          <a:lstStyle/>
          <a:p>
            <a:pPr marL="0" indent="0">
              <a:lnSpc>
                <a:spcPct val="105000"/>
              </a:lnSpc>
              <a:buNone/>
            </a:pPr>
            <a:r>
              <a:rPr lang="en-US" sz="1450" b="1" dirty="0">
                <a:solidFill>
                  <a:srgbClr val="16324F"/>
                </a:solidFill>
                <a:latin typeface="Cambria" pitchFamily="34" charset="0"/>
                <a:ea typeface="Cambria" pitchFamily="34" charset="-122"/>
                <a:cs typeface="Cambria" pitchFamily="34" charset="-120"/>
              </a:rPr>
              <a:t>Choroidal Neovascularization</a:t>
            </a:r>
            <a:endParaRPr lang="en-US" sz="1450" dirty="0"/>
          </a:p>
        </p:txBody>
      </p:sp>
      <p:sp>
        <p:nvSpPr>
          <p:cNvPr id="9" name="Text 7"/>
          <p:cNvSpPr/>
          <p:nvPr/>
        </p:nvSpPr>
        <p:spPr>
          <a:xfrm>
            <a:off x="740664" y="2862072"/>
            <a:ext cx="2863578" cy="786384"/>
          </a:xfrm>
          <a:prstGeom prst="rect">
            <a:avLst/>
          </a:prstGeom>
          <a:noFill/>
          <a:ln/>
        </p:spPr>
        <p:txBody>
          <a:bodyPr wrap="square" lIns="0" tIns="0" rIns="0" bIns="0" rtlCol="0" anchor="t"/>
          <a:lstStyle/>
          <a:p>
            <a:pPr marL="0" indent="0">
              <a:lnSpc>
                <a:spcPct val="126000"/>
              </a:lnSpc>
              <a:buNone/>
            </a:pPr>
            <a:r>
              <a:rPr lang="en-US" sz="1080" dirty="0">
                <a:solidFill>
                  <a:srgbClr val="5B6B7C"/>
                </a:solidFill>
                <a:latin typeface="Calibri" pitchFamily="34" charset="0"/>
                <a:ea typeface="Calibri" pitchFamily="34" charset="-122"/>
                <a:cs typeface="Calibri" pitchFamily="34" charset="-120"/>
              </a:rPr>
              <a:t>Abnormal vessel growth under the retina — associated with wet AMD. Can leak fluid, causing rapid central vision loss.</a:t>
            </a:r>
            <a:endParaRPr lang="en-US" sz="1080" dirty="0"/>
          </a:p>
        </p:txBody>
      </p:sp>
      <p:sp>
        <p:nvSpPr>
          <p:cNvPr id="10" name="Shape 8"/>
          <p:cNvSpPr/>
          <p:nvPr/>
        </p:nvSpPr>
        <p:spPr>
          <a:xfrm>
            <a:off x="4043154" y="1691640"/>
            <a:ext cx="3339066" cy="2139696"/>
          </a:xfrm>
          <a:prstGeom prst="roundRect">
            <a:avLst>
              <a:gd name="adj" fmla="val 384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1" name="Shape 9"/>
          <p:cNvSpPr/>
          <p:nvPr/>
        </p:nvSpPr>
        <p:spPr>
          <a:xfrm>
            <a:off x="4280898" y="1911096"/>
            <a:ext cx="877824" cy="310896"/>
          </a:xfrm>
          <a:prstGeom prst="roundRect">
            <a:avLst>
              <a:gd name="adj" fmla="val 50000"/>
            </a:avLst>
          </a:prstGeom>
          <a:solidFill>
            <a:srgbClr val="2F9E63"/>
          </a:solidFill>
          <a:ln/>
        </p:spPr>
        <p:txBody>
          <a:bodyPr/>
          <a:lstStyle/>
          <a:p>
            <a:endParaRPr lang="en-US"/>
          </a:p>
        </p:txBody>
      </p:sp>
      <p:sp>
        <p:nvSpPr>
          <p:cNvPr id="12" name="Text 10"/>
          <p:cNvSpPr/>
          <p:nvPr/>
        </p:nvSpPr>
        <p:spPr>
          <a:xfrm>
            <a:off x="4280898" y="1911096"/>
            <a:ext cx="877824"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DRUSEN</a:t>
            </a:r>
            <a:endParaRPr lang="en-US" sz="1050" dirty="0"/>
          </a:p>
        </p:txBody>
      </p:sp>
      <p:sp>
        <p:nvSpPr>
          <p:cNvPr id="13" name="Text 11"/>
          <p:cNvSpPr/>
          <p:nvPr/>
        </p:nvSpPr>
        <p:spPr>
          <a:xfrm>
            <a:off x="4280898" y="2313432"/>
            <a:ext cx="2863578" cy="502920"/>
          </a:xfrm>
          <a:prstGeom prst="rect">
            <a:avLst/>
          </a:prstGeom>
          <a:noFill/>
          <a:ln/>
        </p:spPr>
        <p:txBody>
          <a:bodyPr wrap="square" lIns="0" tIns="0" rIns="0" bIns="0" rtlCol="0" anchor="t"/>
          <a:lstStyle/>
          <a:p>
            <a:pPr marL="0" indent="0">
              <a:lnSpc>
                <a:spcPct val="105000"/>
              </a:lnSpc>
              <a:buNone/>
            </a:pPr>
            <a:r>
              <a:rPr lang="en-US" sz="1450" b="1" dirty="0">
                <a:solidFill>
                  <a:srgbClr val="16324F"/>
                </a:solidFill>
                <a:latin typeface="Cambria" pitchFamily="34" charset="0"/>
                <a:ea typeface="Cambria" pitchFamily="34" charset="-122"/>
                <a:cs typeface="Cambria" pitchFamily="34" charset="-120"/>
              </a:rPr>
              <a:t>Drusen Deposits</a:t>
            </a:r>
            <a:endParaRPr lang="en-US" sz="1450" dirty="0"/>
          </a:p>
        </p:txBody>
      </p:sp>
      <p:sp>
        <p:nvSpPr>
          <p:cNvPr id="14" name="Text 12"/>
          <p:cNvSpPr/>
          <p:nvPr/>
        </p:nvSpPr>
        <p:spPr>
          <a:xfrm>
            <a:off x="4280898" y="2862072"/>
            <a:ext cx="2863578" cy="786384"/>
          </a:xfrm>
          <a:prstGeom prst="rect">
            <a:avLst/>
          </a:prstGeom>
          <a:noFill/>
          <a:ln/>
        </p:spPr>
        <p:txBody>
          <a:bodyPr wrap="square" lIns="0" tIns="0" rIns="0" bIns="0" rtlCol="0" anchor="t"/>
          <a:lstStyle/>
          <a:p>
            <a:pPr marL="0" indent="0">
              <a:lnSpc>
                <a:spcPct val="126000"/>
              </a:lnSpc>
              <a:buNone/>
            </a:pPr>
            <a:r>
              <a:rPr lang="en-US" sz="1080" dirty="0">
                <a:solidFill>
                  <a:srgbClr val="5B6B7C"/>
                </a:solidFill>
                <a:latin typeface="Calibri" pitchFamily="34" charset="0"/>
                <a:ea typeface="Calibri" pitchFamily="34" charset="-122"/>
                <a:cs typeface="Calibri" pitchFamily="34" charset="-120"/>
              </a:rPr>
              <a:t>Lipid deposits under the retina associated with AMD risk and retinal aging. A key early warning marker.</a:t>
            </a:r>
            <a:endParaRPr lang="en-US" sz="1080" dirty="0"/>
          </a:p>
        </p:txBody>
      </p:sp>
      <p:sp>
        <p:nvSpPr>
          <p:cNvPr id="15" name="Shape 13"/>
          <p:cNvSpPr/>
          <p:nvPr/>
        </p:nvSpPr>
        <p:spPr>
          <a:xfrm>
            <a:off x="502920" y="4032504"/>
            <a:ext cx="3339066" cy="2139696"/>
          </a:xfrm>
          <a:prstGeom prst="roundRect">
            <a:avLst>
              <a:gd name="adj" fmla="val 384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6" name="Shape 14"/>
          <p:cNvSpPr/>
          <p:nvPr/>
        </p:nvSpPr>
        <p:spPr>
          <a:xfrm>
            <a:off x="740664" y="4251960"/>
            <a:ext cx="576072" cy="310896"/>
          </a:xfrm>
          <a:prstGeom prst="roundRect">
            <a:avLst>
              <a:gd name="adj" fmla="val 50000"/>
            </a:avLst>
          </a:prstGeom>
          <a:solidFill>
            <a:srgbClr val="DE9A2A"/>
          </a:solidFill>
          <a:ln/>
        </p:spPr>
        <p:txBody>
          <a:bodyPr/>
          <a:lstStyle/>
          <a:p>
            <a:endParaRPr lang="en-US"/>
          </a:p>
        </p:txBody>
      </p:sp>
      <p:sp>
        <p:nvSpPr>
          <p:cNvPr id="17" name="Text 15"/>
          <p:cNvSpPr/>
          <p:nvPr/>
        </p:nvSpPr>
        <p:spPr>
          <a:xfrm>
            <a:off x="740664" y="4251960"/>
            <a:ext cx="576072"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DME</a:t>
            </a:r>
            <a:endParaRPr lang="en-US" sz="1050" dirty="0"/>
          </a:p>
        </p:txBody>
      </p:sp>
      <p:sp>
        <p:nvSpPr>
          <p:cNvPr id="18" name="Text 16"/>
          <p:cNvSpPr/>
          <p:nvPr/>
        </p:nvSpPr>
        <p:spPr>
          <a:xfrm>
            <a:off x="740664" y="4654296"/>
            <a:ext cx="2863578" cy="502920"/>
          </a:xfrm>
          <a:prstGeom prst="rect">
            <a:avLst/>
          </a:prstGeom>
          <a:noFill/>
          <a:ln/>
        </p:spPr>
        <p:txBody>
          <a:bodyPr wrap="square" lIns="0" tIns="0" rIns="0" bIns="0" rtlCol="0" anchor="t"/>
          <a:lstStyle/>
          <a:p>
            <a:pPr marL="0" indent="0">
              <a:lnSpc>
                <a:spcPct val="105000"/>
              </a:lnSpc>
              <a:buNone/>
            </a:pPr>
            <a:r>
              <a:rPr lang="en-US" sz="1450" b="1" dirty="0">
                <a:solidFill>
                  <a:srgbClr val="16324F"/>
                </a:solidFill>
                <a:latin typeface="Cambria" pitchFamily="34" charset="0"/>
                <a:ea typeface="Cambria" pitchFamily="34" charset="-122"/>
                <a:cs typeface="Cambria" pitchFamily="34" charset="-120"/>
              </a:rPr>
              <a:t>Diabetic Macular Edema</a:t>
            </a:r>
            <a:endParaRPr lang="en-US" sz="1450" dirty="0"/>
          </a:p>
        </p:txBody>
      </p:sp>
      <p:sp>
        <p:nvSpPr>
          <p:cNvPr id="19" name="Text 17"/>
          <p:cNvSpPr/>
          <p:nvPr/>
        </p:nvSpPr>
        <p:spPr>
          <a:xfrm>
            <a:off x="740664" y="5202936"/>
            <a:ext cx="2863578" cy="786384"/>
          </a:xfrm>
          <a:prstGeom prst="rect">
            <a:avLst/>
          </a:prstGeom>
          <a:noFill/>
          <a:ln/>
        </p:spPr>
        <p:txBody>
          <a:bodyPr wrap="square" lIns="0" tIns="0" rIns="0" bIns="0" rtlCol="0" anchor="t"/>
          <a:lstStyle/>
          <a:p>
            <a:pPr marL="0" indent="0">
              <a:lnSpc>
                <a:spcPct val="126000"/>
              </a:lnSpc>
              <a:buNone/>
            </a:pPr>
            <a:r>
              <a:rPr lang="en-US" sz="1080" dirty="0">
                <a:solidFill>
                  <a:srgbClr val="5B6B7C"/>
                </a:solidFill>
                <a:latin typeface="Calibri" pitchFamily="34" charset="0"/>
                <a:ea typeface="Calibri" pitchFamily="34" charset="-122"/>
                <a:cs typeface="Calibri" pitchFamily="34" charset="-120"/>
              </a:rPr>
              <a:t>Fluid leakage in the macula from diabetic complications. Directly threatens central vision if unmanaged.</a:t>
            </a:r>
            <a:endParaRPr lang="en-US" sz="1080" dirty="0"/>
          </a:p>
        </p:txBody>
      </p:sp>
      <p:sp>
        <p:nvSpPr>
          <p:cNvPr id="20" name="Shape 18"/>
          <p:cNvSpPr/>
          <p:nvPr/>
        </p:nvSpPr>
        <p:spPr>
          <a:xfrm>
            <a:off x="4043154" y="4032504"/>
            <a:ext cx="3339066" cy="2139696"/>
          </a:xfrm>
          <a:prstGeom prst="roundRect">
            <a:avLst>
              <a:gd name="adj" fmla="val 384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1" name="Shape 19"/>
          <p:cNvSpPr/>
          <p:nvPr/>
        </p:nvSpPr>
        <p:spPr>
          <a:xfrm>
            <a:off x="4280898" y="4251960"/>
            <a:ext cx="877824" cy="310896"/>
          </a:xfrm>
          <a:prstGeom prst="roundRect">
            <a:avLst>
              <a:gd name="adj" fmla="val 50000"/>
            </a:avLst>
          </a:prstGeom>
          <a:solidFill>
            <a:srgbClr val="3572C9"/>
          </a:solidFill>
          <a:ln/>
        </p:spPr>
        <p:txBody>
          <a:bodyPr/>
          <a:lstStyle/>
          <a:p>
            <a:endParaRPr lang="en-US"/>
          </a:p>
        </p:txBody>
      </p:sp>
      <p:sp>
        <p:nvSpPr>
          <p:cNvPr id="22" name="Text 20"/>
          <p:cNvSpPr/>
          <p:nvPr/>
        </p:nvSpPr>
        <p:spPr>
          <a:xfrm>
            <a:off x="4280898" y="4251960"/>
            <a:ext cx="877824"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NORMAL</a:t>
            </a:r>
            <a:endParaRPr lang="en-US" sz="1050" dirty="0"/>
          </a:p>
        </p:txBody>
      </p:sp>
      <p:sp>
        <p:nvSpPr>
          <p:cNvPr id="23" name="Text 21"/>
          <p:cNvSpPr/>
          <p:nvPr/>
        </p:nvSpPr>
        <p:spPr>
          <a:xfrm>
            <a:off x="4280898" y="4654296"/>
            <a:ext cx="2863578" cy="502920"/>
          </a:xfrm>
          <a:prstGeom prst="rect">
            <a:avLst/>
          </a:prstGeom>
          <a:noFill/>
          <a:ln/>
        </p:spPr>
        <p:txBody>
          <a:bodyPr wrap="square" lIns="0" tIns="0" rIns="0" bIns="0" rtlCol="0" anchor="t"/>
          <a:lstStyle/>
          <a:p>
            <a:pPr marL="0" indent="0">
              <a:lnSpc>
                <a:spcPct val="105000"/>
              </a:lnSpc>
              <a:buNone/>
            </a:pPr>
            <a:r>
              <a:rPr lang="en-US" sz="1450" b="1" dirty="0">
                <a:solidFill>
                  <a:srgbClr val="16324F"/>
                </a:solidFill>
                <a:latin typeface="Cambria" pitchFamily="34" charset="0"/>
                <a:ea typeface="Cambria" pitchFamily="34" charset="-122"/>
                <a:cs typeface="Cambria" pitchFamily="34" charset="-120"/>
              </a:rPr>
              <a:t>Normal OCT</a:t>
            </a:r>
            <a:endParaRPr lang="en-US" sz="1450" dirty="0"/>
          </a:p>
        </p:txBody>
      </p:sp>
      <p:sp>
        <p:nvSpPr>
          <p:cNvPr id="24" name="Text 22"/>
          <p:cNvSpPr/>
          <p:nvPr/>
        </p:nvSpPr>
        <p:spPr>
          <a:xfrm>
            <a:off x="4280898" y="5202936"/>
            <a:ext cx="2863578" cy="786384"/>
          </a:xfrm>
          <a:prstGeom prst="rect">
            <a:avLst/>
          </a:prstGeom>
          <a:noFill/>
          <a:ln/>
        </p:spPr>
        <p:txBody>
          <a:bodyPr wrap="square" lIns="0" tIns="0" rIns="0" bIns="0" rtlCol="0" anchor="t"/>
          <a:lstStyle/>
          <a:p>
            <a:pPr marL="0" indent="0">
              <a:lnSpc>
                <a:spcPct val="126000"/>
              </a:lnSpc>
              <a:buNone/>
            </a:pPr>
            <a:r>
              <a:rPr lang="en-US" sz="1080" dirty="0">
                <a:solidFill>
                  <a:srgbClr val="5B6B7C"/>
                </a:solidFill>
                <a:latin typeface="Calibri" pitchFamily="34" charset="0"/>
                <a:ea typeface="Calibri" pitchFamily="34" charset="-122"/>
                <a:cs typeface="Calibri" pitchFamily="34" charset="-120"/>
              </a:rPr>
              <a:t>No major pathological pattern identified within the trained classification scope.</a:t>
            </a:r>
            <a:endParaRPr lang="en-US" sz="1080" dirty="0"/>
          </a:p>
        </p:txBody>
      </p:sp>
      <p:sp>
        <p:nvSpPr>
          <p:cNvPr id="25" name="Shape 23"/>
          <p:cNvSpPr/>
          <p:nvPr/>
        </p:nvSpPr>
        <p:spPr>
          <a:xfrm>
            <a:off x="7674829" y="1691640"/>
            <a:ext cx="4013946" cy="1971446"/>
          </a:xfrm>
          <a:prstGeom prst="roundRect">
            <a:avLst>
              <a:gd name="adj" fmla="val 4638"/>
            </a:avLst>
          </a:prstGeom>
          <a:solidFill>
            <a:srgbClr val="16324F"/>
          </a:solidFill>
          <a:ln/>
        </p:spPr>
        <p:txBody>
          <a:bodyPr/>
          <a:lstStyle/>
          <a:p>
            <a:endParaRPr lang="en-US"/>
          </a:p>
        </p:txBody>
      </p:sp>
      <p:sp>
        <p:nvSpPr>
          <p:cNvPr id="26" name="Shape 24"/>
          <p:cNvSpPr/>
          <p:nvPr/>
        </p:nvSpPr>
        <p:spPr>
          <a:xfrm>
            <a:off x="10957255" y="1920240"/>
            <a:ext cx="548640" cy="548640"/>
          </a:xfrm>
          <a:prstGeom prst="ellipse">
            <a:avLst/>
          </a:prstGeom>
          <a:ln w="13970">
            <a:solidFill>
              <a:srgbClr val="18A99B">
                <a:alpha val="16000"/>
              </a:srgbClr>
            </a:solidFill>
            <a:prstDash val="solid"/>
          </a:ln>
        </p:spPr>
        <p:txBody>
          <a:bodyPr/>
          <a:lstStyle/>
          <a:p>
            <a:endParaRPr lang="en-US"/>
          </a:p>
        </p:txBody>
      </p:sp>
      <p:sp>
        <p:nvSpPr>
          <p:cNvPr id="27" name="Shape 25"/>
          <p:cNvSpPr/>
          <p:nvPr/>
        </p:nvSpPr>
        <p:spPr>
          <a:xfrm>
            <a:off x="10682935" y="1645920"/>
            <a:ext cx="1097280" cy="1097280"/>
          </a:xfrm>
          <a:prstGeom prst="ellipse">
            <a:avLst/>
          </a:prstGeom>
          <a:ln w="13970">
            <a:solidFill>
              <a:srgbClr val="18A99B">
                <a:alpha val="16000"/>
              </a:srgbClr>
            </a:solidFill>
            <a:prstDash val="solid"/>
          </a:ln>
        </p:spPr>
        <p:txBody>
          <a:bodyPr/>
          <a:lstStyle/>
          <a:p>
            <a:endParaRPr lang="en-US"/>
          </a:p>
        </p:txBody>
      </p:sp>
      <p:sp>
        <p:nvSpPr>
          <p:cNvPr id="28" name="Shape 26"/>
          <p:cNvSpPr/>
          <p:nvPr/>
        </p:nvSpPr>
        <p:spPr>
          <a:xfrm>
            <a:off x="10408615" y="1371600"/>
            <a:ext cx="1645920" cy="1645920"/>
          </a:xfrm>
          <a:prstGeom prst="ellipse">
            <a:avLst/>
          </a:prstGeom>
          <a:ln w="13970">
            <a:solidFill>
              <a:srgbClr val="18A99B">
                <a:alpha val="16000"/>
              </a:srgbClr>
            </a:solidFill>
            <a:prstDash val="solid"/>
          </a:ln>
        </p:spPr>
        <p:txBody>
          <a:bodyPr/>
          <a:lstStyle/>
          <a:p>
            <a:endParaRPr lang="en-US"/>
          </a:p>
        </p:txBody>
      </p:sp>
      <p:sp>
        <p:nvSpPr>
          <p:cNvPr id="29" name="Text 27"/>
          <p:cNvSpPr/>
          <p:nvPr/>
        </p:nvSpPr>
        <p:spPr>
          <a:xfrm>
            <a:off x="7674829" y="1947672"/>
            <a:ext cx="4013946" cy="777240"/>
          </a:xfrm>
          <a:prstGeom prst="rect">
            <a:avLst/>
          </a:prstGeom>
          <a:noFill/>
          <a:ln/>
        </p:spPr>
        <p:txBody>
          <a:bodyPr wrap="square" lIns="0" tIns="0" rIns="0" bIns="0" rtlCol="0" anchor="ctr"/>
          <a:lstStyle/>
          <a:p>
            <a:pPr marL="0" indent="0" algn="ctr">
              <a:buNone/>
            </a:pPr>
            <a:r>
              <a:rPr lang="en-US" sz="4200" b="1" dirty="0">
                <a:solidFill>
                  <a:srgbClr val="18A99B"/>
                </a:solidFill>
                <a:latin typeface="Cambria" pitchFamily="34" charset="0"/>
                <a:ea typeface="Cambria" pitchFamily="34" charset="-122"/>
                <a:cs typeface="Cambria" pitchFamily="34" charset="-120"/>
              </a:rPr>
              <a:t>~97%</a:t>
            </a:r>
            <a:endParaRPr lang="en-US" sz="4200" dirty="0"/>
          </a:p>
        </p:txBody>
      </p:sp>
      <p:sp>
        <p:nvSpPr>
          <p:cNvPr id="30" name="Text 28"/>
          <p:cNvSpPr/>
          <p:nvPr/>
        </p:nvSpPr>
        <p:spPr>
          <a:xfrm>
            <a:off x="7857709" y="2949854"/>
            <a:ext cx="364818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Classification Accuracy</a:t>
            </a:r>
            <a:endParaRPr lang="en-US" sz="1300" dirty="0"/>
          </a:p>
        </p:txBody>
      </p:sp>
      <p:sp>
        <p:nvSpPr>
          <p:cNvPr id="31" name="Text 29"/>
          <p:cNvSpPr/>
          <p:nvPr/>
        </p:nvSpPr>
        <p:spPr>
          <a:xfrm>
            <a:off x="7857709" y="3260750"/>
            <a:ext cx="3648186" cy="274320"/>
          </a:xfrm>
          <a:prstGeom prst="rect">
            <a:avLst/>
          </a:prstGeom>
          <a:noFill/>
          <a:ln/>
        </p:spPr>
        <p:txBody>
          <a:bodyPr wrap="square" lIns="0" tIns="0" rIns="0" bIns="0" rtlCol="0" anchor="ctr"/>
          <a:lstStyle/>
          <a:p>
            <a:pPr marL="0" indent="0" algn="ctr">
              <a:buNone/>
            </a:pPr>
            <a:r>
              <a:rPr lang="en-US" sz="1000" i="1" dirty="0">
                <a:solidFill>
                  <a:srgbClr val="9DB4CE"/>
                </a:solidFill>
                <a:latin typeface="Calibri" pitchFamily="34" charset="0"/>
                <a:ea typeface="Calibri" pitchFamily="34" charset="-122"/>
                <a:cs typeface="Calibri" pitchFamily="34" charset="-120"/>
              </a:rPr>
              <a:t>(internal evaluation)</a:t>
            </a:r>
            <a:endParaRPr lang="en-US" sz="1000" dirty="0"/>
          </a:p>
        </p:txBody>
      </p:sp>
      <p:sp>
        <p:nvSpPr>
          <p:cNvPr id="32" name="Shape 30"/>
          <p:cNvSpPr/>
          <p:nvPr/>
        </p:nvSpPr>
        <p:spPr>
          <a:xfrm>
            <a:off x="7674829" y="3864254"/>
            <a:ext cx="4013946" cy="2307946"/>
          </a:xfrm>
          <a:prstGeom prst="roundRect">
            <a:avLst>
              <a:gd name="adj" fmla="val 3566"/>
            </a:avLst>
          </a:prstGeom>
          <a:solidFill>
            <a:srgbClr val="E7F4F0"/>
          </a:solidFill>
          <a:ln w="12700">
            <a:solidFill>
              <a:srgbClr val="E7F4F0"/>
            </a:solidFill>
            <a:prstDash val="solid"/>
          </a:ln>
        </p:spPr>
        <p:txBody>
          <a:bodyPr/>
          <a:lstStyle/>
          <a:p>
            <a:endParaRPr lang="en-US"/>
          </a:p>
        </p:txBody>
      </p:sp>
      <p:sp>
        <p:nvSpPr>
          <p:cNvPr id="33" name="Shape 31"/>
          <p:cNvSpPr/>
          <p:nvPr/>
        </p:nvSpPr>
        <p:spPr>
          <a:xfrm>
            <a:off x="7894285" y="4083710"/>
            <a:ext cx="457200" cy="457200"/>
          </a:xfrm>
          <a:prstGeom prst="ellipse">
            <a:avLst/>
          </a:prstGeom>
          <a:solidFill>
            <a:srgbClr val="0B7F7B"/>
          </a:solidFill>
          <a:ln/>
        </p:spPr>
        <p:txBody>
          <a:bodyPr/>
          <a:lstStyle/>
          <a:p>
            <a:endParaRPr lang="en-US"/>
          </a:p>
        </p:txBody>
      </p:sp>
      <p:pic>
        <p:nvPicPr>
          <p:cNvPr id="34" name="Image 0" descr="/home/claude/work/assets/icons/scan-eye-white.png"/>
          <p:cNvPicPr>
            <a:picLocks noChangeAspect="1"/>
          </p:cNvPicPr>
          <p:nvPr/>
        </p:nvPicPr>
        <p:blipFill>
          <a:blip r:embed="rId3"/>
          <a:stretch>
            <a:fillRect/>
          </a:stretch>
        </p:blipFill>
        <p:spPr>
          <a:xfrm>
            <a:off x="8004013" y="4193438"/>
            <a:ext cx="237744" cy="237744"/>
          </a:xfrm>
          <a:prstGeom prst="rect">
            <a:avLst/>
          </a:prstGeom>
        </p:spPr>
      </p:pic>
      <p:sp>
        <p:nvSpPr>
          <p:cNvPr id="35" name="Text 32"/>
          <p:cNvSpPr/>
          <p:nvPr/>
        </p:nvSpPr>
        <p:spPr>
          <a:xfrm>
            <a:off x="7894285" y="4650638"/>
            <a:ext cx="3575034" cy="329184"/>
          </a:xfrm>
          <a:prstGeom prst="rect">
            <a:avLst/>
          </a:prstGeom>
          <a:noFill/>
          <a:ln/>
        </p:spPr>
        <p:txBody>
          <a:bodyPr wrap="square" lIns="0" tIns="0" rIns="0" bIns="0" rtlCol="0" anchor="ctr"/>
          <a:lstStyle/>
          <a:p>
            <a:pPr marL="0" indent="0">
              <a:buNone/>
            </a:pPr>
            <a:r>
              <a:rPr lang="en-US" sz="1500" b="1" dirty="0">
                <a:solidFill>
                  <a:srgbClr val="0B7F7B"/>
                </a:solidFill>
                <a:latin typeface="Cambria" pitchFamily="34" charset="0"/>
                <a:ea typeface="Cambria" pitchFamily="34" charset="-122"/>
                <a:cs typeface="Cambria" pitchFamily="34" charset="-120"/>
              </a:rPr>
              <a:t>+ Grad-CAM</a:t>
            </a:r>
            <a:endParaRPr lang="en-US" sz="1500" dirty="0"/>
          </a:p>
        </p:txBody>
      </p:sp>
      <p:sp>
        <p:nvSpPr>
          <p:cNvPr id="36" name="Text 33"/>
          <p:cNvSpPr/>
          <p:nvPr/>
        </p:nvSpPr>
        <p:spPr>
          <a:xfrm>
            <a:off x="7894285" y="5016398"/>
            <a:ext cx="3575034" cy="972922"/>
          </a:xfrm>
          <a:prstGeom prst="rect">
            <a:avLst/>
          </a:prstGeom>
          <a:noFill/>
          <a:ln/>
        </p:spPr>
        <p:txBody>
          <a:bodyPr wrap="square" lIns="0" tIns="0" rIns="0" bIns="0" rtlCol="0" anchor="t"/>
          <a:lstStyle/>
          <a:p>
            <a:pPr marL="0" indent="0">
              <a:lnSpc>
                <a:spcPct val="128000"/>
              </a:lnSpc>
              <a:buNone/>
            </a:pPr>
            <a:r>
              <a:rPr lang="en-US" sz="1080" dirty="0">
                <a:solidFill>
                  <a:srgbClr val="2E5750"/>
                </a:solidFill>
                <a:latin typeface="Calibri" pitchFamily="34" charset="0"/>
                <a:ea typeface="Calibri" pitchFamily="34" charset="-122"/>
                <a:cs typeface="Calibri" pitchFamily="34" charset="-120"/>
              </a:rPr>
              <a:t>Every prediction comes with a visual heatmap showing which region of the OCT scan influenced the result. The doctor checks the highlighted area — not a black-box label.</a:t>
            </a:r>
            <a:endParaRPr lang="en-US" sz="1080" dirty="0"/>
          </a:p>
        </p:txBody>
      </p:sp>
      <p:sp>
        <p:nvSpPr>
          <p:cNvPr id="37" name="Text 34"/>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38" name="Text 35"/>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04</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RETINAL SCREENING</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400" b="1" dirty="0">
                <a:solidFill>
                  <a:srgbClr val="16324F"/>
                </a:solidFill>
                <a:latin typeface="Cambria" pitchFamily="34" charset="0"/>
                <a:ea typeface="Cambria" pitchFamily="34" charset="-122"/>
                <a:cs typeface="Cambria" pitchFamily="34" charset="-120"/>
              </a:rPr>
              <a:t>Three high-impact conditions. One fundus photograph.</a:t>
            </a:r>
            <a:endParaRPr lang="en-US" sz="2400" dirty="0"/>
          </a:p>
        </p:txBody>
      </p:sp>
      <p:sp>
        <p:nvSpPr>
          <p:cNvPr id="5" name="Shape 3"/>
          <p:cNvSpPr/>
          <p:nvPr/>
        </p:nvSpPr>
        <p:spPr>
          <a:xfrm>
            <a:off x="502920" y="1627632"/>
            <a:ext cx="2193280" cy="384048"/>
          </a:xfrm>
          <a:prstGeom prst="roundRect">
            <a:avLst>
              <a:gd name="adj" fmla="val 14286"/>
            </a:avLst>
          </a:prstGeom>
          <a:solidFill>
            <a:srgbClr val="2F9E63"/>
          </a:solidFill>
          <a:ln/>
        </p:spPr>
        <p:txBody>
          <a:bodyPr/>
          <a:lstStyle/>
          <a:p>
            <a:endParaRPr lang="en-US"/>
          </a:p>
        </p:txBody>
      </p:sp>
      <p:sp>
        <p:nvSpPr>
          <p:cNvPr id="6" name="Text 4"/>
          <p:cNvSpPr/>
          <p:nvPr/>
        </p:nvSpPr>
        <p:spPr>
          <a:xfrm>
            <a:off x="502920" y="1627632"/>
            <a:ext cx="2193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DR</a:t>
            </a:r>
            <a:endParaRPr lang="en-US" sz="1100" dirty="0"/>
          </a:p>
        </p:txBody>
      </p:sp>
      <p:sp>
        <p:nvSpPr>
          <p:cNvPr id="7" name="Shape 5"/>
          <p:cNvSpPr/>
          <p:nvPr/>
        </p:nvSpPr>
        <p:spPr>
          <a:xfrm>
            <a:off x="2751064" y="1627632"/>
            <a:ext cx="2193280" cy="384048"/>
          </a:xfrm>
          <a:prstGeom prst="roundRect">
            <a:avLst>
              <a:gd name="adj" fmla="val 14286"/>
            </a:avLst>
          </a:prstGeom>
          <a:solidFill>
            <a:srgbClr val="86B93B"/>
          </a:solidFill>
          <a:ln/>
        </p:spPr>
        <p:txBody>
          <a:bodyPr/>
          <a:lstStyle/>
          <a:p>
            <a:endParaRPr lang="en-US"/>
          </a:p>
        </p:txBody>
      </p:sp>
      <p:sp>
        <p:nvSpPr>
          <p:cNvPr id="8" name="Text 6"/>
          <p:cNvSpPr/>
          <p:nvPr/>
        </p:nvSpPr>
        <p:spPr>
          <a:xfrm>
            <a:off x="2751064" y="1627632"/>
            <a:ext cx="2193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Mild</a:t>
            </a:r>
            <a:endParaRPr lang="en-US" sz="1100" dirty="0"/>
          </a:p>
        </p:txBody>
      </p:sp>
      <p:sp>
        <p:nvSpPr>
          <p:cNvPr id="9" name="Shape 7"/>
          <p:cNvSpPr/>
          <p:nvPr/>
        </p:nvSpPr>
        <p:spPr>
          <a:xfrm>
            <a:off x="4999208" y="1627632"/>
            <a:ext cx="2193280" cy="384048"/>
          </a:xfrm>
          <a:prstGeom prst="roundRect">
            <a:avLst>
              <a:gd name="adj" fmla="val 14286"/>
            </a:avLst>
          </a:prstGeom>
          <a:solidFill>
            <a:srgbClr val="DE9A2A"/>
          </a:solidFill>
          <a:ln/>
        </p:spPr>
        <p:txBody>
          <a:bodyPr/>
          <a:lstStyle/>
          <a:p>
            <a:endParaRPr lang="en-US"/>
          </a:p>
        </p:txBody>
      </p:sp>
      <p:sp>
        <p:nvSpPr>
          <p:cNvPr id="10" name="Text 8"/>
          <p:cNvSpPr/>
          <p:nvPr/>
        </p:nvSpPr>
        <p:spPr>
          <a:xfrm>
            <a:off x="4999208" y="1627632"/>
            <a:ext cx="2193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p>
        </p:txBody>
      </p:sp>
      <p:sp>
        <p:nvSpPr>
          <p:cNvPr id="11" name="Shape 9"/>
          <p:cNvSpPr/>
          <p:nvPr/>
        </p:nvSpPr>
        <p:spPr>
          <a:xfrm>
            <a:off x="7247352" y="1627632"/>
            <a:ext cx="2193280" cy="384048"/>
          </a:xfrm>
          <a:prstGeom prst="roundRect">
            <a:avLst>
              <a:gd name="adj" fmla="val 14286"/>
            </a:avLst>
          </a:prstGeom>
          <a:solidFill>
            <a:srgbClr val="D9682F"/>
          </a:solidFill>
          <a:ln/>
        </p:spPr>
        <p:txBody>
          <a:bodyPr/>
          <a:lstStyle/>
          <a:p>
            <a:endParaRPr lang="en-US"/>
          </a:p>
        </p:txBody>
      </p:sp>
      <p:sp>
        <p:nvSpPr>
          <p:cNvPr id="12" name="Text 10"/>
          <p:cNvSpPr/>
          <p:nvPr/>
        </p:nvSpPr>
        <p:spPr>
          <a:xfrm>
            <a:off x="7247352" y="1627632"/>
            <a:ext cx="2193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Severe</a:t>
            </a:r>
            <a:endParaRPr lang="en-US" sz="1100" dirty="0"/>
          </a:p>
        </p:txBody>
      </p:sp>
      <p:sp>
        <p:nvSpPr>
          <p:cNvPr id="13" name="Shape 11"/>
          <p:cNvSpPr/>
          <p:nvPr/>
        </p:nvSpPr>
        <p:spPr>
          <a:xfrm>
            <a:off x="9495495" y="1627632"/>
            <a:ext cx="2193280" cy="384048"/>
          </a:xfrm>
          <a:prstGeom prst="roundRect">
            <a:avLst>
              <a:gd name="adj" fmla="val 14286"/>
            </a:avLst>
          </a:prstGeom>
          <a:solidFill>
            <a:srgbClr val="C0392B"/>
          </a:solidFill>
          <a:ln/>
        </p:spPr>
        <p:txBody>
          <a:bodyPr/>
          <a:lstStyle/>
          <a:p>
            <a:endParaRPr lang="en-US"/>
          </a:p>
        </p:txBody>
      </p:sp>
      <p:sp>
        <p:nvSpPr>
          <p:cNvPr id="14" name="Text 12"/>
          <p:cNvSpPr/>
          <p:nvPr/>
        </p:nvSpPr>
        <p:spPr>
          <a:xfrm>
            <a:off x="9495495" y="1627632"/>
            <a:ext cx="2193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Proliferative</a:t>
            </a:r>
            <a:endParaRPr lang="en-US" sz="1100" dirty="0"/>
          </a:p>
        </p:txBody>
      </p:sp>
      <p:sp>
        <p:nvSpPr>
          <p:cNvPr id="15" name="Text 13"/>
          <p:cNvSpPr/>
          <p:nvPr/>
        </p:nvSpPr>
        <p:spPr>
          <a:xfrm>
            <a:off x="502920" y="2066544"/>
            <a:ext cx="11185855" cy="219456"/>
          </a:xfrm>
          <a:prstGeom prst="rect">
            <a:avLst/>
          </a:prstGeom>
          <a:noFill/>
          <a:ln/>
        </p:spPr>
        <p:txBody>
          <a:bodyPr wrap="square" lIns="0" tIns="0" rIns="0" bIns="0" rtlCol="0" anchor="ctr"/>
          <a:lstStyle/>
          <a:p>
            <a:pPr marL="0" indent="0" algn="ctr">
              <a:buNone/>
            </a:pPr>
            <a:r>
              <a:rPr lang="en-US" sz="900" b="1" kern="0" spc="140" dirty="0">
                <a:solidFill>
                  <a:srgbClr val="8B98A6"/>
                </a:solidFill>
                <a:latin typeface="Calibri" pitchFamily="34" charset="0"/>
                <a:ea typeface="Calibri" pitchFamily="34" charset="-122"/>
                <a:cs typeface="Calibri" pitchFamily="34" charset="-120"/>
              </a:rPr>
              <a:t>DIABETIC RETINOPATHY SEVERITY SPECTRUM</a:t>
            </a:r>
            <a:endParaRPr lang="en-US" sz="900" dirty="0"/>
          </a:p>
        </p:txBody>
      </p:sp>
      <p:sp>
        <p:nvSpPr>
          <p:cNvPr id="16" name="Shape 14"/>
          <p:cNvSpPr/>
          <p:nvPr/>
        </p:nvSpPr>
        <p:spPr>
          <a:xfrm>
            <a:off x="502920" y="2395728"/>
            <a:ext cx="3545738" cy="3776472"/>
          </a:xfrm>
          <a:prstGeom prst="roundRect">
            <a:avLst>
              <a:gd name="adj" fmla="val 2321"/>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7" name="Shape 15"/>
          <p:cNvSpPr/>
          <p:nvPr/>
        </p:nvSpPr>
        <p:spPr>
          <a:xfrm>
            <a:off x="740664" y="2633472"/>
            <a:ext cx="475488" cy="475488"/>
          </a:xfrm>
          <a:prstGeom prst="ellipse">
            <a:avLst/>
          </a:prstGeom>
          <a:solidFill>
            <a:srgbClr val="16324F"/>
          </a:solidFill>
          <a:ln/>
        </p:spPr>
        <p:txBody>
          <a:bodyPr/>
          <a:lstStyle/>
          <a:p>
            <a:endParaRPr lang="en-US"/>
          </a:p>
        </p:txBody>
      </p:sp>
      <p:pic>
        <p:nvPicPr>
          <p:cNvPr id="18" name="Image 0" descr="/home/claude/work/assets/icons/eye-white.png"/>
          <p:cNvPicPr>
            <a:picLocks noChangeAspect="1"/>
          </p:cNvPicPr>
          <p:nvPr/>
        </p:nvPicPr>
        <p:blipFill>
          <a:blip r:embed="rId3"/>
          <a:stretch>
            <a:fillRect/>
          </a:stretch>
        </p:blipFill>
        <p:spPr>
          <a:xfrm>
            <a:off x="859536" y="2752344"/>
            <a:ext cx="237744" cy="237744"/>
          </a:xfrm>
          <a:prstGeom prst="rect">
            <a:avLst/>
          </a:prstGeom>
        </p:spPr>
      </p:pic>
      <p:sp>
        <p:nvSpPr>
          <p:cNvPr id="19" name="Text 16"/>
          <p:cNvSpPr/>
          <p:nvPr/>
        </p:nvSpPr>
        <p:spPr>
          <a:xfrm>
            <a:off x="2677058" y="2578608"/>
            <a:ext cx="1133856" cy="457200"/>
          </a:xfrm>
          <a:prstGeom prst="rect">
            <a:avLst/>
          </a:prstGeom>
          <a:noFill/>
          <a:ln/>
        </p:spPr>
        <p:txBody>
          <a:bodyPr wrap="square" lIns="0" tIns="0" rIns="0" bIns="0" rtlCol="0" anchor="ctr"/>
          <a:lstStyle/>
          <a:p>
            <a:pPr marL="0" indent="0" algn="r">
              <a:buNone/>
            </a:pPr>
            <a:r>
              <a:rPr lang="en-US" sz="2400" b="1" dirty="0">
                <a:solidFill>
                  <a:srgbClr val="0B7F7B"/>
                </a:solidFill>
                <a:latin typeface="Cambria" pitchFamily="34" charset="0"/>
                <a:ea typeface="Cambria" pitchFamily="34" charset="-122"/>
                <a:cs typeface="Cambria" pitchFamily="34" charset="-120"/>
              </a:rPr>
              <a:t>&gt;90%</a:t>
            </a:r>
            <a:endParaRPr lang="en-US" sz="2400" dirty="0"/>
          </a:p>
        </p:txBody>
      </p:sp>
      <p:sp>
        <p:nvSpPr>
          <p:cNvPr id="20" name="Text 17"/>
          <p:cNvSpPr/>
          <p:nvPr/>
        </p:nvSpPr>
        <p:spPr>
          <a:xfrm>
            <a:off x="2311298" y="2962656"/>
            <a:ext cx="1499616" cy="274320"/>
          </a:xfrm>
          <a:prstGeom prst="rect">
            <a:avLst/>
          </a:prstGeom>
          <a:noFill/>
          <a:ln/>
        </p:spPr>
        <p:txBody>
          <a:bodyPr wrap="square" lIns="0" tIns="0" rIns="0" bIns="0" rtlCol="0" anchor="ctr"/>
          <a:lstStyle/>
          <a:p>
            <a:pPr marL="0" indent="0" algn="r">
              <a:buNone/>
            </a:pPr>
            <a:r>
              <a:rPr lang="en-US" sz="760" b="1" kern="0" spc="50" dirty="0">
                <a:solidFill>
                  <a:srgbClr val="8B98A6"/>
                </a:solidFill>
                <a:latin typeface="Calibri" pitchFamily="34" charset="0"/>
                <a:ea typeface="Calibri" pitchFamily="34" charset="-122"/>
                <a:cs typeface="Calibri" pitchFamily="34" charset="-120"/>
              </a:rPr>
              <a:t>DR MODEL ACCURACY</a:t>
            </a:r>
            <a:endParaRPr lang="en-US" sz="760" dirty="0"/>
          </a:p>
        </p:txBody>
      </p:sp>
      <p:sp>
        <p:nvSpPr>
          <p:cNvPr id="21" name="Text 18"/>
          <p:cNvSpPr/>
          <p:nvPr/>
        </p:nvSpPr>
        <p:spPr>
          <a:xfrm>
            <a:off x="740664" y="3236976"/>
            <a:ext cx="3070250" cy="457200"/>
          </a:xfrm>
          <a:prstGeom prst="rect">
            <a:avLst/>
          </a:prstGeom>
          <a:noFill/>
          <a:ln/>
        </p:spPr>
        <p:txBody>
          <a:bodyPr wrap="square" lIns="0" tIns="0" rIns="0" bIns="0" rtlCol="0" anchor="t"/>
          <a:lstStyle/>
          <a:p>
            <a:pPr marL="0" indent="0">
              <a:buNone/>
            </a:pPr>
            <a:r>
              <a:rPr lang="en-US" sz="1450" b="1" dirty="0">
                <a:solidFill>
                  <a:srgbClr val="16324F"/>
                </a:solidFill>
                <a:latin typeface="Cambria" pitchFamily="34" charset="0"/>
                <a:ea typeface="Cambria" pitchFamily="34" charset="-122"/>
                <a:cs typeface="Cambria" pitchFamily="34" charset="-120"/>
              </a:rPr>
              <a:t>Diabetic Retinopathy</a:t>
            </a:r>
            <a:endParaRPr lang="en-US" sz="1450" dirty="0"/>
          </a:p>
        </p:txBody>
      </p:sp>
      <p:sp>
        <p:nvSpPr>
          <p:cNvPr id="22" name="Text 19"/>
          <p:cNvSpPr/>
          <p:nvPr/>
        </p:nvSpPr>
        <p:spPr>
          <a:xfrm>
            <a:off x="740664" y="3712464"/>
            <a:ext cx="3070250" cy="2011680"/>
          </a:xfrm>
          <a:prstGeom prst="rect">
            <a:avLst/>
          </a:prstGeom>
          <a:noFill/>
          <a:ln/>
        </p:spPr>
        <p:txBody>
          <a:bodyPr wrap="square" lIns="0" tIns="0" rIns="0" bIns="0" rtlCol="0" anchor="t"/>
          <a:lstStyle/>
          <a:p>
            <a:pPr marL="0" indent="0">
              <a:lnSpc>
                <a:spcPct val="126000"/>
              </a:lnSpc>
              <a:buNone/>
            </a:pPr>
            <a:r>
              <a:rPr lang="en-US" sz="1050" dirty="0">
                <a:solidFill>
                  <a:srgbClr val="5B6B7C"/>
                </a:solidFill>
                <a:latin typeface="Calibri" pitchFamily="34" charset="0"/>
                <a:ea typeface="Calibri" pitchFamily="34" charset="-122"/>
                <a:cs typeface="Calibri" pitchFamily="34" charset="-120"/>
              </a:rPr>
              <a:t>One of the leading causes of preventable blindness. AFIO screens for DR severity patterns to help prioritize which patients need urgent retinal specialist review.</a:t>
            </a:r>
            <a:endParaRPr lang="en-US" sz="1050" dirty="0"/>
          </a:p>
        </p:txBody>
      </p:sp>
      <p:sp>
        <p:nvSpPr>
          <p:cNvPr id="23" name="Shape 20"/>
          <p:cNvSpPr/>
          <p:nvPr/>
        </p:nvSpPr>
        <p:spPr>
          <a:xfrm>
            <a:off x="704088" y="5458968"/>
            <a:ext cx="3143402" cy="512064"/>
          </a:xfrm>
          <a:prstGeom prst="roundRect">
            <a:avLst>
              <a:gd name="adj" fmla="val 14286"/>
            </a:avLst>
          </a:prstGeom>
          <a:solidFill>
            <a:srgbClr val="FBEAE6"/>
          </a:solidFill>
          <a:ln/>
        </p:spPr>
        <p:txBody>
          <a:bodyPr/>
          <a:lstStyle/>
          <a:p>
            <a:endParaRPr lang="en-US"/>
          </a:p>
        </p:txBody>
      </p:sp>
      <p:pic>
        <p:nvPicPr>
          <p:cNvPr id="24" name="Image 1" descr="/home/claude/work/assets/icons/triangle-alert-navy.png"/>
          <p:cNvPicPr>
            <a:picLocks noChangeAspect="1"/>
          </p:cNvPicPr>
          <p:nvPr/>
        </p:nvPicPr>
        <p:blipFill>
          <a:blip r:embed="rId4"/>
          <a:stretch>
            <a:fillRect/>
          </a:stretch>
        </p:blipFill>
        <p:spPr>
          <a:xfrm>
            <a:off x="813816" y="5605272"/>
            <a:ext cx="219456" cy="219456"/>
          </a:xfrm>
          <a:prstGeom prst="rect">
            <a:avLst/>
          </a:prstGeom>
        </p:spPr>
      </p:pic>
      <p:sp>
        <p:nvSpPr>
          <p:cNvPr id="25" name="Text 21"/>
          <p:cNvSpPr/>
          <p:nvPr/>
        </p:nvSpPr>
        <p:spPr>
          <a:xfrm>
            <a:off x="1088136" y="5458968"/>
            <a:ext cx="2722778" cy="512064"/>
          </a:xfrm>
          <a:prstGeom prst="rect">
            <a:avLst/>
          </a:prstGeom>
          <a:noFill/>
          <a:ln/>
        </p:spPr>
        <p:txBody>
          <a:bodyPr wrap="square" lIns="0" tIns="0" rIns="0" bIns="0" rtlCol="0" anchor="ctr"/>
          <a:lstStyle/>
          <a:p>
            <a:pPr marL="0" indent="0">
              <a:lnSpc>
                <a:spcPct val="110000"/>
              </a:lnSpc>
              <a:buNone/>
            </a:pPr>
            <a:r>
              <a:rPr lang="en-US" sz="900" b="1" dirty="0">
                <a:solidFill>
                  <a:srgbClr val="A13B26"/>
                </a:solidFill>
                <a:latin typeface="Calibri" pitchFamily="34" charset="0"/>
                <a:ea typeface="Calibri" pitchFamily="34" charset="-122"/>
                <a:cs typeface="Calibri" pitchFamily="34" charset="-120"/>
              </a:rPr>
              <a:t>Proliferative DR flagged for emergency review</a:t>
            </a:r>
            <a:endParaRPr lang="en-US" sz="900" dirty="0"/>
          </a:p>
        </p:txBody>
      </p:sp>
      <p:sp>
        <p:nvSpPr>
          <p:cNvPr id="26" name="Shape 22"/>
          <p:cNvSpPr/>
          <p:nvPr/>
        </p:nvSpPr>
        <p:spPr>
          <a:xfrm>
            <a:off x="4322978" y="2395728"/>
            <a:ext cx="3545738" cy="3776472"/>
          </a:xfrm>
          <a:prstGeom prst="roundRect">
            <a:avLst>
              <a:gd name="adj" fmla="val 2321"/>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7" name="Shape 23"/>
          <p:cNvSpPr/>
          <p:nvPr/>
        </p:nvSpPr>
        <p:spPr>
          <a:xfrm>
            <a:off x="4560722" y="2633472"/>
            <a:ext cx="475488" cy="475488"/>
          </a:xfrm>
          <a:prstGeom prst="ellipse">
            <a:avLst/>
          </a:prstGeom>
          <a:solidFill>
            <a:srgbClr val="16324F"/>
          </a:solidFill>
          <a:ln/>
        </p:spPr>
        <p:txBody>
          <a:bodyPr/>
          <a:lstStyle/>
          <a:p>
            <a:endParaRPr lang="en-US"/>
          </a:p>
        </p:txBody>
      </p:sp>
      <p:pic>
        <p:nvPicPr>
          <p:cNvPr id="28" name="Image 2" descr="/home/claude/work/assets/icons/scan-eye-white.png"/>
          <p:cNvPicPr>
            <a:picLocks noChangeAspect="1"/>
          </p:cNvPicPr>
          <p:nvPr/>
        </p:nvPicPr>
        <p:blipFill>
          <a:blip r:embed="rId5"/>
          <a:stretch>
            <a:fillRect/>
          </a:stretch>
        </p:blipFill>
        <p:spPr>
          <a:xfrm>
            <a:off x="4679594" y="2752344"/>
            <a:ext cx="237744" cy="237744"/>
          </a:xfrm>
          <a:prstGeom prst="rect">
            <a:avLst/>
          </a:prstGeom>
        </p:spPr>
      </p:pic>
      <p:sp>
        <p:nvSpPr>
          <p:cNvPr id="29" name="Text 24"/>
          <p:cNvSpPr/>
          <p:nvPr/>
        </p:nvSpPr>
        <p:spPr>
          <a:xfrm>
            <a:off x="6497117" y="2578608"/>
            <a:ext cx="1133856" cy="457200"/>
          </a:xfrm>
          <a:prstGeom prst="rect">
            <a:avLst/>
          </a:prstGeom>
          <a:noFill/>
          <a:ln/>
        </p:spPr>
        <p:txBody>
          <a:bodyPr wrap="square" lIns="0" tIns="0" rIns="0" bIns="0" rtlCol="0" anchor="ctr"/>
          <a:lstStyle/>
          <a:p>
            <a:pPr marL="0" indent="0" algn="r">
              <a:buNone/>
            </a:pPr>
            <a:r>
              <a:rPr lang="en-US" sz="2400" b="1" dirty="0">
                <a:solidFill>
                  <a:srgbClr val="0B7F7B"/>
                </a:solidFill>
                <a:latin typeface="Cambria" pitchFamily="34" charset="0"/>
                <a:ea typeface="Cambria" pitchFamily="34" charset="-122"/>
                <a:cs typeface="Cambria" pitchFamily="34" charset="-120"/>
              </a:rPr>
              <a:t>&gt;90%</a:t>
            </a:r>
            <a:endParaRPr lang="en-US" sz="2400" dirty="0"/>
          </a:p>
        </p:txBody>
      </p:sp>
      <p:sp>
        <p:nvSpPr>
          <p:cNvPr id="30" name="Text 25"/>
          <p:cNvSpPr/>
          <p:nvPr/>
        </p:nvSpPr>
        <p:spPr>
          <a:xfrm>
            <a:off x="6131357" y="2962656"/>
            <a:ext cx="1499616" cy="274320"/>
          </a:xfrm>
          <a:prstGeom prst="rect">
            <a:avLst/>
          </a:prstGeom>
          <a:noFill/>
          <a:ln/>
        </p:spPr>
        <p:txBody>
          <a:bodyPr wrap="square" lIns="0" tIns="0" rIns="0" bIns="0" rtlCol="0" anchor="ctr"/>
          <a:lstStyle/>
          <a:p>
            <a:pPr marL="0" indent="0" algn="r">
              <a:buNone/>
            </a:pPr>
            <a:r>
              <a:rPr lang="en-US" sz="760" b="1" kern="0" spc="50" dirty="0">
                <a:solidFill>
                  <a:srgbClr val="8B98A6"/>
                </a:solidFill>
                <a:latin typeface="Calibri" pitchFamily="34" charset="0"/>
                <a:ea typeface="Calibri" pitchFamily="34" charset="-122"/>
                <a:cs typeface="Calibri" pitchFamily="34" charset="-120"/>
              </a:rPr>
              <a:t>GLAUCOMA MODEL ACCURACY</a:t>
            </a:r>
            <a:endParaRPr lang="en-US" sz="760" dirty="0"/>
          </a:p>
        </p:txBody>
      </p:sp>
      <p:sp>
        <p:nvSpPr>
          <p:cNvPr id="31" name="Text 26"/>
          <p:cNvSpPr/>
          <p:nvPr/>
        </p:nvSpPr>
        <p:spPr>
          <a:xfrm>
            <a:off x="4560722" y="3236976"/>
            <a:ext cx="3070250" cy="457200"/>
          </a:xfrm>
          <a:prstGeom prst="rect">
            <a:avLst/>
          </a:prstGeom>
          <a:noFill/>
          <a:ln/>
        </p:spPr>
        <p:txBody>
          <a:bodyPr wrap="square" lIns="0" tIns="0" rIns="0" bIns="0" rtlCol="0" anchor="t"/>
          <a:lstStyle/>
          <a:p>
            <a:pPr marL="0" indent="0">
              <a:buNone/>
            </a:pPr>
            <a:r>
              <a:rPr lang="en-US" sz="1450" b="1" dirty="0">
                <a:solidFill>
                  <a:srgbClr val="16324F"/>
                </a:solidFill>
                <a:latin typeface="Cambria" pitchFamily="34" charset="0"/>
                <a:ea typeface="Cambria" pitchFamily="34" charset="-122"/>
                <a:cs typeface="Cambria" pitchFamily="34" charset="-120"/>
              </a:rPr>
              <a:t>Glaucoma (CDR)</a:t>
            </a:r>
            <a:endParaRPr lang="en-US" sz="1450" dirty="0"/>
          </a:p>
        </p:txBody>
      </p:sp>
      <p:sp>
        <p:nvSpPr>
          <p:cNvPr id="32" name="Text 27"/>
          <p:cNvSpPr/>
          <p:nvPr/>
        </p:nvSpPr>
        <p:spPr>
          <a:xfrm>
            <a:off x="4560722" y="3712464"/>
            <a:ext cx="3070250" cy="2011680"/>
          </a:xfrm>
          <a:prstGeom prst="rect">
            <a:avLst/>
          </a:prstGeom>
          <a:noFill/>
          <a:ln/>
        </p:spPr>
        <p:txBody>
          <a:bodyPr wrap="square" lIns="0" tIns="0" rIns="0" bIns="0" rtlCol="0" anchor="t"/>
          <a:lstStyle/>
          <a:p>
            <a:pPr marL="0" indent="0">
              <a:lnSpc>
                <a:spcPct val="126000"/>
              </a:lnSpc>
              <a:buNone/>
            </a:pPr>
            <a:r>
              <a:rPr lang="en-US" sz="1050" dirty="0">
                <a:solidFill>
                  <a:srgbClr val="5B6B7C"/>
                </a:solidFill>
                <a:latin typeface="Calibri" pitchFamily="34" charset="0"/>
                <a:ea typeface="Calibri" pitchFamily="34" charset="-122"/>
                <a:cs typeface="Calibri" pitchFamily="34" charset="-120"/>
              </a:rPr>
              <a:t>Fundus images reveal optic disc and cup-to-disc ratio changes that indicate glaucoma risk — critical since glaucoma can progress silently before vision loss is noticed.</a:t>
            </a:r>
            <a:endParaRPr lang="en-US" sz="1050" dirty="0"/>
          </a:p>
        </p:txBody>
      </p:sp>
      <p:sp>
        <p:nvSpPr>
          <p:cNvPr id="33" name="Shape 28"/>
          <p:cNvSpPr/>
          <p:nvPr/>
        </p:nvSpPr>
        <p:spPr>
          <a:xfrm>
            <a:off x="4524146" y="5458968"/>
            <a:ext cx="3143402" cy="512064"/>
          </a:xfrm>
          <a:prstGeom prst="roundRect">
            <a:avLst>
              <a:gd name="adj" fmla="val 14286"/>
            </a:avLst>
          </a:prstGeom>
          <a:solidFill>
            <a:srgbClr val="FBEAE6"/>
          </a:solidFill>
          <a:ln/>
        </p:spPr>
        <p:txBody>
          <a:bodyPr/>
          <a:lstStyle/>
          <a:p>
            <a:endParaRPr lang="en-US"/>
          </a:p>
        </p:txBody>
      </p:sp>
      <p:pic>
        <p:nvPicPr>
          <p:cNvPr id="34" name="Image 3" descr="/home/claude/work/assets/icons/triangle-alert-navy.png"/>
          <p:cNvPicPr>
            <a:picLocks noChangeAspect="1"/>
          </p:cNvPicPr>
          <p:nvPr/>
        </p:nvPicPr>
        <p:blipFill>
          <a:blip r:embed="rId4"/>
          <a:stretch>
            <a:fillRect/>
          </a:stretch>
        </p:blipFill>
        <p:spPr>
          <a:xfrm>
            <a:off x="4633874" y="5605272"/>
            <a:ext cx="219456" cy="219456"/>
          </a:xfrm>
          <a:prstGeom prst="rect">
            <a:avLst/>
          </a:prstGeom>
        </p:spPr>
      </p:pic>
      <p:sp>
        <p:nvSpPr>
          <p:cNvPr id="35" name="Text 29"/>
          <p:cNvSpPr/>
          <p:nvPr/>
        </p:nvSpPr>
        <p:spPr>
          <a:xfrm>
            <a:off x="4908194" y="5458968"/>
            <a:ext cx="2722778" cy="512064"/>
          </a:xfrm>
          <a:prstGeom prst="rect">
            <a:avLst/>
          </a:prstGeom>
          <a:noFill/>
          <a:ln/>
        </p:spPr>
        <p:txBody>
          <a:bodyPr wrap="square" lIns="0" tIns="0" rIns="0" bIns="0" rtlCol="0" anchor="ctr"/>
          <a:lstStyle/>
          <a:p>
            <a:pPr marL="0" indent="0">
              <a:lnSpc>
                <a:spcPct val="110000"/>
              </a:lnSpc>
              <a:buNone/>
            </a:pPr>
            <a:r>
              <a:rPr lang="en-US" sz="900" b="1" dirty="0">
                <a:solidFill>
                  <a:srgbClr val="A13B26"/>
                </a:solidFill>
                <a:latin typeface="Calibri" pitchFamily="34" charset="0"/>
                <a:ea typeface="Calibri" pitchFamily="34" charset="-122"/>
                <a:cs typeface="Calibri" pitchFamily="34" charset="-120"/>
              </a:rPr>
              <a:t>Suspicious CDR patterns highlighted for review</a:t>
            </a:r>
            <a:endParaRPr lang="en-US" sz="900" dirty="0"/>
          </a:p>
        </p:txBody>
      </p:sp>
      <p:sp>
        <p:nvSpPr>
          <p:cNvPr id="36" name="Shape 30"/>
          <p:cNvSpPr/>
          <p:nvPr/>
        </p:nvSpPr>
        <p:spPr>
          <a:xfrm>
            <a:off x="8143037" y="2395728"/>
            <a:ext cx="3545738" cy="3776472"/>
          </a:xfrm>
          <a:prstGeom prst="roundRect">
            <a:avLst>
              <a:gd name="adj" fmla="val 2321"/>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37" name="Shape 31"/>
          <p:cNvSpPr/>
          <p:nvPr/>
        </p:nvSpPr>
        <p:spPr>
          <a:xfrm>
            <a:off x="8380781" y="2633472"/>
            <a:ext cx="475488" cy="475488"/>
          </a:xfrm>
          <a:prstGeom prst="ellipse">
            <a:avLst/>
          </a:prstGeom>
          <a:solidFill>
            <a:srgbClr val="16324F"/>
          </a:solidFill>
          <a:ln/>
        </p:spPr>
        <p:txBody>
          <a:bodyPr/>
          <a:lstStyle/>
          <a:p>
            <a:endParaRPr lang="en-US"/>
          </a:p>
        </p:txBody>
      </p:sp>
      <p:pic>
        <p:nvPicPr>
          <p:cNvPr id="38" name="Image 4" descr="/home/claude/work/assets/icons/radar-white.png"/>
          <p:cNvPicPr>
            <a:picLocks noChangeAspect="1"/>
          </p:cNvPicPr>
          <p:nvPr/>
        </p:nvPicPr>
        <p:blipFill>
          <a:blip r:embed="rId6"/>
          <a:stretch>
            <a:fillRect/>
          </a:stretch>
        </p:blipFill>
        <p:spPr>
          <a:xfrm>
            <a:off x="8499653" y="2752344"/>
            <a:ext cx="237744" cy="237744"/>
          </a:xfrm>
          <a:prstGeom prst="rect">
            <a:avLst/>
          </a:prstGeom>
        </p:spPr>
      </p:pic>
      <p:sp>
        <p:nvSpPr>
          <p:cNvPr id="39" name="Text 32"/>
          <p:cNvSpPr/>
          <p:nvPr/>
        </p:nvSpPr>
        <p:spPr>
          <a:xfrm>
            <a:off x="10317175" y="2578608"/>
            <a:ext cx="1133856" cy="457200"/>
          </a:xfrm>
          <a:prstGeom prst="rect">
            <a:avLst/>
          </a:prstGeom>
          <a:noFill/>
          <a:ln/>
        </p:spPr>
        <p:txBody>
          <a:bodyPr wrap="square" lIns="0" tIns="0" rIns="0" bIns="0" rtlCol="0" anchor="ctr"/>
          <a:lstStyle/>
          <a:p>
            <a:pPr marL="0" indent="0" algn="r">
              <a:buNone/>
            </a:pPr>
            <a:r>
              <a:rPr lang="en-US" sz="2400" b="1" dirty="0">
                <a:solidFill>
                  <a:srgbClr val="0B7F7B"/>
                </a:solidFill>
                <a:latin typeface="Cambria" pitchFamily="34" charset="0"/>
                <a:ea typeface="Cambria" pitchFamily="34" charset="-122"/>
                <a:cs typeface="Cambria" pitchFamily="34" charset="-120"/>
              </a:rPr>
              <a:t>&gt;90%</a:t>
            </a:r>
            <a:endParaRPr lang="en-US" sz="2400" dirty="0"/>
          </a:p>
        </p:txBody>
      </p:sp>
      <p:sp>
        <p:nvSpPr>
          <p:cNvPr id="40" name="Text 33"/>
          <p:cNvSpPr/>
          <p:nvPr/>
        </p:nvSpPr>
        <p:spPr>
          <a:xfrm>
            <a:off x="9951415" y="2962656"/>
            <a:ext cx="1499616" cy="274320"/>
          </a:xfrm>
          <a:prstGeom prst="rect">
            <a:avLst/>
          </a:prstGeom>
          <a:noFill/>
          <a:ln/>
        </p:spPr>
        <p:txBody>
          <a:bodyPr wrap="square" lIns="0" tIns="0" rIns="0" bIns="0" rtlCol="0" anchor="ctr"/>
          <a:lstStyle/>
          <a:p>
            <a:pPr marL="0" indent="0" algn="r">
              <a:buNone/>
            </a:pPr>
            <a:r>
              <a:rPr lang="en-US" sz="760" b="1" kern="0" spc="50" dirty="0">
                <a:solidFill>
                  <a:srgbClr val="8B98A6"/>
                </a:solidFill>
                <a:latin typeface="Calibri" pitchFamily="34" charset="0"/>
                <a:ea typeface="Calibri" pitchFamily="34" charset="-122"/>
                <a:cs typeface="Calibri" pitchFamily="34" charset="-120"/>
              </a:rPr>
              <a:t>HR MODEL ACCURACY</a:t>
            </a:r>
            <a:endParaRPr lang="en-US" sz="760" dirty="0"/>
          </a:p>
        </p:txBody>
      </p:sp>
      <p:sp>
        <p:nvSpPr>
          <p:cNvPr id="41" name="Text 34"/>
          <p:cNvSpPr/>
          <p:nvPr/>
        </p:nvSpPr>
        <p:spPr>
          <a:xfrm>
            <a:off x="8380781" y="3236976"/>
            <a:ext cx="3070250" cy="457200"/>
          </a:xfrm>
          <a:prstGeom prst="rect">
            <a:avLst/>
          </a:prstGeom>
          <a:noFill/>
          <a:ln/>
        </p:spPr>
        <p:txBody>
          <a:bodyPr wrap="square" lIns="0" tIns="0" rIns="0" bIns="0" rtlCol="0" anchor="t"/>
          <a:lstStyle/>
          <a:p>
            <a:pPr marL="0" indent="0">
              <a:buNone/>
            </a:pPr>
            <a:r>
              <a:rPr lang="en-US" sz="1450" b="1" dirty="0">
                <a:solidFill>
                  <a:srgbClr val="16324F"/>
                </a:solidFill>
                <a:latin typeface="Cambria" pitchFamily="34" charset="0"/>
                <a:ea typeface="Cambria" pitchFamily="34" charset="-122"/>
                <a:cs typeface="Cambria" pitchFamily="34" charset="-120"/>
              </a:rPr>
              <a:t>Hypertensive Retinopathy</a:t>
            </a:r>
            <a:endParaRPr lang="en-US" sz="1450" dirty="0"/>
          </a:p>
        </p:txBody>
      </p:sp>
      <p:sp>
        <p:nvSpPr>
          <p:cNvPr id="42" name="Text 35"/>
          <p:cNvSpPr/>
          <p:nvPr/>
        </p:nvSpPr>
        <p:spPr>
          <a:xfrm>
            <a:off x="8380781" y="3712464"/>
            <a:ext cx="3070250" cy="2011680"/>
          </a:xfrm>
          <a:prstGeom prst="rect">
            <a:avLst/>
          </a:prstGeom>
          <a:noFill/>
          <a:ln/>
        </p:spPr>
        <p:txBody>
          <a:bodyPr wrap="square" lIns="0" tIns="0" rIns="0" bIns="0" rtlCol="0" anchor="t"/>
          <a:lstStyle/>
          <a:p>
            <a:pPr marL="0" indent="0">
              <a:lnSpc>
                <a:spcPct val="126000"/>
              </a:lnSpc>
              <a:buNone/>
            </a:pPr>
            <a:r>
              <a:rPr lang="en-US" sz="1050" dirty="0">
                <a:solidFill>
                  <a:srgbClr val="5B6B7C"/>
                </a:solidFill>
                <a:latin typeface="Calibri" pitchFamily="34" charset="0"/>
                <a:ea typeface="Calibri" pitchFamily="34" charset="-122"/>
                <a:cs typeface="Calibri" pitchFamily="34" charset="-120"/>
              </a:rPr>
              <a:t>Retinal vessel changes from chronic hypertension — narrowing, hemorrhages, vascular irregularities — can indicate broader cardiovascular risk beyond the eye.</a:t>
            </a:r>
            <a:endParaRPr lang="en-US" sz="1050" dirty="0"/>
          </a:p>
        </p:txBody>
      </p:sp>
      <p:sp>
        <p:nvSpPr>
          <p:cNvPr id="43" name="Shape 36"/>
          <p:cNvSpPr/>
          <p:nvPr/>
        </p:nvSpPr>
        <p:spPr>
          <a:xfrm>
            <a:off x="8344205" y="5458968"/>
            <a:ext cx="3143402" cy="512064"/>
          </a:xfrm>
          <a:prstGeom prst="roundRect">
            <a:avLst>
              <a:gd name="adj" fmla="val 14286"/>
            </a:avLst>
          </a:prstGeom>
          <a:solidFill>
            <a:srgbClr val="FBEAE6"/>
          </a:solidFill>
          <a:ln/>
        </p:spPr>
        <p:txBody>
          <a:bodyPr/>
          <a:lstStyle/>
          <a:p>
            <a:endParaRPr lang="en-US"/>
          </a:p>
        </p:txBody>
      </p:sp>
      <p:pic>
        <p:nvPicPr>
          <p:cNvPr id="44" name="Image 5" descr="/home/claude/work/assets/icons/triangle-alert-navy.png"/>
          <p:cNvPicPr>
            <a:picLocks noChangeAspect="1"/>
          </p:cNvPicPr>
          <p:nvPr/>
        </p:nvPicPr>
        <p:blipFill>
          <a:blip r:embed="rId4"/>
          <a:stretch>
            <a:fillRect/>
          </a:stretch>
        </p:blipFill>
        <p:spPr>
          <a:xfrm>
            <a:off x="8453933" y="5605272"/>
            <a:ext cx="219456" cy="219456"/>
          </a:xfrm>
          <a:prstGeom prst="rect">
            <a:avLst/>
          </a:prstGeom>
        </p:spPr>
      </p:pic>
      <p:sp>
        <p:nvSpPr>
          <p:cNvPr id="45" name="Text 37"/>
          <p:cNvSpPr/>
          <p:nvPr/>
        </p:nvSpPr>
        <p:spPr>
          <a:xfrm>
            <a:off x="8728253" y="5458968"/>
            <a:ext cx="2722778" cy="512064"/>
          </a:xfrm>
          <a:prstGeom prst="rect">
            <a:avLst/>
          </a:prstGeom>
          <a:noFill/>
          <a:ln/>
        </p:spPr>
        <p:txBody>
          <a:bodyPr wrap="square" lIns="0" tIns="0" rIns="0" bIns="0" rtlCol="0" anchor="ctr"/>
          <a:lstStyle/>
          <a:p>
            <a:pPr marL="0" indent="0">
              <a:lnSpc>
                <a:spcPct val="110000"/>
              </a:lnSpc>
              <a:buNone/>
            </a:pPr>
            <a:r>
              <a:rPr lang="en-US" sz="900" b="1" dirty="0">
                <a:solidFill>
                  <a:srgbClr val="A13B26"/>
                </a:solidFill>
                <a:latin typeface="Calibri" pitchFamily="34" charset="0"/>
                <a:ea typeface="Calibri" pitchFamily="34" charset="-122"/>
                <a:cs typeface="Calibri" pitchFamily="34" charset="-120"/>
              </a:rPr>
              <a:t>Vascular changes flagged with Grad-CAM map</a:t>
            </a:r>
            <a:endParaRPr lang="en-US" sz="900" dirty="0"/>
          </a:p>
        </p:txBody>
      </p:sp>
      <p:sp>
        <p:nvSpPr>
          <p:cNvPr id="46" name="Text 38"/>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47" name="Text 39"/>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05</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EXPLAINABILITY</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200" b="1" dirty="0">
                <a:solidFill>
                  <a:srgbClr val="16324F"/>
                </a:solidFill>
                <a:latin typeface="Cambria" pitchFamily="34" charset="0"/>
                <a:ea typeface="Cambria" pitchFamily="34" charset="-122"/>
                <a:cs typeface="Cambria" pitchFamily="34" charset="-120"/>
              </a:rPr>
              <a:t>Why did the AI flag this image? The doctor can see exactly why.</a:t>
            </a:r>
            <a:endParaRPr lang="en-US" sz="2200" dirty="0"/>
          </a:p>
        </p:txBody>
      </p:sp>
      <p:sp>
        <p:nvSpPr>
          <p:cNvPr id="5" name="Shape 3"/>
          <p:cNvSpPr/>
          <p:nvPr/>
        </p:nvSpPr>
        <p:spPr>
          <a:xfrm>
            <a:off x="502920" y="1627632"/>
            <a:ext cx="2800192" cy="1874520"/>
          </a:xfrm>
          <a:prstGeom prst="roundRect">
            <a:avLst>
              <a:gd name="adj" fmla="val 4390"/>
            </a:avLst>
          </a:prstGeom>
          <a:solidFill>
            <a:srgbClr val="FFFFFF"/>
          </a:solidFill>
          <a:ln w="12700">
            <a:solidFill>
              <a:srgbClr val="E1E7EE"/>
            </a:solidFill>
            <a:prstDash val="solid"/>
          </a:ln>
        </p:spPr>
        <p:txBody>
          <a:bodyPr/>
          <a:lstStyle/>
          <a:p>
            <a:endParaRPr lang="en-US"/>
          </a:p>
        </p:txBody>
      </p:sp>
      <p:pic>
        <p:nvPicPr>
          <p:cNvPr id="6" name="Image 0" descr="/home/claude/work/assets/original_fundus.png"/>
          <p:cNvPicPr>
            <a:picLocks noChangeAspect="1"/>
          </p:cNvPicPr>
          <p:nvPr/>
        </p:nvPicPr>
        <p:blipFill>
          <a:blip r:embed="rId3"/>
          <a:srcRect/>
          <a:stretch/>
        </p:blipFill>
        <p:spPr>
          <a:xfrm>
            <a:off x="576072" y="1700784"/>
            <a:ext cx="2653888" cy="1728216"/>
          </a:xfrm>
          <a:prstGeom prst="rect">
            <a:avLst/>
          </a:prstGeom>
        </p:spPr>
      </p:pic>
      <p:pic>
        <p:nvPicPr>
          <p:cNvPr id="7" name="Image 1" descr="/home/claude/work/assets/icons/arrow-right-teal.png"/>
          <p:cNvPicPr>
            <a:picLocks noChangeAspect="1"/>
          </p:cNvPicPr>
          <p:nvPr/>
        </p:nvPicPr>
        <p:blipFill>
          <a:blip r:embed="rId4"/>
          <a:stretch>
            <a:fillRect/>
          </a:stretch>
        </p:blipFill>
        <p:spPr>
          <a:xfrm>
            <a:off x="3376264" y="2446020"/>
            <a:ext cx="237744" cy="237744"/>
          </a:xfrm>
          <a:prstGeom prst="rect">
            <a:avLst/>
          </a:prstGeom>
        </p:spPr>
      </p:pic>
      <p:sp>
        <p:nvSpPr>
          <p:cNvPr id="8" name="Shape 4"/>
          <p:cNvSpPr/>
          <p:nvPr/>
        </p:nvSpPr>
        <p:spPr>
          <a:xfrm>
            <a:off x="3687160" y="1627632"/>
            <a:ext cx="2800192" cy="1874520"/>
          </a:xfrm>
          <a:prstGeom prst="roundRect">
            <a:avLst>
              <a:gd name="adj" fmla="val 4390"/>
            </a:avLst>
          </a:prstGeom>
          <a:solidFill>
            <a:srgbClr val="FFFFFF"/>
          </a:solidFill>
          <a:ln w="12700">
            <a:solidFill>
              <a:srgbClr val="E1E7EE"/>
            </a:solidFill>
            <a:prstDash val="solid"/>
          </a:ln>
        </p:spPr>
        <p:txBody>
          <a:bodyPr/>
          <a:lstStyle/>
          <a:p>
            <a:endParaRPr lang="en-US"/>
          </a:p>
        </p:txBody>
      </p:sp>
      <p:pic>
        <p:nvPicPr>
          <p:cNvPr id="9" name="Image 2" descr="/home/claude/work/assets/gradcam_overlay.png"/>
          <p:cNvPicPr>
            <a:picLocks noChangeAspect="1"/>
          </p:cNvPicPr>
          <p:nvPr/>
        </p:nvPicPr>
        <p:blipFill>
          <a:blip r:embed="rId5"/>
          <a:srcRect/>
          <a:stretch/>
        </p:blipFill>
        <p:spPr>
          <a:xfrm>
            <a:off x="3760312" y="1700784"/>
            <a:ext cx="2653888" cy="1728216"/>
          </a:xfrm>
          <a:prstGeom prst="rect">
            <a:avLst/>
          </a:prstGeom>
        </p:spPr>
      </p:pic>
      <p:sp>
        <p:nvSpPr>
          <p:cNvPr id="10" name="Text 5"/>
          <p:cNvSpPr/>
          <p:nvPr/>
        </p:nvSpPr>
        <p:spPr>
          <a:xfrm>
            <a:off x="502920" y="3575304"/>
            <a:ext cx="2800192" cy="237744"/>
          </a:xfrm>
          <a:prstGeom prst="rect">
            <a:avLst/>
          </a:prstGeom>
          <a:noFill/>
          <a:ln/>
        </p:spPr>
        <p:txBody>
          <a:bodyPr wrap="square" lIns="0" tIns="0" rIns="0" bIns="0" rtlCol="0" anchor="ctr"/>
          <a:lstStyle/>
          <a:p>
            <a:pPr marL="0" indent="0" algn="ctr">
              <a:buNone/>
            </a:pPr>
            <a:r>
              <a:rPr lang="en-US" sz="950" b="1" kern="0" spc="100" dirty="0">
                <a:solidFill>
                  <a:srgbClr val="8B98A6"/>
                </a:solidFill>
                <a:latin typeface="Calibri" pitchFamily="34" charset="0"/>
                <a:ea typeface="Calibri" pitchFamily="34" charset="-122"/>
                <a:cs typeface="Calibri" pitchFamily="34" charset="-120"/>
              </a:rPr>
              <a:t>ORIGINAL SCAN</a:t>
            </a:r>
            <a:endParaRPr lang="en-US" sz="950" dirty="0"/>
          </a:p>
        </p:txBody>
      </p:sp>
      <p:sp>
        <p:nvSpPr>
          <p:cNvPr id="11" name="Text 6"/>
          <p:cNvSpPr/>
          <p:nvPr/>
        </p:nvSpPr>
        <p:spPr>
          <a:xfrm>
            <a:off x="3687160" y="3575304"/>
            <a:ext cx="2800192" cy="237744"/>
          </a:xfrm>
          <a:prstGeom prst="rect">
            <a:avLst/>
          </a:prstGeom>
          <a:noFill/>
          <a:ln/>
        </p:spPr>
        <p:txBody>
          <a:bodyPr wrap="square" lIns="0" tIns="0" rIns="0" bIns="0" rtlCol="0" anchor="ctr"/>
          <a:lstStyle/>
          <a:p>
            <a:pPr marL="0" indent="0" algn="ctr">
              <a:buNone/>
            </a:pPr>
            <a:r>
              <a:rPr lang="en-US" sz="950" b="1" kern="0" spc="100" dirty="0">
                <a:solidFill>
                  <a:srgbClr val="8B98A6"/>
                </a:solidFill>
                <a:latin typeface="Calibri" pitchFamily="34" charset="0"/>
                <a:ea typeface="Calibri" pitchFamily="34" charset="-122"/>
                <a:cs typeface="Calibri" pitchFamily="34" charset="-120"/>
              </a:rPr>
              <a:t>GRAD-CAM OVERLAY</a:t>
            </a:r>
            <a:endParaRPr lang="en-US" sz="950" dirty="0"/>
          </a:p>
        </p:txBody>
      </p:sp>
      <p:sp>
        <p:nvSpPr>
          <p:cNvPr id="12" name="Shape 7"/>
          <p:cNvSpPr/>
          <p:nvPr/>
        </p:nvSpPr>
        <p:spPr>
          <a:xfrm>
            <a:off x="502920" y="3959352"/>
            <a:ext cx="5984433" cy="1371600"/>
          </a:xfrm>
          <a:prstGeom prst="roundRect">
            <a:avLst>
              <a:gd name="adj" fmla="val 6667"/>
            </a:avLst>
          </a:prstGeom>
          <a:solidFill>
            <a:srgbClr val="FBEAE6"/>
          </a:solidFill>
          <a:ln/>
        </p:spPr>
        <p:txBody>
          <a:bodyPr/>
          <a:lstStyle/>
          <a:p>
            <a:endParaRPr lang="en-US"/>
          </a:p>
        </p:txBody>
      </p:sp>
      <p:sp>
        <p:nvSpPr>
          <p:cNvPr id="13" name="Shape 8"/>
          <p:cNvSpPr/>
          <p:nvPr/>
        </p:nvSpPr>
        <p:spPr>
          <a:xfrm>
            <a:off x="704088" y="4160520"/>
            <a:ext cx="420624" cy="420624"/>
          </a:xfrm>
          <a:prstGeom prst="ellipse">
            <a:avLst/>
          </a:prstGeom>
          <a:solidFill>
            <a:srgbClr val="A13B26"/>
          </a:solidFill>
          <a:ln/>
        </p:spPr>
        <p:txBody>
          <a:bodyPr/>
          <a:lstStyle/>
          <a:p>
            <a:endParaRPr lang="en-US"/>
          </a:p>
        </p:txBody>
      </p:sp>
      <p:pic>
        <p:nvPicPr>
          <p:cNvPr id="14" name="Image 3" descr="/home/claude/work/assets/icons/triangle-alert-white.png"/>
          <p:cNvPicPr>
            <a:picLocks noChangeAspect="1"/>
          </p:cNvPicPr>
          <p:nvPr/>
        </p:nvPicPr>
        <p:blipFill>
          <a:blip r:embed="rId6"/>
          <a:stretch>
            <a:fillRect/>
          </a:stretch>
        </p:blipFill>
        <p:spPr>
          <a:xfrm>
            <a:off x="805038" y="4261470"/>
            <a:ext cx="218724" cy="218724"/>
          </a:xfrm>
          <a:prstGeom prst="rect">
            <a:avLst/>
          </a:prstGeom>
        </p:spPr>
      </p:pic>
      <p:sp>
        <p:nvSpPr>
          <p:cNvPr id="15" name="Text 9"/>
          <p:cNvSpPr/>
          <p:nvPr/>
        </p:nvSpPr>
        <p:spPr>
          <a:xfrm>
            <a:off x="1252728" y="4142232"/>
            <a:ext cx="5024313" cy="310896"/>
          </a:xfrm>
          <a:prstGeom prst="rect">
            <a:avLst/>
          </a:prstGeom>
          <a:noFill/>
          <a:ln/>
        </p:spPr>
        <p:txBody>
          <a:bodyPr wrap="square" lIns="0" tIns="0" rIns="0" bIns="0" rtlCol="0" anchor="ctr"/>
          <a:lstStyle/>
          <a:p>
            <a:pPr marL="0" indent="0">
              <a:buNone/>
            </a:pPr>
            <a:r>
              <a:rPr lang="en-US" sz="1400" b="1" dirty="0">
                <a:solidFill>
                  <a:srgbClr val="A13B26"/>
                </a:solidFill>
                <a:latin typeface="Cambria" pitchFamily="34" charset="0"/>
                <a:ea typeface="Cambria" pitchFamily="34" charset="-122"/>
                <a:cs typeface="Cambria" pitchFamily="34" charset="-120"/>
              </a:rPr>
              <a:t>Not a Diagnosis</a:t>
            </a:r>
            <a:endParaRPr lang="en-US" sz="1400" dirty="0"/>
          </a:p>
        </p:txBody>
      </p:sp>
      <p:sp>
        <p:nvSpPr>
          <p:cNvPr id="16" name="Text 10"/>
          <p:cNvSpPr/>
          <p:nvPr/>
        </p:nvSpPr>
        <p:spPr>
          <a:xfrm>
            <a:off x="704088" y="4526280"/>
            <a:ext cx="5582097" cy="658368"/>
          </a:xfrm>
          <a:prstGeom prst="rect">
            <a:avLst/>
          </a:prstGeom>
          <a:noFill/>
          <a:ln/>
        </p:spPr>
        <p:txBody>
          <a:bodyPr wrap="square" lIns="0" tIns="0" rIns="0" bIns="0" rtlCol="0" anchor="t"/>
          <a:lstStyle/>
          <a:p>
            <a:pPr marL="0" indent="0">
              <a:lnSpc>
                <a:spcPct val="125000"/>
              </a:lnSpc>
              <a:buNone/>
            </a:pPr>
            <a:r>
              <a:rPr lang="en-US" sz="1060" dirty="0">
                <a:solidFill>
                  <a:srgbClr val="7A3A26"/>
                </a:solidFill>
                <a:latin typeface="Calibri" pitchFamily="34" charset="0"/>
                <a:ea typeface="Calibri" pitchFamily="34" charset="-122"/>
                <a:cs typeface="Calibri" pitchFamily="34" charset="-120"/>
              </a:rPr>
              <a:t>The heatmap shows model attention, not a clinical measurement. Always requires doctor review.</a:t>
            </a:r>
            <a:endParaRPr lang="en-US" sz="1060" dirty="0"/>
          </a:p>
        </p:txBody>
      </p:sp>
      <p:sp>
        <p:nvSpPr>
          <p:cNvPr id="17" name="Shape 11"/>
          <p:cNvSpPr/>
          <p:nvPr/>
        </p:nvSpPr>
        <p:spPr>
          <a:xfrm>
            <a:off x="6779961" y="1627632"/>
            <a:ext cx="4908815" cy="1051560"/>
          </a:xfrm>
          <a:prstGeom prst="roundRect">
            <a:avLst>
              <a:gd name="adj" fmla="val 7826"/>
            </a:avLst>
          </a:prstGeom>
          <a:solidFill>
            <a:srgbClr val="FFFFFF"/>
          </a:solidFill>
          <a:ln w="12700">
            <a:solidFill>
              <a:srgbClr val="E1E7EE"/>
            </a:solidFill>
            <a:prstDash val="solid"/>
          </a:ln>
        </p:spPr>
        <p:txBody>
          <a:bodyPr/>
          <a:lstStyle/>
          <a:p>
            <a:endParaRPr lang="en-US"/>
          </a:p>
        </p:txBody>
      </p:sp>
      <p:sp>
        <p:nvSpPr>
          <p:cNvPr id="18" name="Shape 12"/>
          <p:cNvSpPr/>
          <p:nvPr/>
        </p:nvSpPr>
        <p:spPr>
          <a:xfrm>
            <a:off x="6981129" y="1847088"/>
            <a:ext cx="237744" cy="237744"/>
          </a:xfrm>
          <a:prstGeom prst="ellipse">
            <a:avLst/>
          </a:prstGeom>
          <a:solidFill>
            <a:srgbClr val="C0392B"/>
          </a:solidFill>
          <a:ln/>
        </p:spPr>
        <p:txBody>
          <a:bodyPr/>
          <a:lstStyle/>
          <a:p>
            <a:endParaRPr lang="en-US"/>
          </a:p>
        </p:txBody>
      </p:sp>
      <p:sp>
        <p:nvSpPr>
          <p:cNvPr id="19" name="Text 13"/>
          <p:cNvSpPr/>
          <p:nvPr/>
        </p:nvSpPr>
        <p:spPr>
          <a:xfrm>
            <a:off x="7328601" y="1773936"/>
            <a:ext cx="4177295" cy="310896"/>
          </a:xfrm>
          <a:prstGeom prst="rect">
            <a:avLst/>
          </a:prstGeom>
          <a:noFill/>
          <a:ln/>
        </p:spPr>
        <p:txBody>
          <a:bodyPr wrap="square" lIns="0" tIns="0" rIns="0" bIns="0"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Hot Zones (Red / Orange)</a:t>
            </a:r>
            <a:endParaRPr lang="en-US" sz="1250" dirty="0"/>
          </a:p>
        </p:txBody>
      </p:sp>
      <p:sp>
        <p:nvSpPr>
          <p:cNvPr id="20" name="Text 14"/>
          <p:cNvSpPr/>
          <p:nvPr/>
        </p:nvSpPr>
        <p:spPr>
          <a:xfrm>
            <a:off x="7328601" y="2103120"/>
            <a:ext cx="4177295" cy="502920"/>
          </a:xfrm>
          <a:prstGeom prst="rect">
            <a:avLst/>
          </a:prstGeom>
          <a:noFill/>
          <a:ln/>
        </p:spPr>
        <p:txBody>
          <a:bodyPr wrap="square" lIns="0" tIns="0" rIns="0" bIns="0" rtlCol="0" anchor="t"/>
          <a:lstStyle/>
          <a:p>
            <a:pPr marL="0" indent="0">
              <a:lnSpc>
                <a:spcPct val="120000"/>
              </a:lnSpc>
              <a:buNone/>
            </a:pPr>
            <a:r>
              <a:rPr lang="en-US" sz="1000" dirty="0">
                <a:solidFill>
                  <a:srgbClr val="5B6B7C"/>
                </a:solidFill>
                <a:latin typeface="Calibri" pitchFamily="34" charset="0"/>
                <a:ea typeface="Calibri" pitchFamily="34" charset="-122"/>
                <a:cs typeface="Calibri" pitchFamily="34" charset="-120"/>
              </a:rPr>
              <a:t>Region that most influenced the prediction. Doctor checks this area first.</a:t>
            </a:r>
            <a:endParaRPr lang="en-US" sz="1000" dirty="0"/>
          </a:p>
        </p:txBody>
      </p:sp>
      <p:sp>
        <p:nvSpPr>
          <p:cNvPr id="21" name="Shape 15"/>
          <p:cNvSpPr/>
          <p:nvPr/>
        </p:nvSpPr>
        <p:spPr>
          <a:xfrm>
            <a:off x="6779961" y="2843784"/>
            <a:ext cx="4908815" cy="1051560"/>
          </a:xfrm>
          <a:prstGeom prst="roundRect">
            <a:avLst>
              <a:gd name="adj" fmla="val 7826"/>
            </a:avLst>
          </a:prstGeom>
          <a:solidFill>
            <a:srgbClr val="FFFFFF"/>
          </a:solidFill>
          <a:ln w="12700">
            <a:solidFill>
              <a:srgbClr val="E1E7EE"/>
            </a:solidFill>
            <a:prstDash val="solid"/>
          </a:ln>
        </p:spPr>
        <p:txBody>
          <a:bodyPr/>
          <a:lstStyle/>
          <a:p>
            <a:endParaRPr lang="en-US"/>
          </a:p>
        </p:txBody>
      </p:sp>
      <p:sp>
        <p:nvSpPr>
          <p:cNvPr id="22" name="Shape 16"/>
          <p:cNvSpPr/>
          <p:nvPr/>
        </p:nvSpPr>
        <p:spPr>
          <a:xfrm>
            <a:off x="6981129" y="3063240"/>
            <a:ext cx="237744" cy="237744"/>
          </a:xfrm>
          <a:prstGeom prst="ellipse">
            <a:avLst/>
          </a:prstGeom>
          <a:solidFill>
            <a:srgbClr val="DE9A2A"/>
          </a:solidFill>
          <a:ln/>
        </p:spPr>
        <p:txBody>
          <a:bodyPr/>
          <a:lstStyle/>
          <a:p>
            <a:endParaRPr lang="en-US"/>
          </a:p>
        </p:txBody>
      </p:sp>
      <p:sp>
        <p:nvSpPr>
          <p:cNvPr id="23" name="Text 17"/>
          <p:cNvSpPr/>
          <p:nvPr/>
        </p:nvSpPr>
        <p:spPr>
          <a:xfrm>
            <a:off x="7328601" y="2990088"/>
            <a:ext cx="4177295" cy="310896"/>
          </a:xfrm>
          <a:prstGeom prst="rect">
            <a:avLst/>
          </a:prstGeom>
          <a:noFill/>
          <a:ln/>
        </p:spPr>
        <p:txBody>
          <a:bodyPr wrap="square" lIns="0" tIns="0" rIns="0" bIns="0"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Warm Zones (Yellow)</a:t>
            </a:r>
            <a:endParaRPr lang="en-US" sz="1250" dirty="0"/>
          </a:p>
        </p:txBody>
      </p:sp>
      <p:sp>
        <p:nvSpPr>
          <p:cNvPr id="24" name="Text 18"/>
          <p:cNvSpPr/>
          <p:nvPr/>
        </p:nvSpPr>
        <p:spPr>
          <a:xfrm>
            <a:off x="7328601" y="3319272"/>
            <a:ext cx="4177295" cy="502920"/>
          </a:xfrm>
          <a:prstGeom prst="rect">
            <a:avLst/>
          </a:prstGeom>
          <a:noFill/>
          <a:ln/>
        </p:spPr>
        <p:txBody>
          <a:bodyPr wrap="square" lIns="0" tIns="0" rIns="0" bIns="0" rtlCol="0" anchor="t"/>
          <a:lstStyle/>
          <a:p>
            <a:pPr marL="0" indent="0">
              <a:lnSpc>
                <a:spcPct val="120000"/>
              </a:lnSpc>
              <a:buNone/>
            </a:pPr>
            <a:r>
              <a:rPr lang="en-US" sz="1000" dirty="0">
                <a:solidFill>
                  <a:srgbClr val="5B6B7C"/>
                </a:solidFill>
                <a:latin typeface="Calibri" pitchFamily="34" charset="0"/>
                <a:ea typeface="Calibri" pitchFamily="34" charset="-122"/>
                <a:cs typeface="Calibri" pitchFamily="34" charset="-120"/>
              </a:rPr>
              <a:t>Secondary attention — contributing but not dominant to the output.</a:t>
            </a:r>
            <a:endParaRPr lang="en-US" sz="1000" dirty="0"/>
          </a:p>
        </p:txBody>
      </p:sp>
      <p:sp>
        <p:nvSpPr>
          <p:cNvPr id="25" name="Shape 19"/>
          <p:cNvSpPr/>
          <p:nvPr/>
        </p:nvSpPr>
        <p:spPr>
          <a:xfrm>
            <a:off x="6779961" y="4059936"/>
            <a:ext cx="4908815" cy="1051560"/>
          </a:xfrm>
          <a:prstGeom prst="roundRect">
            <a:avLst>
              <a:gd name="adj" fmla="val 7826"/>
            </a:avLst>
          </a:prstGeom>
          <a:solidFill>
            <a:srgbClr val="FFFFFF"/>
          </a:solidFill>
          <a:ln w="12700">
            <a:solidFill>
              <a:srgbClr val="E1E7EE"/>
            </a:solidFill>
            <a:prstDash val="solid"/>
          </a:ln>
        </p:spPr>
        <p:txBody>
          <a:bodyPr/>
          <a:lstStyle/>
          <a:p>
            <a:endParaRPr lang="en-US"/>
          </a:p>
        </p:txBody>
      </p:sp>
      <p:sp>
        <p:nvSpPr>
          <p:cNvPr id="26" name="Shape 20"/>
          <p:cNvSpPr/>
          <p:nvPr/>
        </p:nvSpPr>
        <p:spPr>
          <a:xfrm>
            <a:off x="6981129" y="4279392"/>
            <a:ext cx="237744" cy="237744"/>
          </a:xfrm>
          <a:prstGeom prst="ellipse">
            <a:avLst/>
          </a:prstGeom>
          <a:solidFill>
            <a:srgbClr val="3572C9"/>
          </a:solidFill>
          <a:ln/>
        </p:spPr>
        <p:txBody>
          <a:bodyPr/>
          <a:lstStyle/>
          <a:p>
            <a:endParaRPr lang="en-US"/>
          </a:p>
        </p:txBody>
      </p:sp>
      <p:sp>
        <p:nvSpPr>
          <p:cNvPr id="27" name="Text 21"/>
          <p:cNvSpPr/>
          <p:nvPr/>
        </p:nvSpPr>
        <p:spPr>
          <a:xfrm>
            <a:off x="7328601" y="4206240"/>
            <a:ext cx="4177295" cy="310896"/>
          </a:xfrm>
          <a:prstGeom prst="rect">
            <a:avLst/>
          </a:prstGeom>
          <a:noFill/>
          <a:ln/>
        </p:spPr>
        <p:txBody>
          <a:bodyPr wrap="square" lIns="0" tIns="0" rIns="0" bIns="0" rtlCol="0" anchor="ctr"/>
          <a:lstStyle/>
          <a:p>
            <a:pPr marL="0" indent="0">
              <a:buNone/>
            </a:pPr>
            <a:r>
              <a:rPr lang="en-US" sz="1250" b="1" dirty="0">
                <a:solidFill>
                  <a:srgbClr val="16324F"/>
                </a:solidFill>
                <a:latin typeface="Cambria" pitchFamily="34" charset="0"/>
                <a:ea typeface="Cambria" pitchFamily="34" charset="-122"/>
                <a:cs typeface="Cambria" pitchFamily="34" charset="-120"/>
              </a:rPr>
              <a:t>Cool Zones (Blue / Green)</a:t>
            </a:r>
            <a:endParaRPr lang="en-US" sz="1250" dirty="0"/>
          </a:p>
        </p:txBody>
      </p:sp>
      <p:sp>
        <p:nvSpPr>
          <p:cNvPr id="28" name="Text 22"/>
          <p:cNvSpPr/>
          <p:nvPr/>
        </p:nvSpPr>
        <p:spPr>
          <a:xfrm>
            <a:off x="7328601" y="4535424"/>
            <a:ext cx="4177295" cy="502920"/>
          </a:xfrm>
          <a:prstGeom prst="rect">
            <a:avLst/>
          </a:prstGeom>
          <a:noFill/>
          <a:ln/>
        </p:spPr>
        <p:txBody>
          <a:bodyPr wrap="square" lIns="0" tIns="0" rIns="0" bIns="0" rtlCol="0" anchor="t"/>
          <a:lstStyle/>
          <a:p>
            <a:pPr marL="0" indent="0">
              <a:lnSpc>
                <a:spcPct val="120000"/>
              </a:lnSpc>
              <a:buNone/>
            </a:pPr>
            <a:r>
              <a:rPr lang="en-US" sz="1000" dirty="0">
                <a:solidFill>
                  <a:srgbClr val="5B6B7C"/>
                </a:solidFill>
                <a:latin typeface="Calibri" pitchFamily="34" charset="0"/>
                <a:ea typeface="Calibri" pitchFamily="34" charset="-122"/>
                <a:cs typeface="Calibri" pitchFamily="34" charset="-120"/>
              </a:rPr>
              <a:t>Low influence. Background or clinically less significant for this prediction.</a:t>
            </a:r>
            <a:endParaRPr lang="en-US" sz="1000" dirty="0"/>
          </a:p>
        </p:txBody>
      </p:sp>
      <p:sp>
        <p:nvSpPr>
          <p:cNvPr id="29" name="Shape 23"/>
          <p:cNvSpPr/>
          <p:nvPr/>
        </p:nvSpPr>
        <p:spPr>
          <a:xfrm>
            <a:off x="502920" y="5989320"/>
            <a:ext cx="11185855" cy="548640"/>
          </a:xfrm>
          <a:prstGeom prst="roundRect">
            <a:avLst>
              <a:gd name="adj" fmla="val 16667"/>
            </a:avLst>
          </a:prstGeom>
          <a:solidFill>
            <a:srgbClr val="16324F"/>
          </a:solidFill>
          <a:ln/>
        </p:spPr>
        <p:txBody>
          <a:bodyPr/>
          <a:lstStyle/>
          <a:p>
            <a:endParaRPr lang="en-US"/>
          </a:p>
        </p:txBody>
      </p:sp>
      <p:sp>
        <p:nvSpPr>
          <p:cNvPr id="30" name="Text 24"/>
          <p:cNvSpPr/>
          <p:nvPr/>
        </p:nvSpPr>
        <p:spPr>
          <a:xfrm>
            <a:off x="777240" y="5989320"/>
            <a:ext cx="10637215" cy="548640"/>
          </a:xfrm>
          <a:prstGeom prst="rect">
            <a:avLst/>
          </a:prstGeom>
          <a:noFill/>
          <a:ln/>
        </p:spPr>
        <p:txBody>
          <a:bodyPr wrap="square" lIns="0" tIns="0" rIns="0" bIns="0" rtlCol="0" anchor="ctr"/>
          <a:lstStyle/>
          <a:p>
            <a:pPr marL="0" indent="0" algn="ctr">
              <a:buNone/>
            </a:pPr>
            <a:r>
              <a:rPr lang="en-US" sz="1200" b="1" i="1" dirty="0">
                <a:solidFill>
                  <a:srgbClr val="FFFFFF"/>
                </a:solidFill>
                <a:latin typeface="Calibri" pitchFamily="34" charset="0"/>
                <a:ea typeface="Calibri" pitchFamily="34" charset="-122"/>
                <a:cs typeface="Calibri" pitchFamily="34" charset="-120"/>
              </a:rPr>
              <a:t>Black-box AI isn’t clinically usable. Grad-CAM makes every prediction reviewable and transparent — the doctor sees what the model saw.</a:t>
            </a:r>
            <a:endParaRPr lang="en-US" sz="1200" dirty="0"/>
          </a:p>
        </p:txBody>
      </p:sp>
      <p:sp>
        <p:nvSpPr>
          <p:cNvPr id="31" name="Text 25"/>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32" name="Text 26"/>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06</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REPORT GENERATION</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400" b="1" dirty="0">
                <a:solidFill>
                  <a:srgbClr val="16324F"/>
                </a:solidFill>
                <a:latin typeface="Cambria" pitchFamily="34" charset="0"/>
                <a:ea typeface="Cambria" pitchFamily="34" charset="-122"/>
                <a:cs typeface="Cambria" pitchFamily="34" charset="-120"/>
              </a:rPr>
              <a:t>From scan to structured clinical report in one click.</a:t>
            </a:r>
            <a:endParaRPr lang="en-US" sz="2400" dirty="0"/>
          </a:p>
        </p:txBody>
      </p:sp>
      <p:sp>
        <p:nvSpPr>
          <p:cNvPr id="5" name="Shape 3"/>
          <p:cNvSpPr/>
          <p:nvPr/>
        </p:nvSpPr>
        <p:spPr>
          <a:xfrm>
            <a:off x="502920" y="1627632"/>
            <a:ext cx="6096291" cy="4636008"/>
          </a:xfrm>
          <a:prstGeom prst="roundRect">
            <a:avLst>
              <a:gd name="adj" fmla="val 1775"/>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502920" y="1627632"/>
            <a:ext cx="6096291" cy="457200"/>
          </a:xfrm>
          <a:prstGeom prst="roundRect">
            <a:avLst>
              <a:gd name="adj" fmla="val 18000"/>
            </a:avLst>
          </a:prstGeom>
          <a:solidFill>
            <a:srgbClr val="16324F"/>
          </a:solidFill>
          <a:ln/>
        </p:spPr>
        <p:txBody>
          <a:bodyPr/>
          <a:lstStyle/>
          <a:p>
            <a:endParaRPr lang="en-US"/>
          </a:p>
        </p:txBody>
      </p:sp>
      <p:sp>
        <p:nvSpPr>
          <p:cNvPr id="7" name="Shape 5"/>
          <p:cNvSpPr/>
          <p:nvPr/>
        </p:nvSpPr>
        <p:spPr>
          <a:xfrm>
            <a:off x="502920" y="1856232"/>
            <a:ext cx="6096291" cy="228600"/>
          </a:xfrm>
          <a:prstGeom prst="rect">
            <a:avLst/>
          </a:prstGeom>
          <a:solidFill>
            <a:srgbClr val="16324F"/>
          </a:solidFill>
          <a:ln/>
        </p:spPr>
        <p:txBody>
          <a:bodyPr/>
          <a:lstStyle/>
          <a:p>
            <a:endParaRPr lang="en-US"/>
          </a:p>
        </p:txBody>
      </p:sp>
      <p:sp>
        <p:nvSpPr>
          <p:cNvPr id="8" name="Text 6"/>
          <p:cNvSpPr/>
          <p:nvPr/>
        </p:nvSpPr>
        <p:spPr>
          <a:xfrm>
            <a:off x="704088" y="1627632"/>
            <a:ext cx="4907571" cy="457200"/>
          </a:xfrm>
          <a:prstGeom prst="rect">
            <a:avLst/>
          </a:prstGeom>
          <a:noFill/>
          <a:ln/>
        </p:spPr>
        <p:txBody>
          <a:bodyPr wrap="square" lIns="0" tIns="0" rIns="0" bIns="0" rtlCol="0" anchor="ctr"/>
          <a:lstStyle/>
          <a:p>
            <a:pPr marL="0" indent="0">
              <a:buNone/>
            </a:pPr>
            <a:r>
              <a:rPr lang="en-US" sz="1050" b="1" kern="0" spc="60" dirty="0">
                <a:solidFill>
                  <a:srgbClr val="FFFFFF"/>
                </a:solidFill>
                <a:latin typeface="Calibri" pitchFamily="34" charset="0"/>
                <a:ea typeface="Calibri" pitchFamily="34" charset="-122"/>
                <a:cs typeface="Calibri" pitchFamily="34" charset="-120"/>
              </a:rPr>
              <a:t>AFIO  ·  CLINICAL SCREENING REPORT</a:t>
            </a:r>
            <a:endParaRPr lang="en-US" sz="1050" dirty="0"/>
          </a:p>
        </p:txBody>
      </p:sp>
      <p:sp>
        <p:nvSpPr>
          <p:cNvPr id="9" name="Shape 7"/>
          <p:cNvSpPr/>
          <p:nvPr/>
        </p:nvSpPr>
        <p:spPr>
          <a:xfrm>
            <a:off x="5639091" y="1719072"/>
            <a:ext cx="758952" cy="274320"/>
          </a:xfrm>
          <a:prstGeom prst="roundRect">
            <a:avLst>
              <a:gd name="adj" fmla="val 50000"/>
            </a:avLst>
          </a:prstGeom>
          <a:solidFill>
            <a:srgbClr val="DE9A2A"/>
          </a:solidFill>
          <a:ln/>
        </p:spPr>
        <p:txBody>
          <a:bodyPr/>
          <a:lstStyle/>
          <a:p>
            <a:endParaRPr lang="en-US"/>
          </a:p>
        </p:txBody>
      </p:sp>
      <p:sp>
        <p:nvSpPr>
          <p:cNvPr id="10" name="Text 8"/>
          <p:cNvSpPr/>
          <p:nvPr/>
        </p:nvSpPr>
        <p:spPr>
          <a:xfrm>
            <a:off x="5639091" y="1719072"/>
            <a:ext cx="758952"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DRAFT</a:t>
            </a:r>
            <a:endParaRPr lang="en-US" sz="950" dirty="0"/>
          </a:p>
        </p:txBody>
      </p:sp>
      <p:sp>
        <p:nvSpPr>
          <p:cNvPr id="11" name="Text 9"/>
          <p:cNvSpPr/>
          <p:nvPr/>
        </p:nvSpPr>
        <p:spPr>
          <a:xfrm>
            <a:off x="758952" y="2249424"/>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PATIENT</a:t>
            </a:r>
            <a:endParaRPr lang="en-US" sz="800" dirty="0"/>
          </a:p>
        </p:txBody>
      </p:sp>
      <p:sp>
        <p:nvSpPr>
          <p:cNvPr id="12" name="Text 10"/>
          <p:cNvSpPr/>
          <p:nvPr/>
        </p:nvSpPr>
        <p:spPr>
          <a:xfrm>
            <a:off x="758952" y="2423160"/>
            <a:ext cx="5584227" cy="274320"/>
          </a:xfrm>
          <a:prstGeom prst="rect">
            <a:avLst/>
          </a:prstGeom>
          <a:noFill/>
          <a:ln/>
        </p:spPr>
        <p:txBody>
          <a:bodyPr wrap="square" lIns="0" tIns="0" rIns="0" bIns="0" rtlCol="0" anchor="t"/>
          <a:lstStyle/>
          <a:p>
            <a:pPr marL="0" indent="0">
              <a:lnSpc>
                <a:spcPct val="120000"/>
              </a:lnSpc>
              <a:buNone/>
            </a:pPr>
            <a:r>
              <a:rPr lang="en-US" sz="1020" dirty="0">
                <a:solidFill>
                  <a:srgbClr val="1F2A37"/>
                </a:solidFill>
                <a:latin typeface="Calibri" pitchFamily="34" charset="0"/>
                <a:ea typeface="Calibri" pitchFamily="34" charset="-122"/>
                <a:cs typeface="Calibri" pitchFamily="34" charset="-120"/>
              </a:rPr>
              <a:t>MCS-RETINA-0004  —  Arsal Saeed  |  29 / Male</a:t>
            </a:r>
            <a:endParaRPr lang="en-US" sz="1020" dirty="0"/>
          </a:p>
        </p:txBody>
      </p:sp>
      <p:sp>
        <p:nvSpPr>
          <p:cNvPr id="13" name="Text 11"/>
          <p:cNvSpPr/>
          <p:nvPr/>
        </p:nvSpPr>
        <p:spPr>
          <a:xfrm>
            <a:off x="758952" y="2807208"/>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SCAN TYPE</a:t>
            </a:r>
            <a:endParaRPr lang="en-US" sz="800" dirty="0"/>
          </a:p>
        </p:txBody>
      </p:sp>
      <p:sp>
        <p:nvSpPr>
          <p:cNvPr id="14" name="Text 12"/>
          <p:cNvSpPr/>
          <p:nvPr/>
        </p:nvSpPr>
        <p:spPr>
          <a:xfrm>
            <a:off x="758952" y="2980944"/>
            <a:ext cx="5584227" cy="274320"/>
          </a:xfrm>
          <a:prstGeom prst="rect">
            <a:avLst/>
          </a:prstGeom>
          <a:noFill/>
          <a:ln/>
        </p:spPr>
        <p:txBody>
          <a:bodyPr wrap="square" lIns="0" tIns="0" rIns="0" bIns="0" rtlCol="0" anchor="t"/>
          <a:lstStyle/>
          <a:p>
            <a:pPr marL="0" indent="0">
              <a:lnSpc>
                <a:spcPct val="120000"/>
              </a:lnSpc>
              <a:buNone/>
            </a:pPr>
            <a:r>
              <a:rPr lang="en-US" sz="1020" dirty="0">
                <a:solidFill>
                  <a:srgbClr val="1F2A37"/>
                </a:solidFill>
                <a:latin typeface="Calibri" pitchFamily="34" charset="0"/>
                <a:ea typeface="Calibri" pitchFamily="34" charset="-122"/>
                <a:cs typeface="Calibri" pitchFamily="34" charset="-120"/>
              </a:rPr>
              <a:t>Retinal Fundus  |  Right Eye  |  7/23/2026</a:t>
            </a:r>
            <a:endParaRPr lang="en-US" sz="1020" dirty="0"/>
          </a:p>
        </p:txBody>
      </p:sp>
      <p:sp>
        <p:nvSpPr>
          <p:cNvPr id="15" name="Text 13"/>
          <p:cNvSpPr/>
          <p:nvPr/>
        </p:nvSpPr>
        <p:spPr>
          <a:xfrm>
            <a:off x="758952" y="3364992"/>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AI RESULT</a:t>
            </a:r>
            <a:endParaRPr lang="en-US" sz="800" dirty="0"/>
          </a:p>
        </p:txBody>
      </p:sp>
      <p:sp>
        <p:nvSpPr>
          <p:cNvPr id="16" name="Shape 14"/>
          <p:cNvSpPr/>
          <p:nvPr/>
        </p:nvSpPr>
        <p:spPr>
          <a:xfrm>
            <a:off x="758952" y="3547872"/>
            <a:ext cx="2743200" cy="301752"/>
          </a:xfrm>
          <a:prstGeom prst="roundRect">
            <a:avLst>
              <a:gd name="adj" fmla="val 50000"/>
            </a:avLst>
          </a:prstGeom>
          <a:solidFill>
            <a:srgbClr val="A13B26"/>
          </a:solidFill>
          <a:ln/>
        </p:spPr>
        <p:txBody>
          <a:bodyPr/>
          <a:lstStyle/>
          <a:p>
            <a:endParaRPr lang="en-US"/>
          </a:p>
        </p:txBody>
      </p:sp>
      <p:sp>
        <p:nvSpPr>
          <p:cNvPr id="17" name="Text 15"/>
          <p:cNvSpPr/>
          <p:nvPr/>
        </p:nvSpPr>
        <p:spPr>
          <a:xfrm>
            <a:off x="868680" y="3547872"/>
            <a:ext cx="2633472" cy="30175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PROLIFERATIVE_DR</a:t>
            </a:r>
            <a:endParaRPr lang="en-US" sz="1000" dirty="0"/>
          </a:p>
        </p:txBody>
      </p:sp>
      <p:sp>
        <p:nvSpPr>
          <p:cNvPr id="18" name="Text 16"/>
          <p:cNvSpPr/>
          <p:nvPr/>
        </p:nvSpPr>
        <p:spPr>
          <a:xfrm>
            <a:off x="3593592" y="3547872"/>
            <a:ext cx="2749587" cy="301752"/>
          </a:xfrm>
          <a:prstGeom prst="rect">
            <a:avLst/>
          </a:prstGeom>
          <a:noFill/>
          <a:ln/>
        </p:spPr>
        <p:txBody>
          <a:bodyPr wrap="square" lIns="0" tIns="0" rIns="0" bIns="0" rtlCol="0" anchor="ctr"/>
          <a:lstStyle/>
          <a:p>
            <a:pPr marL="0" indent="0">
              <a:buNone/>
            </a:pPr>
            <a:r>
              <a:rPr lang="en-US" sz="1020" b="1" dirty="0">
                <a:solidFill>
                  <a:srgbClr val="5B6B7C"/>
                </a:solidFill>
                <a:latin typeface="Calibri" pitchFamily="34" charset="0"/>
                <a:ea typeface="Calibri" pitchFamily="34" charset="-122"/>
                <a:cs typeface="Calibri" pitchFamily="34" charset="-120"/>
              </a:rPr>
              <a:t>Confidence 91%</a:t>
            </a:r>
            <a:endParaRPr lang="en-US" sz="1020" dirty="0"/>
          </a:p>
        </p:txBody>
      </p:sp>
      <p:sp>
        <p:nvSpPr>
          <p:cNvPr id="19" name="Text 17"/>
          <p:cNvSpPr/>
          <p:nvPr/>
        </p:nvSpPr>
        <p:spPr>
          <a:xfrm>
            <a:off x="758952" y="3977640"/>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FINDINGS</a:t>
            </a:r>
            <a:endParaRPr lang="en-US" sz="800" dirty="0"/>
          </a:p>
        </p:txBody>
      </p:sp>
      <p:sp>
        <p:nvSpPr>
          <p:cNvPr id="20" name="Text 18"/>
          <p:cNvSpPr/>
          <p:nvPr/>
        </p:nvSpPr>
        <p:spPr>
          <a:xfrm>
            <a:off x="758952" y="4151376"/>
            <a:ext cx="5584227" cy="512064"/>
          </a:xfrm>
          <a:prstGeom prst="rect">
            <a:avLst/>
          </a:prstGeom>
          <a:noFill/>
          <a:ln/>
        </p:spPr>
        <p:txBody>
          <a:bodyPr wrap="square" lIns="0" tIns="0" rIns="0" bIns="0" rtlCol="0" anchor="t"/>
          <a:lstStyle/>
          <a:p>
            <a:pPr marL="0" indent="0">
              <a:lnSpc>
                <a:spcPct val="120000"/>
              </a:lnSpc>
              <a:buNone/>
            </a:pPr>
            <a:r>
              <a:rPr lang="en-US" sz="960" dirty="0">
                <a:solidFill>
                  <a:srgbClr val="1F2A37"/>
                </a:solidFill>
                <a:latin typeface="Calibri" pitchFamily="34" charset="0"/>
                <a:ea typeface="Calibri" pitchFamily="34" charset="-122"/>
                <a:cs typeface="Calibri" pitchFamily="34" charset="-120"/>
              </a:rPr>
              <a:t>Combined fundus screening shows features concerning for proliferative diabetic retinopathy. Glaucoma and hypertensive retinopathy outputs should be reviewed in the result summary.</a:t>
            </a:r>
            <a:endParaRPr lang="en-US" sz="960" dirty="0"/>
          </a:p>
        </p:txBody>
      </p:sp>
      <p:sp>
        <p:nvSpPr>
          <p:cNvPr id="21" name="Text 19"/>
          <p:cNvSpPr/>
          <p:nvPr/>
        </p:nvSpPr>
        <p:spPr>
          <a:xfrm>
            <a:off x="758952" y="4773168"/>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IMPRESSION</a:t>
            </a:r>
            <a:endParaRPr lang="en-US" sz="800" dirty="0"/>
          </a:p>
        </p:txBody>
      </p:sp>
      <p:sp>
        <p:nvSpPr>
          <p:cNvPr id="22" name="Text 20"/>
          <p:cNvSpPr/>
          <p:nvPr/>
        </p:nvSpPr>
        <p:spPr>
          <a:xfrm>
            <a:off x="758952" y="4946904"/>
            <a:ext cx="5584227" cy="274320"/>
          </a:xfrm>
          <a:prstGeom prst="rect">
            <a:avLst/>
          </a:prstGeom>
          <a:noFill/>
          <a:ln/>
        </p:spPr>
        <p:txBody>
          <a:bodyPr wrap="square" lIns="0" tIns="0" rIns="0" bIns="0" rtlCol="0" anchor="t"/>
          <a:lstStyle/>
          <a:p>
            <a:pPr marL="0" indent="0">
              <a:lnSpc>
                <a:spcPct val="120000"/>
              </a:lnSpc>
              <a:buNone/>
            </a:pPr>
            <a:r>
              <a:rPr lang="en-US" sz="960" dirty="0">
                <a:solidFill>
                  <a:srgbClr val="1F2A37"/>
                </a:solidFill>
                <a:latin typeface="Calibri" pitchFamily="34" charset="0"/>
                <a:ea typeface="Calibri" pitchFamily="34" charset="-122"/>
                <a:cs typeface="Calibri" pitchFamily="34" charset="-120"/>
              </a:rPr>
              <a:t>Fundus screening suggests proliferative diabetic retinopathy.</a:t>
            </a:r>
            <a:endParaRPr lang="en-US" sz="960" dirty="0"/>
          </a:p>
        </p:txBody>
      </p:sp>
      <p:sp>
        <p:nvSpPr>
          <p:cNvPr id="23" name="Text 21"/>
          <p:cNvSpPr/>
          <p:nvPr/>
        </p:nvSpPr>
        <p:spPr>
          <a:xfrm>
            <a:off x="758952" y="5330952"/>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RECOMMENDATION</a:t>
            </a:r>
            <a:endParaRPr lang="en-US" sz="800" dirty="0"/>
          </a:p>
        </p:txBody>
      </p:sp>
      <p:sp>
        <p:nvSpPr>
          <p:cNvPr id="24" name="Text 22"/>
          <p:cNvSpPr/>
          <p:nvPr/>
        </p:nvSpPr>
        <p:spPr>
          <a:xfrm>
            <a:off x="758952" y="5504688"/>
            <a:ext cx="5584227" cy="365760"/>
          </a:xfrm>
          <a:prstGeom prst="rect">
            <a:avLst/>
          </a:prstGeom>
          <a:noFill/>
          <a:ln/>
        </p:spPr>
        <p:txBody>
          <a:bodyPr wrap="square" lIns="0" tIns="0" rIns="0" bIns="0" rtlCol="0" anchor="t"/>
          <a:lstStyle/>
          <a:p>
            <a:pPr marL="0" indent="0">
              <a:lnSpc>
                <a:spcPct val="120000"/>
              </a:lnSpc>
              <a:buNone/>
            </a:pPr>
            <a:r>
              <a:rPr lang="en-US" sz="960" dirty="0">
                <a:solidFill>
                  <a:srgbClr val="1F2A37"/>
                </a:solidFill>
                <a:latin typeface="Calibri" pitchFamily="34" charset="0"/>
                <a:ea typeface="Calibri" pitchFamily="34" charset="-122"/>
                <a:cs typeface="Calibri" pitchFamily="34" charset="-120"/>
              </a:rPr>
              <a:t>Emergency / urgent retinal specialist review advised after clinician confirmation.</a:t>
            </a:r>
            <a:endParaRPr lang="en-US" sz="960" dirty="0"/>
          </a:p>
        </p:txBody>
      </p:sp>
      <p:sp>
        <p:nvSpPr>
          <p:cNvPr id="25" name="Text 23"/>
          <p:cNvSpPr/>
          <p:nvPr/>
        </p:nvSpPr>
        <p:spPr>
          <a:xfrm>
            <a:off x="758952" y="5980176"/>
            <a:ext cx="5584227" cy="182880"/>
          </a:xfrm>
          <a:prstGeom prst="rect">
            <a:avLst/>
          </a:prstGeom>
          <a:noFill/>
          <a:ln/>
        </p:spPr>
        <p:txBody>
          <a:bodyPr wrap="square" lIns="0" tIns="0" rIns="0" bIns="0" rtlCol="0" anchor="ctr"/>
          <a:lstStyle/>
          <a:p>
            <a:pPr marL="0" indent="0">
              <a:buNone/>
            </a:pPr>
            <a:r>
              <a:rPr lang="en-US" sz="800" b="1" kern="0" spc="100" dirty="0">
                <a:solidFill>
                  <a:srgbClr val="0B7F7B"/>
                </a:solidFill>
                <a:latin typeface="Calibri" pitchFamily="34" charset="0"/>
                <a:ea typeface="Calibri" pitchFamily="34" charset="-122"/>
                <a:cs typeface="Calibri" pitchFamily="34" charset="-120"/>
              </a:rPr>
              <a:t>DOCTOR NOTES</a:t>
            </a:r>
            <a:endParaRPr lang="en-US" sz="800" dirty="0"/>
          </a:p>
        </p:txBody>
      </p:sp>
      <p:sp>
        <p:nvSpPr>
          <p:cNvPr id="26" name="Text 24"/>
          <p:cNvSpPr/>
          <p:nvPr/>
        </p:nvSpPr>
        <p:spPr>
          <a:xfrm>
            <a:off x="758952" y="6153912"/>
            <a:ext cx="5584227" cy="219456"/>
          </a:xfrm>
          <a:prstGeom prst="rect">
            <a:avLst/>
          </a:prstGeom>
          <a:noFill/>
          <a:ln/>
        </p:spPr>
        <p:txBody>
          <a:bodyPr wrap="square" lIns="0" tIns="0" rIns="0" bIns="0" rtlCol="0" anchor="t"/>
          <a:lstStyle/>
          <a:p>
            <a:pPr marL="0" indent="0">
              <a:lnSpc>
                <a:spcPct val="120000"/>
              </a:lnSpc>
              <a:buNone/>
            </a:pPr>
            <a:r>
              <a:rPr lang="en-US" sz="960" i="1" dirty="0">
                <a:solidFill>
                  <a:srgbClr val="8B98A6"/>
                </a:solidFill>
                <a:latin typeface="Calibri" pitchFamily="34" charset="0"/>
                <a:ea typeface="Calibri" pitchFamily="34" charset="-122"/>
                <a:cs typeface="Calibri" pitchFamily="34" charset="-120"/>
              </a:rPr>
              <a:t>[ Editable by attending physician ]</a:t>
            </a:r>
            <a:endParaRPr lang="en-US" sz="960" dirty="0"/>
          </a:p>
        </p:txBody>
      </p:sp>
      <p:sp>
        <p:nvSpPr>
          <p:cNvPr id="27" name="Shape 25"/>
          <p:cNvSpPr/>
          <p:nvPr/>
        </p:nvSpPr>
        <p:spPr>
          <a:xfrm>
            <a:off x="758952" y="6483096"/>
            <a:ext cx="3238852" cy="329184"/>
          </a:xfrm>
          <a:prstGeom prst="roundRect">
            <a:avLst>
              <a:gd name="adj" fmla="val 16667"/>
            </a:avLst>
          </a:prstGeom>
          <a:solidFill>
            <a:srgbClr val="F4F7FA"/>
          </a:solidFill>
          <a:ln w="12700">
            <a:solidFill>
              <a:srgbClr val="E1E7EE"/>
            </a:solidFill>
            <a:prstDash val="solid"/>
          </a:ln>
        </p:spPr>
        <p:txBody>
          <a:bodyPr/>
          <a:lstStyle/>
          <a:p>
            <a:endParaRPr lang="en-US"/>
          </a:p>
        </p:txBody>
      </p:sp>
      <p:sp>
        <p:nvSpPr>
          <p:cNvPr id="28" name="Text 26"/>
          <p:cNvSpPr/>
          <p:nvPr/>
        </p:nvSpPr>
        <p:spPr>
          <a:xfrm>
            <a:off x="868680" y="6483096"/>
            <a:ext cx="3055972" cy="329184"/>
          </a:xfrm>
          <a:prstGeom prst="rect">
            <a:avLst/>
          </a:prstGeom>
          <a:noFill/>
          <a:ln/>
        </p:spPr>
        <p:txBody>
          <a:bodyPr wrap="square" lIns="0" tIns="0" rIns="0" bIns="0" rtlCol="0" anchor="ctr"/>
          <a:lstStyle/>
          <a:p>
            <a:pPr marL="0" indent="0">
              <a:buNone/>
            </a:pPr>
            <a:r>
              <a:rPr lang="en-US" sz="960" dirty="0">
                <a:solidFill>
                  <a:srgbClr val="1F2A37"/>
                </a:solidFill>
                <a:latin typeface="Calibri" pitchFamily="34" charset="0"/>
                <a:ea typeface="Calibri" pitchFamily="34" charset="-122"/>
                <a:cs typeface="Calibri" pitchFamily="34" charset="-120"/>
              </a:rPr>
              <a:t>Needs clinical correlation   ▾</a:t>
            </a:r>
            <a:endParaRPr lang="en-US" sz="960" dirty="0"/>
          </a:p>
        </p:txBody>
      </p:sp>
      <p:sp>
        <p:nvSpPr>
          <p:cNvPr id="29" name="Shape 27"/>
          <p:cNvSpPr/>
          <p:nvPr/>
        </p:nvSpPr>
        <p:spPr>
          <a:xfrm>
            <a:off x="4221173" y="6483096"/>
            <a:ext cx="2122006" cy="329184"/>
          </a:xfrm>
          <a:prstGeom prst="roundRect">
            <a:avLst>
              <a:gd name="adj" fmla="val 16667"/>
            </a:avLst>
          </a:prstGeom>
          <a:solidFill>
            <a:srgbClr val="18A99B"/>
          </a:solidFill>
          <a:ln/>
        </p:spPr>
        <p:txBody>
          <a:bodyPr/>
          <a:lstStyle/>
          <a:p>
            <a:endParaRPr lang="en-US"/>
          </a:p>
        </p:txBody>
      </p:sp>
      <p:pic>
        <p:nvPicPr>
          <p:cNvPr id="30" name="Image 0" descr="/home/claude/work/assets/icons/download-white.png"/>
          <p:cNvPicPr>
            <a:picLocks noChangeAspect="1"/>
          </p:cNvPicPr>
          <p:nvPr/>
        </p:nvPicPr>
        <p:blipFill>
          <a:blip r:embed="rId3"/>
          <a:stretch>
            <a:fillRect/>
          </a:stretch>
        </p:blipFill>
        <p:spPr>
          <a:xfrm>
            <a:off x="4330901" y="6556248"/>
            <a:ext cx="182880" cy="182880"/>
          </a:xfrm>
          <a:prstGeom prst="rect">
            <a:avLst/>
          </a:prstGeom>
        </p:spPr>
      </p:pic>
      <p:sp>
        <p:nvSpPr>
          <p:cNvPr id="31" name="Text 28"/>
          <p:cNvSpPr/>
          <p:nvPr/>
        </p:nvSpPr>
        <p:spPr>
          <a:xfrm>
            <a:off x="4550357" y="6483096"/>
            <a:ext cx="1756246" cy="329184"/>
          </a:xfrm>
          <a:prstGeom prst="rect">
            <a:avLst/>
          </a:prstGeom>
          <a:noFill/>
          <a:ln/>
        </p:spPr>
        <p:txBody>
          <a:bodyPr wrap="square" lIns="0" tIns="0" rIns="0" bIns="0" rtlCol="0" anchor="ctr"/>
          <a:lstStyle/>
          <a:p>
            <a:pPr marL="0" indent="0">
              <a:buNone/>
            </a:pPr>
            <a:r>
              <a:rPr lang="en-US" sz="960" b="1" dirty="0">
                <a:solidFill>
                  <a:srgbClr val="FFFFFF"/>
                </a:solidFill>
                <a:latin typeface="Calibri" pitchFamily="34" charset="0"/>
                <a:ea typeface="Calibri" pitchFamily="34" charset="-122"/>
                <a:cs typeface="Calibri" pitchFamily="34" charset="-120"/>
              </a:rPr>
              <a:t>Download PDF</a:t>
            </a:r>
            <a:endParaRPr lang="en-US" sz="960" dirty="0"/>
          </a:p>
        </p:txBody>
      </p:sp>
      <p:sp>
        <p:nvSpPr>
          <p:cNvPr id="32" name="Shape 29"/>
          <p:cNvSpPr/>
          <p:nvPr/>
        </p:nvSpPr>
        <p:spPr>
          <a:xfrm>
            <a:off x="6910107" y="1627632"/>
            <a:ext cx="475488" cy="475488"/>
          </a:xfrm>
          <a:prstGeom prst="ellipse">
            <a:avLst/>
          </a:prstGeom>
          <a:solidFill>
            <a:srgbClr val="0B7F7B"/>
          </a:solidFill>
          <a:ln/>
        </p:spPr>
        <p:txBody>
          <a:bodyPr/>
          <a:lstStyle/>
          <a:p>
            <a:endParaRPr lang="en-US"/>
          </a:p>
        </p:txBody>
      </p:sp>
      <p:pic>
        <p:nvPicPr>
          <p:cNvPr id="33" name="Image 1" descr="/home/claude/work/assets/icons/zap-white.png"/>
          <p:cNvPicPr>
            <a:picLocks noChangeAspect="1"/>
          </p:cNvPicPr>
          <p:nvPr/>
        </p:nvPicPr>
        <p:blipFill>
          <a:blip r:embed="rId4"/>
          <a:stretch>
            <a:fillRect/>
          </a:stretch>
        </p:blipFill>
        <p:spPr>
          <a:xfrm>
            <a:off x="7028979" y="1746504"/>
            <a:ext cx="237744" cy="237744"/>
          </a:xfrm>
          <a:prstGeom prst="rect">
            <a:avLst/>
          </a:prstGeom>
        </p:spPr>
      </p:pic>
      <p:sp>
        <p:nvSpPr>
          <p:cNvPr id="34" name="Text 30"/>
          <p:cNvSpPr/>
          <p:nvPr/>
        </p:nvSpPr>
        <p:spPr>
          <a:xfrm>
            <a:off x="7531899" y="1600200"/>
            <a:ext cx="4156876" cy="310896"/>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Zero Writing From Scratch</a:t>
            </a:r>
            <a:endParaRPr lang="en-US" sz="1350" dirty="0"/>
          </a:p>
        </p:txBody>
      </p:sp>
      <p:sp>
        <p:nvSpPr>
          <p:cNvPr id="35" name="Text 31"/>
          <p:cNvSpPr/>
          <p:nvPr/>
        </p:nvSpPr>
        <p:spPr>
          <a:xfrm>
            <a:off x="7531899" y="1920240"/>
            <a:ext cx="4156876" cy="678942"/>
          </a:xfrm>
          <a:prstGeom prst="rect">
            <a:avLst/>
          </a:prstGeom>
          <a:noFill/>
          <a:ln/>
        </p:spPr>
        <p:txBody>
          <a:bodyPr wrap="square" lIns="0" tIns="0" rIns="0" bIns="0" rtlCol="0" anchor="t"/>
          <a:lstStyle/>
          <a:p>
            <a:pPr marL="0" indent="0">
              <a:lnSpc>
                <a:spcPct val="124000"/>
              </a:lnSpc>
              <a:buNone/>
            </a:pPr>
            <a:r>
              <a:rPr lang="en-US" sz="1020" dirty="0">
                <a:solidFill>
                  <a:srgbClr val="5B6B7C"/>
                </a:solidFill>
                <a:latin typeface="Calibri" pitchFamily="34" charset="0"/>
                <a:ea typeface="Calibri" pitchFamily="34" charset="-122"/>
                <a:cs typeface="Calibri" pitchFamily="34" charset="-120"/>
              </a:rPr>
              <a:t>The draft report auto-populates with AI result, findings, impression, and recommendation. Doctor edits, not writes.</a:t>
            </a:r>
            <a:endParaRPr lang="en-US" sz="1020" dirty="0"/>
          </a:p>
        </p:txBody>
      </p:sp>
      <p:sp>
        <p:nvSpPr>
          <p:cNvPr id="36" name="Shape 32"/>
          <p:cNvSpPr/>
          <p:nvPr/>
        </p:nvSpPr>
        <p:spPr>
          <a:xfrm>
            <a:off x="6910107" y="2855214"/>
            <a:ext cx="475488" cy="475488"/>
          </a:xfrm>
          <a:prstGeom prst="ellipse">
            <a:avLst/>
          </a:prstGeom>
          <a:solidFill>
            <a:srgbClr val="16324F"/>
          </a:solidFill>
          <a:ln/>
        </p:spPr>
        <p:txBody>
          <a:bodyPr/>
          <a:lstStyle/>
          <a:p>
            <a:endParaRPr lang="en-US"/>
          </a:p>
        </p:txBody>
      </p:sp>
      <p:pic>
        <p:nvPicPr>
          <p:cNvPr id="37" name="Image 2" descr="/home/claude/work/assets/icons/clipboard-list-white.png"/>
          <p:cNvPicPr>
            <a:picLocks noChangeAspect="1"/>
          </p:cNvPicPr>
          <p:nvPr/>
        </p:nvPicPr>
        <p:blipFill>
          <a:blip r:embed="rId5"/>
          <a:stretch>
            <a:fillRect/>
          </a:stretch>
        </p:blipFill>
        <p:spPr>
          <a:xfrm>
            <a:off x="7028979" y="2974086"/>
            <a:ext cx="237744" cy="237744"/>
          </a:xfrm>
          <a:prstGeom prst="rect">
            <a:avLst/>
          </a:prstGeom>
        </p:spPr>
      </p:pic>
      <p:sp>
        <p:nvSpPr>
          <p:cNvPr id="38" name="Text 33"/>
          <p:cNvSpPr/>
          <p:nvPr/>
        </p:nvSpPr>
        <p:spPr>
          <a:xfrm>
            <a:off x="7531899" y="2827782"/>
            <a:ext cx="4156876" cy="310896"/>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Structured &amp; Consistent</a:t>
            </a:r>
            <a:endParaRPr lang="en-US" sz="1350" dirty="0"/>
          </a:p>
        </p:txBody>
      </p:sp>
      <p:sp>
        <p:nvSpPr>
          <p:cNvPr id="39" name="Text 34"/>
          <p:cNvSpPr/>
          <p:nvPr/>
        </p:nvSpPr>
        <p:spPr>
          <a:xfrm>
            <a:off x="7531899" y="3147822"/>
            <a:ext cx="4156876" cy="678942"/>
          </a:xfrm>
          <a:prstGeom prst="rect">
            <a:avLst/>
          </a:prstGeom>
          <a:noFill/>
          <a:ln/>
        </p:spPr>
        <p:txBody>
          <a:bodyPr wrap="square" lIns="0" tIns="0" rIns="0" bIns="0" rtlCol="0" anchor="t"/>
          <a:lstStyle/>
          <a:p>
            <a:pPr marL="0" indent="0">
              <a:lnSpc>
                <a:spcPct val="124000"/>
              </a:lnSpc>
              <a:buNone/>
            </a:pPr>
            <a:r>
              <a:rPr lang="en-US" sz="1020" dirty="0">
                <a:solidFill>
                  <a:srgbClr val="5B6B7C"/>
                </a:solidFill>
                <a:latin typeface="Calibri" pitchFamily="34" charset="0"/>
                <a:ea typeface="Calibri" pitchFamily="34" charset="-122"/>
                <a:cs typeface="Calibri" pitchFamily="34" charset="-120"/>
              </a:rPr>
              <a:t>All reports follow the same clinical format — easier follow-up, audit, and patient history review.</a:t>
            </a:r>
            <a:endParaRPr lang="en-US" sz="1020" dirty="0"/>
          </a:p>
        </p:txBody>
      </p:sp>
      <p:sp>
        <p:nvSpPr>
          <p:cNvPr id="40" name="Shape 35"/>
          <p:cNvSpPr/>
          <p:nvPr/>
        </p:nvSpPr>
        <p:spPr>
          <a:xfrm>
            <a:off x="6910107" y="4082796"/>
            <a:ext cx="475488" cy="475488"/>
          </a:xfrm>
          <a:prstGeom prst="ellipse">
            <a:avLst/>
          </a:prstGeom>
          <a:solidFill>
            <a:srgbClr val="2F9E63"/>
          </a:solidFill>
          <a:ln/>
        </p:spPr>
        <p:txBody>
          <a:bodyPr/>
          <a:lstStyle/>
          <a:p>
            <a:endParaRPr lang="en-US"/>
          </a:p>
        </p:txBody>
      </p:sp>
      <p:pic>
        <p:nvPicPr>
          <p:cNvPr id="41" name="Image 3" descr="/home/claude/work/assets/icons/clipboard-check-white.png"/>
          <p:cNvPicPr>
            <a:picLocks noChangeAspect="1"/>
          </p:cNvPicPr>
          <p:nvPr/>
        </p:nvPicPr>
        <p:blipFill>
          <a:blip r:embed="rId6"/>
          <a:stretch>
            <a:fillRect/>
          </a:stretch>
        </p:blipFill>
        <p:spPr>
          <a:xfrm>
            <a:off x="7028979" y="4201668"/>
            <a:ext cx="237744" cy="237744"/>
          </a:xfrm>
          <a:prstGeom prst="rect">
            <a:avLst/>
          </a:prstGeom>
        </p:spPr>
      </p:pic>
      <p:sp>
        <p:nvSpPr>
          <p:cNvPr id="42" name="Text 36"/>
          <p:cNvSpPr/>
          <p:nvPr/>
        </p:nvSpPr>
        <p:spPr>
          <a:xfrm>
            <a:off x="7531899" y="4055364"/>
            <a:ext cx="4156876" cy="310896"/>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Doctor Has Final Say</a:t>
            </a:r>
            <a:endParaRPr lang="en-US" sz="1350" dirty="0"/>
          </a:p>
        </p:txBody>
      </p:sp>
      <p:sp>
        <p:nvSpPr>
          <p:cNvPr id="43" name="Text 37"/>
          <p:cNvSpPr/>
          <p:nvPr/>
        </p:nvSpPr>
        <p:spPr>
          <a:xfrm>
            <a:off x="7531899" y="4375404"/>
            <a:ext cx="4156876" cy="678942"/>
          </a:xfrm>
          <a:prstGeom prst="rect">
            <a:avLst/>
          </a:prstGeom>
          <a:noFill/>
          <a:ln/>
        </p:spPr>
        <p:txBody>
          <a:bodyPr wrap="square" lIns="0" tIns="0" rIns="0" bIns="0" rtlCol="0" anchor="t"/>
          <a:lstStyle/>
          <a:p>
            <a:pPr marL="0" indent="0">
              <a:lnSpc>
                <a:spcPct val="124000"/>
              </a:lnSpc>
              <a:buNone/>
            </a:pPr>
            <a:r>
              <a:rPr lang="en-US" sz="1020" dirty="0">
                <a:solidFill>
                  <a:srgbClr val="5B6B7C"/>
                </a:solidFill>
                <a:latin typeface="Calibri" pitchFamily="34" charset="0"/>
                <a:ea typeface="Calibri" pitchFamily="34" charset="-122"/>
                <a:cs typeface="Calibri" pitchFamily="34" charset="-120"/>
              </a:rPr>
              <a:t>Every field is fully editable. Only a doctor can mark a report as Approved. Draft watermarks remain until then.</a:t>
            </a:r>
            <a:endParaRPr lang="en-US" sz="1020" dirty="0"/>
          </a:p>
        </p:txBody>
      </p:sp>
      <p:sp>
        <p:nvSpPr>
          <p:cNvPr id="44" name="Shape 38"/>
          <p:cNvSpPr/>
          <p:nvPr/>
        </p:nvSpPr>
        <p:spPr>
          <a:xfrm>
            <a:off x="6910107" y="5310378"/>
            <a:ext cx="475488" cy="475488"/>
          </a:xfrm>
          <a:prstGeom prst="ellipse">
            <a:avLst/>
          </a:prstGeom>
          <a:solidFill>
            <a:srgbClr val="DE9A2A"/>
          </a:solidFill>
          <a:ln/>
        </p:spPr>
        <p:txBody>
          <a:bodyPr/>
          <a:lstStyle/>
          <a:p>
            <a:endParaRPr lang="en-US"/>
          </a:p>
        </p:txBody>
      </p:sp>
      <p:pic>
        <p:nvPicPr>
          <p:cNvPr id="45" name="Image 4" descr="/home/claude/work/assets/icons/download-white.png"/>
          <p:cNvPicPr>
            <a:picLocks noChangeAspect="1"/>
          </p:cNvPicPr>
          <p:nvPr/>
        </p:nvPicPr>
        <p:blipFill>
          <a:blip r:embed="rId3"/>
          <a:stretch>
            <a:fillRect/>
          </a:stretch>
        </p:blipFill>
        <p:spPr>
          <a:xfrm>
            <a:off x="7028979" y="5429250"/>
            <a:ext cx="237744" cy="237744"/>
          </a:xfrm>
          <a:prstGeom prst="rect">
            <a:avLst/>
          </a:prstGeom>
        </p:spPr>
      </p:pic>
      <p:sp>
        <p:nvSpPr>
          <p:cNvPr id="46" name="Text 39"/>
          <p:cNvSpPr/>
          <p:nvPr/>
        </p:nvSpPr>
        <p:spPr>
          <a:xfrm>
            <a:off x="7531899" y="5282946"/>
            <a:ext cx="4156876" cy="310896"/>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Download &amp; Archive</a:t>
            </a:r>
            <a:endParaRPr lang="en-US" sz="1350" dirty="0"/>
          </a:p>
        </p:txBody>
      </p:sp>
      <p:sp>
        <p:nvSpPr>
          <p:cNvPr id="47" name="Text 40"/>
          <p:cNvSpPr/>
          <p:nvPr/>
        </p:nvSpPr>
        <p:spPr>
          <a:xfrm>
            <a:off x="7531899" y="5602986"/>
            <a:ext cx="4156876" cy="678942"/>
          </a:xfrm>
          <a:prstGeom prst="rect">
            <a:avLst/>
          </a:prstGeom>
          <a:noFill/>
          <a:ln/>
        </p:spPr>
        <p:txBody>
          <a:bodyPr wrap="square" lIns="0" tIns="0" rIns="0" bIns="0" rtlCol="0" anchor="t"/>
          <a:lstStyle/>
          <a:p>
            <a:pPr marL="0" indent="0">
              <a:lnSpc>
                <a:spcPct val="124000"/>
              </a:lnSpc>
              <a:buNone/>
            </a:pPr>
            <a:r>
              <a:rPr lang="en-US" sz="1020" dirty="0">
                <a:solidFill>
                  <a:srgbClr val="5B6B7C"/>
                </a:solidFill>
                <a:latin typeface="Calibri" pitchFamily="34" charset="0"/>
                <a:ea typeface="Calibri" pitchFamily="34" charset="-122"/>
                <a:cs typeface="Calibri" pitchFamily="34" charset="-120"/>
              </a:rPr>
              <a:t>Reports export as PDF with Grad-CAM heatmap embedded. Patient access code for secure lookup.</a:t>
            </a:r>
            <a:endParaRPr lang="en-US" sz="1020" dirty="0"/>
          </a:p>
        </p:txBody>
      </p:sp>
      <p:sp>
        <p:nvSpPr>
          <p:cNvPr id="48" name="Text 41"/>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49" name="Text 42"/>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07</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CORNEAL MODULES</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300" b="1" dirty="0">
                <a:solidFill>
                  <a:srgbClr val="16324F"/>
                </a:solidFill>
                <a:latin typeface="Cambria" pitchFamily="34" charset="0"/>
                <a:ea typeface="Cambria" pitchFamily="34" charset="-122"/>
                <a:cs typeface="Cambria" pitchFamily="34" charset="-120"/>
              </a:rPr>
              <a:t>Beyond the retina — corneal disease screening and ulcer triage.</a:t>
            </a:r>
            <a:endParaRPr lang="en-US" sz="2300" dirty="0"/>
          </a:p>
        </p:txBody>
      </p:sp>
      <p:sp>
        <p:nvSpPr>
          <p:cNvPr id="5" name="Shape 3"/>
          <p:cNvSpPr/>
          <p:nvPr/>
        </p:nvSpPr>
        <p:spPr>
          <a:xfrm>
            <a:off x="502920" y="1627632"/>
            <a:ext cx="5446624" cy="4636008"/>
          </a:xfrm>
          <a:prstGeom prst="roundRect">
            <a:avLst>
              <a:gd name="adj" fmla="val 1775"/>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722376" y="1828800"/>
            <a:ext cx="713232" cy="713232"/>
          </a:xfrm>
          <a:prstGeom prst="roundRect">
            <a:avLst>
              <a:gd name="adj" fmla="val 10256"/>
            </a:avLst>
          </a:prstGeom>
          <a:solidFill>
            <a:srgbClr val="F4F7FA"/>
          </a:solidFill>
          <a:ln w="12700">
            <a:solidFill>
              <a:srgbClr val="E1E7EE"/>
            </a:solidFill>
            <a:prstDash val="solid"/>
          </a:ln>
        </p:spPr>
        <p:txBody>
          <a:bodyPr/>
          <a:lstStyle/>
          <a:p>
            <a:endParaRPr lang="en-US"/>
          </a:p>
        </p:txBody>
      </p:sp>
      <p:pic>
        <p:nvPicPr>
          <p:cNvPr id="7" name="Image 0" descr="/home/claude/work/assets/slit_lamp_eye.png"/>
          <p:cNvPicPr>
            <a:picLocks noChangeAspect="1"/>
          </p:cNvPicPr>
          <p:nvPr/>
        </p:nvPicPr>
        <p:blipFill>
          <a:blip r:embed="rId3"/>
          <a:srcRect/>
          <a:stretch/>
        </p:blipFill>
        <p:spPr>
          <a:xfrm>
            <a:off x="777240" y="1883664"/>
            <a:ext cx="603504" cy="603504"/>
          </a:xfrm>
          <a:prstGeom prst="ellipse">
            <a:avLst/>
          </a:prstGeom>
        </p:spPr>
      </p:pic>
      <p:sp>
        <p:nvSpPr>
          <p:cNvPr id="8" name="Text 5"/>
          <p:cNvSpPr/>
          <p:nvPr/>
        </p:nvSpPr>
        <p:spPr>
          <a:xfrm>
            <a:off x="1618488" y="1828800"/>
            <a:ext cx="3919576" cy="457200"/>
          </a:xfrm>
          <a:prstGeom prst="rect">
            <a:avLst/>
          </a:prstGeom>
          <a:noFill/>
          <a:ln/>
        </p:spPr>
        <p:txBody>
          <a:bodyPr wrap="square" lIns="0" tIns="0" rIns="0" bIns="0" rtlCol="0" anchor="t"/>
          <a:lstStyle/>
          <a:p>
            <a:pPr marL="0" indent="0">
              <a:lnSpc>
                <a:spcPct val="105000"/>
              </a:lnSpc>
              <a:buNone/>
            </a:pPr>
            <a:r>
              <a:rPr lang="en-US" sz="1550" b="1" dirty="0">
                <a:solidFill>
                  <a:srgbClr val="16324F"/>
                </a:solidFill>
                <a:latin typeface="Cambria" pitchFamily="34" charset="0"/>
                <a:ea typeface="Cambria" pitchFamily="34" charset="-122"/>
                <a:cs typeface="Cambria" pitchFamily="34" charset="-120"/>
              </a:rPr>
              <a:t>Corneal Ulcer Screening</a:t>
            </a:r>
            <a:endParaRPr lang="en-US" sz="1550" dirty="0"/>
          </a:p>
        </p:txBody>
      </p:sp>
      <p:sp>
        <p:nvSpPr>
          <p:cNvPr id="9" name="Shape 6"/>
          <p:cNvSpPr/>
          <p:nvPr/>
        </p:nvSpPr>
        <p:spPr>
          <a:xfrm>
            <a:off x="5126584" y="2304288"/>
            <a:ext cx="621792" cy="274320"/>
          </a:xfrm>
          <a:prstGeom prst="roundRect">
            <a:avLst>
              <a:gd name="adj" fmla="val 50000"/>
            </a:avLst>
          </a:prstGeom>
          <a:solidFill>
            <a:srgbClr val="C0392B"/>
          </a:solidFill>
          <a:ln/>
        </p:spPr>
        <p:txBody>
          <a:bodyPr/>
          <a:lstStyle/>
          <a:p>
            <a:endParaRPr lang="en-US"/>
          </a:p>
        </p:txBody>
      </p:sp>
      <p:sp>
        <p:nvSpPr>
          <p:cNvPr id="10" name="Text 7"/>
          <p:cNvSpPr/>
          <p:nvPr/>
        </p:nvSpPr>
        <p:spPr>
          <a:xfrm>
            <a:off x="5126584" y="2304288"/>
            <a:ext cx="621792"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NEW</a:t>
            </a:r>
            <a:endParaRPr lang="en-US" sz="950" dirty="0"/>
          </a:p>
        </p:txBody>
      </p:sp>
      <p:sp>
        <p:nvSpPr>
          <p:cNvPr id="11" name="Text 8"/>
          <p:cNvSpPr/>
          <p:nvPr/>
        </p:nvSpPr>
        <p:spPr>
          <a:xfrm>
            <a:off x="722376" y="2706624"/>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TARGET CONDITION</a:t>
            </a:r>
            <a:endParaRPr lang="en-US" sz="860" dirty="0"/>
          </a:p>
        </p:txBody>
      </p:sp>
      <p:sp>
        <p:nvSpPr>
          <p:cNvPr id="12" name="Text 9"/>
          <p:cNvSpPr/>
          <p:nvPr/>
        </p:nvSpPr>
        <p:spPr>
          <a:xfrm>
            <a:off x="722376" y="2889504"/>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Corneal ulcer patterns — infectious, traumatic, contact-lens related, dry eye complications</a:t>
            </a:r>
            <a:endParaRPr lang="en-US" sz="990" dirty="0"/>
          </a:p>
        </p:txBody>
      </p:sp>
      <p:sp>
        <p:nvSpPr>
          <p:cNvPr id="13" name="Shape 10"/>
          <p:cNvSpPr/>
          <p:nvPr/>
        </p:nvSpPr>
        <p:spPr>
          <a:xfrm>
            <a:off x="502920" y="3244596"/>
            <a:ext cx="5446624" cy="565404"/>
          </a:xfrm>
          <a:prstGeom prst="rect">
            <a:avLst/>
          </a:prstGeom>
          <a:solidFill>
            <a:srgbClr val="EEF2F6"/>
          </a:solidFill>
          <a:ln/>
        </p:spPr>
        <p:txBody>
          <a:bodyPr/>
          <a:lstStyle/>
          <a:p>
            <a:endParaRPr lang="en-US"/>
          </a:p>
        </p:txBody>
      </p:sp>
      <p:sp>
        <p:nvSpPr>
          <p:cNvPr id="14" name="Text 11"/>
          <p:cNvSpPr/>
          <p:nvPr/>
        </p:nvSpPr>
        <p:spPr>
          <a:xfrm>
            <a:off x="722376" y="3272028"/>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INPUT</a:t>
            </a:r>
            <a:endParaRPr lang="en-US" sz="860" dirty="0"/>
          </a:p>
        </p:txBody>
      </p:sp>
      <p:sp>
        <p:nvSpPr>
          <p:cNvPr id="15" name="Text 12"/>
          <p:cNvSpPr/>
          <p:nvPr/>
        </p:nvSpPr>
        <p:spPr>
          <a:xfrm>
            <a:off x="722376" y="3454908"/>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Slit-lamp anterior segment photographs</a:t>
            </a:r>
            <a:endParaRPr lang="en-US" sz="990" dirty="0"/>
          </a:p>
        </p:txBody>
      </p:sp>
      <p:sp>
        <p:nvSpPr>
          <p:cNvPr id="16" name="Text 13"/>
          <p:cNvSpPr/>
          <p:nvPr/>
        </p:nvSpPr>
        <p:spPr>
          <a:xfrm>
            <a:off x="722376" y="3837432"/>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HOW IT WORKS</a:t>
            </a:r>
            <a:endParaRPr lang="en-US" sz="860" dirty="0"/>
          </a:p>
        </p:txBody>
      </p:sp>
      <p:sp>
        <p:nvSpPr>
          <p:cNvPr id="17" name="Text 14"/>
          <p:cNvSpPr/>
          <p:nvPr/>
        </p:nvSpPr>
        <p:spPr>
          <a:xfrm>
            <a:off x="722376" y="4020312"/>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Classifies slit-lamp images for ulcer pattern signatures and returns an AI-assisted first-pass impression to speed triage and documentation.</a:t>
            </a:r>
            <a:endParaRPr lang="en-US" sz="990" dirty="0"/>
          </a:p>
        </p:txBody>
      </p:sp>
      <p:sp>
        <p:nvSpPr>
          <p:cNvPr id="18" name="Shape 15"/>
          <p:cNvSpPr/>
          <p:nvPr/>
        </p:nvSpPr>
        <p:spPr>
          <a:xfrm>
            <a:off x="502920" y="4375404"/>
            <a:ext cx="5446624" cy="565404"/>
          </a:xfrm>
          <a:prstGeom prst="rect">
            <a:avLst/>
          </a:prstGeom>
          <a:solidFill>
            <a:srgbClr val="EEF2F6"/>
          </a:solidFill>
          <a:ln/>
        </p:spPr>
        <p:txBody>
          <a:bodyPr/>
          <a:lstStyle/>
          <a:p>
            <a:endParaRPr lang="en-US"/>
          </a:p>
        </p:txBody>
      </p:sp>
      <p:sp>
        <p:nvSpPr>
          <p:cNvPr id="19" name="Text 16"/>
          <p:cNvSpPr/>
          <p:nvPr/>
        </p:nvSpPr>
        <p:spPr>
          <a:xfrm>
            <a:off x="722376" y="4402836"/>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WHY EARLY MATTERS</a:t>
            </a:r>
            <a:endParaRPr lang="en-US" sz="860" dirty="0"/>
          </a:p>
        </p:txBody>
      </p:sp>
      <p:sp>
        <p:nvSpPr>
          <p:cNvPr id="20" name="Text 17"/>
          <p:cNvSpPr/>
          <p:nvPr/>
        </p:nvSpPr>
        <p:spPr>
          <a:xfrm>
            <a:off x="722376" y="4585716"/>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Corneal ulcers can progress rapidly — scarring, vision loss, or perforation in severe cases. Triage speed matters.</a:t>
            </a:r>
            <a:endParaRPr lang="en-US" sz="990" dirty="0"/>
          </a:p>
        </p:txBody>
      </p:sp>
      <p:sp>
        <p:nvSpPr>
          <p:cNvPr id="21" name="Text 18"/>
          <p:cNvSpPr/>
          <p:nvPr/>
        </p:nvSpPr>
        <p:spPr>
          <a:xfrm>
            <a:off x="722376" y="4968240"/>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CLINICAL OUTPUT</a:t>
            </a:r>
            <a:endParaRPr lang="en-US" sz="860" dirty="0"/>
          </a:p>
        </p:txBody>
      </p:sp>
      <p:sp>
        <p:nvSpPr>
          <p:cNvPr id="22" name="Text 19"/>
          <p:cNvSpPr/>
          <p:nvPr/>
        </p:nvSpPr>
        <p:spPr>
          <a:xfrm>
            <a:off x="722376" y="5151120"/>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Risk grade (normal / suspicious / high risk) with draft report and referral recommendation.</a:t>
            </a:r>
            <a:endParaRPr lang="en-US" sz="990" dirty="0"/>
          </a:p>
        </p:txBody>
      </p:sp>
      <p:sp>
        <p:nvSpPr>
          <p:cNvPr id="23" name="Shape 20"/>
          <p:cNvSpPr/>
          <p:nvPr/>
        </p:nvSpPr>
        <p:spPr>
          <a:xfrm>
            <a:off x="502920" y="5506212"/>
            <a:ext cx="5446624" cy="565404"/>
          </a:xfrm>
          <a:prstGeom prst="rect">
            <a:avLst/>
          </a:prstGeom>
          <a:solidFill>
            <a:srgbClr val="EEF2F6"/>
          </a:solidFill>
          <a:ln/>
        </p:spPr>
        <p:txBody>
          <a:bodyPr/>
          <a:lstStyle/>
          <a:p>
            <a:endParaRPr lang="en-US"/>
          </a:p>
        </p:txBody>
      </p:sp>
      <p:sp>
        <p:nvSpPr>
          <p:cNvPr id="24" name="Text 21"/>
          <p:cNvSpPr/>
          <p:nvPr/>
        </p:nvSpPr>
        <p:spPr>
          <a:xfrm>
            <a:off x="722376" y="5533644"/>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STATUS</a:t>
            </a:r>
            <a:endParaRPr lang="en-US" sz="860" dirty="0"/>
          </a:p>
        </p:txBody>
      </p:sp>
      <p:sp>
        <p:nvSpPr>
          <p:cNvPr id="25" name="Text 22"/>
          <p:cNvSpPr/>
          <p:nvPr/>
        </p:nvSpPr>
        <p:spPr>
          <a:xfrm>
            <a:off x="722376" y="5716524"/>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Newly integrated module — part of platform expansion into anterior segment workflows.</a:t>
            </a:r>
            <a:endParaRPr lang="en-US" sz="990" dirty="0"/>
          </a:p>
        </p:txBody>
      </p:sp>
      <p:sp>
        <p:nvSpPr>
          <p:cNvPr id="26" name="Shape 23"/>
          <p:cNvSpPr/>
          <p:nvPr/>
        </p:nvSpPr>
        <p:spPr>
          <a:xfrm>
            <a:off x="6242152" y="1627632"/>
            <a:ext cx="5446624" cy="4636008"/>
          </a:xfrm>
          <a:prstGeom prst="roundRect">
            <a:avLst>
              <a:gd name="adj" fmla="val 1775"/>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7" name="Shape 24"/>
          <p:cNvSpPr/>
          <p:nvPr/>
        </p:nvSpPr>
        <p:spPr>
          <a:xfrm>
            <a:off x="6461608" y="1828800"/>
            <a:ext cx="713232" cy="713232"/>
          </a:xfrm>
          <a:prstGeom prst="roundRect">
            <a:avLst>
              <a:gd name="adj" fmla="val 10256"/>
            </a:avLst>
          </a:prstGeom>
          <a:solidFill>
            <a:srgbClr val="F4F7FA"/>
          </a:solidFill>
          <a:ln w="12700">
            <a:solidFill>
              <a:srgbClr val="E1E7EE"/>
            </a:solidFill>
            <a:prstDash val="solid"/>
          </a:ln>
        </p:spPr>
        <p:txBody>
          <a:bodyPr/>
          <a:lstStyle/>
          <a:p>
            <a:endParaRPr lang="en-US"/>
          </a:p>
        </p:txBody>
      </p:sp>
      <p:pic>
        <p:nvPicPr>
          <p:cNvPr id="28" name="Image 1" descr="/home/claude/work/assets/corneal_topography.png"/>
          <p:cNvPicPr>
            <a:picLocks noChangeAspect="1"/>
          </p:cNvPicPr>
          <p:nvPr/>
        </p:nvPicPr>
        <p:blipFill>
          <a:blip r:embed="rId4"/>
          <a:srcRect/>
          <a:stretch/>
        </p:blipFill>
        <p:spPr>
          <a:xfrm>
            <a:off x="6516472" y="1883664"/>
            <a:ext cx="603504" cy="603504"/>
          </a:xfrm>
          <a:prstGeom prst="ellipse">
            <a:avLst/>
          </a:prstGeom>
        </p:spPr>
      </p:pic>
      <p:sp>
        <p:nvSpPr>
          <p:cNvPr id="29" name="Text 25"/>
          <p:cNvSpPr/>
          <p:nvPr/>
        </p:nvSpPr>
        <p:spPr>
          <a:xfrm>
            <a:off x="7357720" y="1828800"/>
            <a:ext cx="3919576" cy="457200"/>
          </a:xfrm>
          <a:prstGeom prst="rect">
            <a:avLst/>
          </a:prstGeom>
          <a:noFill/>
          <a:ln/>
        </p:spPr>
        <p:txBody>
          <a:bodyPr wrap="square" lIns="0" tIns="0" rIns="0" bIns="0" rtlCol="0" anchor="t"/>
          <a:lstStyle/>
          <a:p>
            <a:pPr marL="0" indent="0">
              <a:lnSpc>
                <a:spcPct val="105000"/>
              </a:lnSpc>
              <a:buNone/>
            </a:pPr>
            <a:r>
              <a:rPr lang="en-US" sz="1550" b="1" dirty="0">
                <a:solidFill>
                  <a:srgbClr val="16324F"/>
                </a:solidFill>
                <a:latin typeface="Cambria" pitchFamily="34" charset="0"/>
                <a:ea typeface="Cambria" pitchFamily="34" charset="-122"/>
                <a:cs typeface="Cambria" pitchFamily="34" charset="-120"/>
              </a:rPr>
              <a:t>VKG / Corneal Topography</a:t>
            </a:r>
            <a:endParaRPr lang="en-US" sz="1550" dirty="0"/>
          </a:p>
        </p:txBody>
      </p:sp>
      <p:sp>
        <p:nvSpPr>
          <p:cNvPr id="30" name="Shape 26"/>
          <p:cNvSpPr/>
          <p:nvPr/>
        </p:nvSpPr>
        <p:spPr>
          <a:xfrm>
            <a:off x="10564063" y="2304288"/>
            <a:ext cx="923544" cy="274320"/>
          </a:xfrm>
          <a:prstGeom prst="roundRect">
            <a:avLst>
              <a:gd name="adj" fmla="val 50000"/>
            </a:avLst>
          </a:prstGeom>
          <a:solidFill>
            <a:srgbClr val="0B7F7B"/>
          </a:solidFill>
          <a:ln/>
        </p:spPr>
        <p:txBody>
          <a:bodyPr/>
          <a:lstStyle/>
          <a:p>
            <a:endParaRPr lang="en-US"/>
          </a:p>
        </p:txBody>
      </p:sp>
      <p:sp>
        <p:nvSpPr>
          <p:cNvPr id="31" name="Text 27"/>
          <p:cNvSpPr/>
          <p:nvPr/>
        </p:nvSpPr>
        <p:spPr>
          <a:xfrm>
            <a:off x="10564063" y="2304288"/>
            <a:ext cx="923544"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~92.6%</a:t>
            </a:r>
            <a:endParaRPr lang="en-US" sz="950" dirty="0"/>
          </a:p>
        </p:txBody>
      </p:sp>
      <p:sp>
        <p:nvSpPr>
          <p:cNvPr id="32" name="Text 28"/>
          <p:cNvSpPr/>
          <p:nvPr/>
        </p:nvSpPr>
        <p:spPr>
          <a:xfrm>
            <a:off x="6461608" y="2706624"/>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TARGET CONDITION</a:t>
            </a:r>
            <a:endParaRPr lang="en-US" sz="860" dirty="0"/>
          </a:p>
        </p:txBody>
      </p:sp>
      <p:sp>
        <p:nvSpPr>
          <p:cNvPr id="33" name="Text 29"/>
          <p:cNvSpPr/>
          <p:nvPr/>
        </p:nvSpPr>
        <p:spPr>
          <a:xfrm>
            <a:off x="6461608" y="2889504"/>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Keratoconus and related corneal shape abnormalities</a:t>
            </a:r>
            <a:endParaRPr lang="en-US" sz="990" dirty="0"/>
          </a:p>
        </p:txBody>
      </p:sp>
      <p:sp>
        <p:nvSpPr>
          <p:cNvPr id="34" name="Shape 30"/>
          <p:cNvSpPr/>
          <p:nvPr/>
        </p:nvSpPr>
        <p:spPr>
          <a:xfrm>
            <a:off x="6242152" y="3244596"/>
            <a:ext cx="5446624" cy="565404"/>
          </a:xfrm>
          <a:prstGeom prst="rect">
            <a:avLst/>
          </a:prstGeom>
          <a:solidFill>
            <a:srgbClr val="EEF2F6"/>
          </a:solidFill>
          <a:ln/>
        </p:spPr>
        <p:txBody>
          <a:bodyPr/>
          <a:lstStyle/>
          <a:p>
            <a:endParaRPr lang="en-US"/>
          </a:p>
        </p:txBody>
      </p:sp>
      <p:sp>
        <p:nvSpPr>
          <p:cNvPr id="35" name="Text 31"/>
          <p:cNvSpPr/>
          <p:nvPr/>
        </p:nvSpPr>
        <p:spPr>
          <a:xfrm>
            <a:off x="6461608" y="3272028"/>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INPUT</a:t>
            </a:r>
            <a:endParaRPr lang="en-US" sz="860" dirty="0"/>
          </a:p>
        </p:txBody>
      </p:sp>
      <p:sp>
        <p:nvSpPr>
          <p:cNvPr id="36" name="Text 32"/>
          <p:cNvSpPr/>
          <p:nvPr/>
        </p:nvSpPr>
        <p:spPr>
          <a:xfrm>
            <a:off x="6461608" y="3454908"/>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Corneal topography maps</a:t>
            </a:r>
            <a:endParaRPr lang="en-US" sz="990" dirty="0"/>
          </a:p>
        </p:txBody>
      </p:sp>
      <p:sp>
        <p:nvSpPr>
          <p:cNvPr id="37" name="Text 33"/>
          <p:cNvSpPr/>
          <p:nvPr/>
        </p:nvSpPr>
        <p:spPr>
          <a:xfrm>
            <a:off x="6461608" y="3837432"/>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HOW IT WORKS</a:t>
            </a:r>
            <a:endParaRPr lang="en-US" sz="860" dirty="0"/>
          </a:p>
        </p:txBody>
      </p:sp>
      <p:sp>
        <p:nvSpPr>
          <p:cNvPr id="38" name="Text 34"/>
          <p:cNvSpPr/>
          <p:nvPr/>
        </p:nvSpPr>
        <p:spPr>
          <a:xfrm>
            <a:off x="6461608" y="4020312"/>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Analyses topography maps for curvature patterns indicating progressive thinning and forward bulging of the cornea.</a:t>
            </a:r>
            <a:endParaRPr lang="en-US" sz="990" dirty="0"/>
          </a:p>
        </p:txBody>
      </p:sp>
      <p:sp>
        <p:nvSpPr>
          <p:cNvPr id="39" name="Shape 35"/>
          <p:cNvSpPr/>
          <p:nvPr/>
        </p:nvSpPr>
        <p:spPr>
          <a:xfrm>
            <a:off x="6242152" y="4375404"/>
            <a:ext cx="5446624" cy="565404"/>
          </a:xfrm>
          <a:prstGeom prst="rect">
            <a:avLst/>
          </a:prstGeom>
          <a:solidFill>
            <a:srgbClr val="EEF2F6"/>
          </a:solidFill>
          <a:ln/>
        </p:spPr>
        <p:txBody>
          <a:bodyPr/>
          <a:lstStyle/>
          <a:p>
            <a:endParaRPr lang="en-US"/>
          </a:p>
        </p:txBody>
      </p:sp>
      <p:sp>
        <p:nvSpPr>
          <p:cNvPr id="40" name="Text 36"/>
          <p:cNvSpPr/>
          <p:nvPr/>
        </p:nvSpPr>
        <p:spPr>
          <a:xfrm>
            <a:off x="6461608" y="4402836"/>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WHY EARLY MATTERS</a:t>
            </a:r>
            <a:endParaRPr lang="en-US" sz="860" dirty="0"/>
          </a:p>
        </p:txBody>
      </p:sp>
      <p:sp>
        <p:nvSpPr>
          <p:cNvPr id="41" name="Text 37"/>
          <p:cNvSpPr/>
          <p:nvPr/>
        </p:nvSpPr>
        <p:spPr>
          <a:xfrm>
            <a:off x="6461608" y="4585716"/>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Keratoconus progresses over time — earlier detection enables monitoring, collagen crosslinking referral, or lens-fitting adjustment.</a:t>
            </a:r>
            <a:endParaRPr lang="en-US" sz="990" dirty="0"/>
          </a:p>
        </p:txBody>
      </p:sp>
      <p:sp>
        <p:nvSpPr>
          <p:cNvPr id="42" name="Text 38"/>
          <p:cNvSpPr/>
          <p:nvPr/>
        </p:nvSpPr>
        <p:spPr>
          <a:xfrm>
            <a:off x="6461608" y="4968240"/>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CLINICAL OUTPUT</a:t>
            </a:r>
            <a:endParaRPr lang="en-US" sz="860" dirty="0"/>
          </a:p>
        </p:txBody>
      </p:sp>
      <p:sp>
        <p:nvSpPr>
          <p:cNvPr id="43" name="Text 39"/>
          <p:cNvSpPr/>
          <p:nvPr/>
        </p:nvSpPr>
        <p:spPr>
          <a:xfrm>
            <a:off x="6461608" y="5151120"/>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Risk grade (normal / suspicious / high risk) with referral recommendation for crosslinking or lens-fitting.</a:t>
            </a:r>
            <a:endParaRPr lang="en-US" sz="990" dirty="0"/>
          </a:p>
        </p:txBody>
      </p:sp>
      <p:sp>
        <p:nvSpPr>
          <p:cNvPr id="44" name="Shape 40"/>
          <p:cNvSpPr/>
          <p:nvPr/>
        </p:nvSpPr>
        <p:spPr>
          <a:xfrm>
            <a:off x="6242152" y="5506212"/>
            <a:ext cx="5446624" cy="565404"/>
          </a:xfrm>
          <a:prstGeom prst="rect">
            <a:avLst/>
          </a:prstGeom>
          <a:solidFill>
            <a:srgbClr val="EEF2F6"/>
          </a:solidFill>
          <a:ln/>
        </p:spPr>
        <p:txBody>
          <a:bodyPr/>
          <a:lstStyle/>
          <a:p>
            <a:endParaRPr lang="en-US"/>
          </a:p>
        </p:txBody>
      </p:sp>
      <p:sp>
        <p:nvSpPr>
          <p:cNvPr id="45" name="Text 41"/>
          <p:cNvSpPr/>
          <p:nvPr/>
        </p:nvSpPr>
        <p:spPr>
          <a:xfrm>
            <a:off x="6461608" y="5533644"/>
            <a:ext cx="5007712" cy="182880"/>
          </a:xfrm>
          <a:prstGeom prst="rect">
            <a:avLst/>
          </a:prstGeom>
          <a:noFill/>
          <a:ln/>
        </p:spPr>
        <p:txBody>
          <a:bodyPr wrap="square" lIns="0" tIns="0" rIns="0" bIns="0" rtlCol="0" anchor="ctr"/>
          <a:lstStyle/>
          <a:p>
            <a:pPr marL="0" indent="0">
              <a:buNone/>
            </a:pPr>
            <a:r>
              <a:rPr lang="en-US" sz="860" b="1" kern="0" spc="80" dirty="0">
                <a:solidFill>
                  <a:srgbClr val="0B7F7B"/>
                </a:solidFill>
                <a:latin typeface="Calibri" pitchFamily="34" charset="0"/>
                <a:ea typeface="Calibri" pitchFamily="34" charset="-122"/>
                <a:cs typeface="Calibri" pitchFamily="34" charset="-120"/>
              </a:rPr>
              <a:t>STATUS</a:t>
            </a:r>
            <a:endParaRPr lang="en-US" sz="860" dirty="0"/>
          </a:p>
        </p:txBody>
      </p:sp>
      <p:sp>
        <p:nvSpPr>
          <p:cNvPr id="46" name="Text 42"/>
          <p:cNvSpPr/>
          <p:nvPr/>
        </p:nvSpPr>
        <p:spPr>
          <a:xfrm>
            <a:off x="6461608" y="5716524"/>
            <a:ext cx="5007712" cy="345948"/>
          </a:xfrm>
          <a:prstGeom prst="rect">
            <a:avLst/>
          </a:prstGeom>
          <a:noFill/>
          <a:ln/>
        </p:spPr>
        <p:txBody>
          <a:bodyPr wrap="square" lIns="0" tIns="0" rIns="0" bIns="0" rtlCol="0" anchor="t"/>
          <a:lstStyle/>
          <a:p>
            <a:pPr marL="0" indent="0">
              <a:lnSpc>
                <a:spcPct val="118000"/>
              </a:lnSpc>
              <a:buNone/>
            </a:pPr>
            <a:r>
              <a:rPr lang="en-US" sz="990" dirty="0">
                <a:solidFill>
                  <a:srgbClr val="1F2A37"/>
                </a:solidFill>
                <a:latin typeface="Calibri" pitchFamily="34" charset="0"/>
                <a:ea typeface="Calibri" pitchFamily="34" charset="-122"/>
                <a:cs typeface="Calibri" pitchFamily="34" charset="-120"/>
              </a:rPr>
              <a:t>~92.6% accuracy · AUC ~0.9775 — strong discriminative performance in internal evaluation.</a:t>
            </a:r>
            <a:endParaRPr lang="en-US" sz="990" dirty="0"/>
          </a:p>
        </p:txBody>
      </p:sp>
      <p:sp>
        <p:nvSpPr>
          <p:cNvPr id="47" name="Text 43"/>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48" name="Text 44"/>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08</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CLINICAL WORKFLOW</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500" b="1" dirty="0">
                <a:solidFill>
                  <a:srgbClr val="16324F"/>
                </a:solidFill>
                <a:latin typeface="Cambria" pitchFamily="34" charset="0"/>
                <a:ea typeface="Cambria" pitchFamily="34" charset="-122"/>
                <a:cs typeface="Cambria" pitchFamily="34" charset="-120"/>
              </a:rPr>
              <a:t>Patient in. Approved report out. Every step visible.</a:t>
            </a:r>
            <a:endParaRPr lang="en-US" sz="2500" dirty="0"/>
          </a:p>
        </p:txBody>
      </p:sp>
      <p:sp>
        <p:nvSpPr>
          <p:cNvPr id="5" name="Shape 3"/>
          <p:cNvSpPr/>
          <p:nvPr/>
        </p:nvSpPr>
        <p:spPr>
          <a:xfrm>
            <a:off x="502920" y="1572768"/>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722376" y="1792224"/>
            <a:ext cx="457200" cy="457200"/>
          </a:xfrm>
          <a:prstGeom prst="ellipse">
            <a:avLst/>
          </a:prstGeom>
          <a:solidFill>
            <a:srgbClr val="0B7F7B"/>
          </a:solidFill>
          <a:ln/>
        </p:spPr>
        <p:txBody>
          <a:bodyPr/>
          <a:lstStyle/>
          <a:p>
            <a:endParaRPr lang="en-US"/>
          </a:p>
        </p:txBody>
      </p:sp>
      <p:pic>
        <p:nvPicPr>
          <p:cNvPr id="7" name="Image 0" descr="/home/claude/work/assets/icons/user-round-white.png"/>
          <p:cNvPicPr>
            <a:picLocks noChangeAspect="1"/>
          </p:cNvPicPr>
          <p:nvPr/>
        </p:nvPicPr>
        <p:blipFill>
          <a:blip r:embed="rId3"/>
          <a:stretch>
            <a:fillRect/>
          </a:stretch>
        </p:blipFill>
        <p:spPr>
          <a:xfrm>
            <a:off x="836676" y="1906524"/>
            <a:ext cx="228600" cy="228600"/>
          </a:xfrm>
          <a:prstGeom prst="rect">
            <a:avLst/>
          </a:prstGeom>
        </p:spPr>
      </p:pic>
      <p:sp>
        <p:nvSpPr>
          <p:cNvPr id="8" name="Text 5"/>
          <p:cNvSpPr/>
          <p:nvPr/>
        </p:nvSpPr>
        <p:spPr>
          <a:xfrm>
            <a:off x="3399434" y="1737360"/>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01</a:t>
            </a:r>
            <a:endParaRPr lang="en-US" sz="2600" dirty="0"/>
          </a:p>
        </p:txBody>
      </p:sp>
      <p:sp>
        <p:nvSpPr>
          <p:cNvPr id="9" name="Text 6"/>
          <p:cNvSpPr/>
          <p:nvPr/>
        </p:nvSpPr>
        <p:spPr>
          <a:xfrm>
            <a:off x="722376" y="2359152"/>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Patient Registered</a:t>
            </a:r>
            <a:endParaRPr lang="en-US" sz="1350" dirty="0"/>
          </a:p>
        </p:txBody>
      </p:sp>
      <p:sp>
        <p:nvSpPr>
          <p:cNvPr id="10" name="Text 7"/>
          <p:cNvSpPr/>
          <p:nvPr/>
        </p:nvSpPr>
        <p:spPr>
          <a:xfrm>
            <a:off x="722376" y="2706624"/>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Name, ID, age, gender entered. Assigned a unique patient code per module (e.g. MCS-OCT-0001).</a:t>
            </a:r>
            <a:endParaRPr lang="en-US" sz="1000" dirty="0"/>
          </a:p>
        </p:txBody>
      </p:sp>
      <p:pic>
        <p:nvPicPr>
          <p:cNvPr id="11" name="Image 1" descr="/home/claude/work/assets/icons/arrow-right-teal.png"/>
          <p:cNvPicPr>
            <a:picLocks noChangeAspect="1"/>
          </p:cNvPicPr>
          <p:nvPr/>
        </p:nvPicPr>
        <p:blipFill>
          <a:blip r:embed="rId4"/>
          <a:stretch>
            <a:fillRect/>
          </a:stretch>
        </p:blipFill>
        <p:spPr>
          <a:xfrm>
            <a:off x="4121810" y="2503170"/>
            <a:ext cx="146304" cy="146304"/>
          </a:xfrm>
          <a:prstGeom prst="rect">
            <a:avLst/>
          </a:prstGeom>
        </p:spPr>
      </p:pic>
      <p:sp>
        <p:nvSpPr>
          <p:cNvPr id="12" name="Shape 8"/>
          <p:cNvSpPr/>
          <p:nvPr/>
        </p:nvSpPr>
        <p:spPr>
          <a:xfrm>
            <a:off x="4304690" y="1572768"/>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3" name="Shape 9"/>
          <p:cNvSpPr/>
          <p:nvPr/>
        </p:nvSpPr>
        <p:spPr>
          <a:xfrm>
            <a:off x="4524146" y="1792224"/>
            <a:ext cx="457200" cy="457200"/>
          </a:xfrm>
          <a:prstGeom prst="ellipse">
            <a:avLst/>
          </a:prstGeom>
          <a:solidFill>
            <a:srgbClr val="0B7F7B"/>
          </a:solidFill>
          <a:ln/>
        </p:spPr>
        <p:txBody>
          <a:bodyPr/>
          <a:lstStyle/>
          <a:p>
            <a:endParaRPr lang="en-US"/>
          </a:p>
        </p:txBody>
      </p:sp>
      <p:pic>
        <p:nvPicPr>
          <p:cNvPr id="14" name="Image 2" descr="/home/claude/work/assets/icons/cloud-upload-white.png"/>
          <p:cNvPicPr>
            <a:picLocks noChangeAspect="1"/>
          </p:cNvPicPr>
          <p:nvPr/>
        </p:nvPicPr>
        <p:blipFill>
          <a:blip r:embed="rId5"/>
          <a:stretch>
            <a:fillRect/>
          </a:stretch>
        </p:blipFill>
        <p:spPr>
          <a:xfrm>
            <a:off x="4638446" y="1906524"/>
            <a:ext cx="228600" cy="228600"/>
          </a:xfrm>
          <a:prstGeom prst="rect">
            <a:avLst/>
          </a:prstGeom>
        </p:spPr>
      </p:pic>
      <p:sp>
        <p:nvSpPr>
          <p:cNvPr id="15" name="Text 10"/>
          <p:cNvSpPr/>
          <p:nvPr/>
        </p:nvSpPr>
        <p:spPr>
          <a:xfrm>
            <a:off x="7201205" y="1737360"/>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02</a:t>
            </a:r>
            <a:endParaRPr lang="en-US" sz="2600" dirty="0"/>
          </a:p>
        </p:txBody>
      </p:sp>
      <p:sp>
        <p:nvSpPr>
          <p:cNvPr id="16" name="Text 11"/>
          <p:cNvSpPr/>
          <p:nvPr/>
        </p:nvSpPr>
        <p:spPr>
          <a:xfrm>
            <a:off x="4524146" y="2359152"/>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Image Uploaded</a:t>
            </a:r>
            <a:endParaRPr lang="en-US" sz="1350" dirty="0"/>
          </a:p>
        </p:txBody>
      </p:sp>
      <p:sp>
        <p:nvSpPr>
          <p:cNvPr id="17" name="Text 12"/>
          <p:cNvSpPr/>
          <p:nvPr/>
        </p:nvSpPr>
        <p:spPr>
          <a:xfrm>
            <a:off x="4524146" y="2706624"/>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OCT scan, fundus photo, topography map, or slit-lamp image uploaded directly in the browser.</a:t>
            </a:r>
            <a:endParaRPr lang="en-US" sz="1000" dirty="0"/>
          </a:p>
        </p:txBody>
      </p:sp>
      <p:pic>
        <p:nvPicPr>
          <p:cNvPr id="18" name="Image 3" descr="/home/claude/work/assets/icons/arrow-right-teal.png"/>
          <p:cNvPicPr>
            <a:picLocks noChangeAspect="1"/>
          </p:cNvPicPr>
          <p:nvPr/>
        </p:nvPicPr>
        <p:blipFill>
          <a:blip r:embed="rId4"/>
          <a:stretch>
            <a:fillRect/>
          </a:stretch>
        </p:blipFill>
        <p:spPr>
          <a:xfrm>
            <a:off x="7923581" y="2503170"/>
            <a:ext cx="146304" cy="146304"/>
          </a:xfrm>
          <a:prstGeom prst="rect">
            <a:avLst/>
          </a:prstGeom>
        </p:spPr>
      </p:pic>
      <p:sp>
        <p:nvSpPr>
          <p:cNvPr id="19" name="Shape 13"/>
          <p:cNvSpPr/>
          <p:nvPr/>
        </p:nvSpPr>
        <p:spPr>
          <a:xfrm>
            <a:off x="8106461" y="1572768"/>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0" name="Shape 14"/>
          <p:cNvSpPr/>
          <p:nvPr/>
        </p:nvSpPr>
        <p:spPr>
          <a:xfrm>
            <a:off x="8325917" y="1792224"/>
            <a:ext cx="457200" cy="457200"/>
          </a:xfrm>
          <a:prstGeom prst="ellipse">
            <a:avLst/>
          </a:prstGeom>
          <a:solidFill>
            <a:srgbClr val="0B7F7B"/>
          </a:solidFill>
          <a:ln/>
        </p:spPr>
        <p:txBody>
          <a:bodyPr/>
          <a:lstStyle/>
          <a:p>
            <a:endParaRPr lang="en-US"/>
          </a:p>
        </p:txBody>
      </p:sp>
      <p:pic>
        <p:nvPicPr>
          <p:cNvPr id="21" name="Image 4" descr="/home/claude/work/assets/icons/cpu-white.png"/>
          <p:cNvPicPr>
            <a:picLocks noChangeAspect="1"/>
          </p:cNvPicPr>
          <p:nvPr/>
        </p:nvPicPr>
        <p:blipFill>
          <a:blip r:embed="rId6"/>
          <a:stretch>
            <a:fillRect/>
          </a:stretch>
        </p:blipFill>
        <p:spPr>
          <a:xfrm>
            <a:off x="8440217" y="1906524"/>
            <a:ext cx="228600" cy="228600"/>
          </a:xfrm>
          <a:prstGeom prst="rect">
            <a:avLst/>
          </a:prstGeom>
        </p:spPr>
      </p:pic>
      <p:sp>
        <p:nvSpPr>
          <p:cNvPr id="22" name="Text 15"/>
          <p:cNvSpPr/>
          <p:nvPr/>
        </p:nvSpPr>
        <p:spPr>
          <a:xfrm>
            <a:off x="11002975" y="1737360"/>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03</a:t>
            </a:r>
            <a:endParaRPr lang="en-US" sz="2600" dirty="0"/>
          </a:p>
        </p:txBody>
      </p:sp>
      <p:sp>
        <p:nvSpPr>
          <p:cNvPr id="23" name="Text 16"/>
          <p:cNvSpPr/>
          <p:nvPr/>
        </p:nvSpPr>
        <p:spPr>
          <a:xfrm>
            <a:off x="8325917" y="2359152"/>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AI Analysis Runs</a:t>
            </a:r>
            <a:endParaRPr lang="en-US" sz="1350" dirty="0"/>
          </a:p>
        </p:txBody>
      </p:sp>
      <p:sp>
        <p:nvSpPr>
          <p:cNvPr id="24" name="Text 17"/>
          <p:cNvSpPr/>
          <p:nvPr/>
        </p:nvSpPr>
        <p:spPr>
          <a:xfrm>
            <a:off x="8325917" y="2706624"/>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Backend model processes the image. Confidence score and disease classification returned within seconds.</a:t>
            </a:r>
            <a:endParaRPr lang="en-US" sz="1000" dirty="0"/>
          </a:p>
        </p:txBody>
      </p:sp>
      <p:sp>
        <p:nvSpPr>
          <p:cNvPr id="25" name="Shape 18"/>
          <p:cNvSpPr/>
          <p:nvPr/>
        </p:nvSpPr>
        <p:spPr>
          <a:xfrm>
            <a:off x="502920" y="3799332"/>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6" name="Shape 19"/>
          <p:cNvSpPr/>
          <p:nvPr/>
        </p:nvSpPr>
        <p:spPr>
          <a:xfrm>
            <a:off x="722376" y="4018788"/>
            <a:ext cx="457200" cy="457200"/>
          </a:xfrm>
          <a:prstGeom prst="ellipse">
            <a:avLst/>
          </a:prstGeom>
          <a:solidFill>
            <a:srgbClr val="0B7F7B"/>
          </a:solidFill>
          <a:ln/>
        </p:spPr>
        <p:txBody>
          <a:bodyPr/>
          <a:lstStyle/>
          <a:p>
            <a:endParaRPr lang="en-US"/>
          </a:p>
        </p:txBody>
      </p:sp>
      <p:pic>
        <p:nvPicPr>
          <p:cNvPr id="27" name="Image 5" descr="/home/claude/work/assets/icons/scan-eye-white.png"/>
          <p:cNvPicPr>
            <a:picLocks noChangeAspect="1"/>
          </p:cNvPicPr>
          <p:nvPr/>
        </p:nvPicPr>
        <p:blipFill>
          <a:blip r:embed="rId7"/>
          <a:stretch>
            <a:fillRect/>
          </a:stretch>
        </p:blipFill>
        <p:spPr>
          <a:xfrm>
            <a:off x="836676" y="4133088"/>
            <a:ext cx="228600" cy="228600"/>
          </a:xfrm>
          <a:prstGeom prst="rect">
            <a:avLst/>
          </a:prstGeom>
        </p:spPr>
      </p:pic>
      <p:sp>
        <p:nvSpPr>
          <p:cNvPr id="28" name="Text 20"/>
          <p:cNvSpPr/>
          <p:nvPr/>
        </p:nvSpPr>
        <p:spPr>
          <a:xfrm>
            <a:off x="3399434" y="3963924"/>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04</a:t>
            </a:r>
            <a:endParaRPr lang="en-US" sz="2600" dirty="0"/>
          </a:p>
        </p:txBody>
      </p:sp>
      <p:sp>
        <p:nvSpPr>
          <p:cNvPr id="29" name="Text 21"/>
          <p:cNvSpPr/>
          <p:nvPr/>
        </p:nvSpPr>
        <p:spPr>
          <a:xfrm>
            <a:off x="722376" y="4585716"/>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Grad-CAM Generated</a:t>
            </a:r>
            <a:endParaRPr lang="en-US" sz="1350" dirty="0"/>
          </a:p>
        </p:txBody>
      </p:sp>
      <p:sp>
        <p:nvSpPr>
          <p:cNvPr id="30" name="Text 22"/>
          <p:cNvSpPr/>
          <p:nvPr/>
        </p:nvSpPr>
        <p:spPr>
          <a:xfrm>
            <a:off x="722376" y="4933188"/>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Attention heatmap overlaid on the original image. Suspicious region highlighted for doctor attention.</a:t>
            </a:r>
            <a:endParaRPr lang="en-US" sz="1000" dirty="0"/>
          </a:p>
        </p:txBody>
      </p:sp>
      <p:pic>
        <p:nvPicPr>
          <p:cNvPr id="31" name="Image 6" descr="/home/claude/work/assets/icons/arrow-right-teal.png"/>
          <p:cNvPicPr>
            <a:picLocks noChangeAspect="1"/>
          </p:cNvPicPr>
          <p:nvPr/>
        </p:nvPicPr>
        <p:blipFill>
          <a:blip r:embed="rId4"/>
          <a:stretch>
            <a:fillRect/>
          </a:stretch>
        </p:blipFill>
        <p:spPr>
          <a:xfrm>
            <a:off x="4121810" y="4729734"/>
            <a:ext cx="146304" cy="146304"/>
          </a:xfrm>
          <a:prstGeom prst="rect">
            <a:avLst/>
          </a:prstGeom>
        </p:spPr>
      </p:pic>
      <p:sp>
        <p:nvSpPr>
          <p:cNvPr id="32" name="Shape 23"/>
          <p:cNvSpPr/>
          <p:nvPr/>
        </p:nvSpPr>
        <p:spPr>
          <a:xfrm>
            <a:off x="4304690" y="3799332"/>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33" name="Shape 24"/>
          <p:cNvSpPr/>
          <p:nvPr/>
        </p:nvSpPr>
        <p:spPr>
          <a:xfrm>
            <a:off x="4524146" y="4018788"/>
            <a:ext cx="457200" cy="457200"/>
          </a:xfrm>
          <a:prstGeom prst="ellipse">
            <a:avLst/>
          </a:prstGeom>
          <a:solidFill>
            <a:srgbClr val="0B7F7B"/>
          </a:solidFill>
          <a:ln/>
        </p:spPr>
        <p:txBody>
          <a:bodyPr/>
          <a:lstStyle/>
          <a:p>
            <a:endParaRPr lang="en-US"/>
          </a:p>
        </p:txBody>
      </p:sp>
      <p:pic>
        <p:nvPicPr>
          <p:cNvPr id="34" name="Image 7" descr="/home/claude/work/assets/icons/file-check-white.png"/>
          <p:cNvPicPr>
            <a:picLocks noChangeAspect="1"/>
          </p:cNvPicPr>
          <p:nvPr/>
        </p:nvPicPr>
        <p:blipFill>
          <a:blip r:embed="rId8"/>
          <a:stretch>
            <a:fillRect/>
          </a:stretch>
        </p:blipFill>
        <p:spPr>
          <a:xfrm>
            <a:off x="4638446" y="4133088"/>
            <a:ext cx="228600" cy="228600"/>
          </a:xfrm>
          <a:prstGeom prst="rect">
            <a:avLst/>
          </a:prstGeom>
        </p:spPr>
      </p:pic>
      <p:sp>
        <p:nvSpPr>
          <p:cNvPr id="35" name="Text 25"/>
          <p:cNvSpPr/>
          <p:nvPr/>
        </p:nvSpPr>
        <p:spPr>
          <a:xfrm>
            <a:off x="7201205" y="3963924"/>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05</a:t>
            </a:r>
            <a:endParaRPr lang="en-US" sz="2600" dirty="0"/>
          </a:p>
        </p:txBody>
      </p:sp>
      <p:sp>
        <p:nvSpPr>
          <p:cNvPr id="36" name="Text 26"/>
          <p:cNvSpPr/>
          <p:nvPr/>
        </p:nvSpPr>
        <p:spPr>
          <a:xfrm>
            <a:off x="4524146" y="4585716"/>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Draft Report Created</a:t>
            </a:r>
            <a:endParaRPr lang="en-US" sz="1350" dirty="0"/>
          </a:p>
        </p:txBody>
      </p:sp>
      <p:sp>
        <p:nvSpPr>
          <p:cNvPr id="37" name="Text 27"/>
          <p:cNvSpPr/>
          <p:nvPr/>
        </p:nvSpPr>
        <p:spPr>
          <a:xfrm>
            <a:off x="4524146" y="4933188"/>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Findings, impression, and recommendation auto-populated from the template. Fully editable before saving.</a:t>
            </a:r>
            <a:endParaRPr lang="en-US" sz="1000" dirty="0"/>
          </a:p>
        </p:txBody>
      </p:sp>
      <p:pic>
        <p:nvPicPr>
          <p:cNvPr id="38" name="Image 8" descr="/home/claude/work/assets/icons/arrow-right-teal.png"/>
          <p:cNvPicPr>
            <a:picLocks noChangeAspect="1"/>
          </p:cNvPicPr>
          <p:nvPr/>
        </p:nvPicPr>
        <p:blipFill>
          <a:blip r:embed="rId4"/>
          <a:stretch>
            <a:fillRect/>
          </a:stretch>
        </p:blipFill>
        <p:spPr>
          <a:xfrm>
            <a:off x="7923581" y="4729734"/>
            <a:ext cx="146304" cy="146304"/>
          </a:xfrm>
          <a:prstGeom prst="rect">
            <a:avLst/>
          </a:prstGeom>
        </p:spPr>
      </p:pic>
      <p:sp>
        <p:nvSpPr>
          <p:cNvPr id="39" name="Shape 28"/>
          <p:cNvSpPr/>
          <p:nvPr/>
        </p:nvSpPr>
        <p:spPr>
          <a:xfrm>
            <a:off x="8106461" y="3799332"/>
            <a:ext cx="3582314" cy="2007108"/>
          </a:xfrm>
          <a:prstGeom prst="roundRect">
            <a:avLst>
              <a:gd name="adj" fmla="val 4100"/>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40" name="Shape 29"/>
          <p:cNvSpPr/>
          <p:nvPr/>
        </p:nvSpPr>
        <p:spPr>
          <a:xfrm>
            <a:off x="8325917" y="4018788"/>
            <a:ext cx="457200" cy="457200"/>
          </a:xfrm>
          <a:prstGeom prst="ellipse">
            <a:avLst/>
          </a:prstGeom>
          <a:solidFill>
            <a:srgbClr val="0B7F7B"/>
          </a:solidFill>
          <a:ln/>
        </p:spPr>
        <p:txBody>
          <a:bodyPr/>
          <a:lstStyle/>
          <a:p>
            <a:endParaRPr lang="en-US"/>
          </a:p>
        </p:txBody>
      </p:sp>
      <p:pic>
        <p:nvPicPr>
          <p:cNvPr id="41" name="Image 9" descr="/home/claude/work/assets/icons/circle-check-white.png"/>
          <p:cNvPicPr>
            <a:picLocks noChangeAspect="1"/>
          </p:cNvPicPr>
          <p:nvPr/>
        </p:nvPicPr>
        <p:blipFill>
          <a:blip r:embed="rId9"/>
          <a:stretch>
            <a:fillRect/>
          </a:stretch>
        </p:blipFill>
        <p:spPr>
          <a:xfrm>
            <a:off x="8440217" y="4133088"/>
            <a:ext cx="228600" cy="228600"/>
          </a:xfrm>
          <a:prstGeom prst="rect">
            <a:avLst/>
          </a:prstGeom>
        </p:spPr>
      </p:pic>
      <p:sp>
        <p:nvSpPr>
          <p:cNvPr id="42" name="Text 30"/>
          <p:cNvSpPr/>
          <p:nvPr/>
        </p:nvSpPr>
        <p:spPr>
          <a:xfrm>
            <a:off x="11002975" y="3963924"/>
            <a:ext cx="502920" cy="457200"/>
          </a:xfrm>
          <a:prstGeom prst="rect">
            <a:avLst/>
          </a:prstGeom>
          <a:noFill/>
          <a:ln/>
        </p:spPr>
        <p:txBody>
          <a:bodyPr wrap="square" lIns="0" tIns="0" rIns="0" bIns="0" rtlCol="0" anchor="ctr"/>
          <a:lstStyle/>
          <a:p>
            <a:pPr marL="0" indent="0" algn="r">
              <a:buNone/>
            </a:pPr>
            <a:r>
              <a:rPr lang="en-US" sz="2600" b="1" dirty="0">
                <a:solidFill>
                  <a:srgbClr val="E1E7EE"/>
                </a:solidFill>
                <a:latin typeface="Cambria" pitchFamily="34" charset="0"/>
                <a:ea typeface="Cambria" pitchFamily="34" charset="-122"/>
                <a:cs typeface="Cambria" pitchFamily="34" charset="-120"/>
              </a:rPr>
              <a:t>06</a:t>
            </a:r>
            <a:endParaRPr lang="en-US" sz="2600" dirty="0"/>
          </a:p>
        </p:txBody>
      </p:sp>
      <p:sp>
        <p:nvSpPr>
          <p:cNvPr id="43" name="Text 31"/>
          <p:cNvSpPr/>
          <p:nvPr/>
        </p:nvSpPr>
        <p:spPr>
          <a:xfrm>
            <a:off x="8325917" y="4585716"/>
            <a:ext cx="3143402"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Doctor Reviews &amp; Approves</a:t>
            </a:r>
            <a:endParaRPr lang="en-US" sz="1350" dirty="0"/>
          </a:p>
        </p:txBody>
      </p:sp>
      <p:sp>
        <p:nvSpPr>
          <p:cNvPr id="44" name="Text 32"/>
          <p:cNvSpPr/>
          <p:nvPr/>
        </p:nvSpPr>
        <p:spPr>
          <a:xfrm>
            <a:off x="8325917" y="4933188"/>
            <a:ext cx="3143402" cy="726948"/>
          </a:xfrm>
          <a:prstGeom prst="rect">
            <a:avLst/>
          </a:prstGeom>
          <a:noFill/>
          <a:ln/>
        </p:spPr>
        <p:txBody>
          <a:bodyPr wrap="square" lIns="0" tIns="0" rIns="0" bIns="0" rtlCol="0" anchor="t"/>
          <a:lstStyle/>
          <a:p>
            <a:pPr marL="0" indent="0">
              <a:lnSpc>
                <a:spcPct val="122000"/>
              </a:lnSpc>
              <a:buNone/>
            </a:pPr>
            <a:r>
              <a:rPr lang="en-US" sz="1000" dirty="0">
                <a:solidFill>
                  <a:srgbClr val="5B6B7C"/>
                </a:solidFill>
                <a:latin typeface="Calibri" pitchFamily="34" charset="0"/>
                <a:ea typeface="Calibri" pitchFamily="34" charset="-122"/>
                <a:cs typeface="Calibri" pitchFamily="34" charset="-120"/>
              </a:rPr>
              <a:t>Doctor edits, adds clinical notes, sets final diagnosis, and approves. Report is then downloadable as PDF.</a:t>
            </a:r>
            <a:endParaRPr lang="en-US" sz="1000" dirty="0"/>
          </a:p>
        </p:txBody>
      </p:sp>
      <p:sp>
        <p:nvSpPr>
          <p:cNvPr id="45" name="Shape 33"/>
          <p:cNvSpPr/>
          <p:nvPr/>
        </p:nvSpPr>
        <p:spPr>
          <a:xfrm>
            <a:off x="502920" y="5934456"/>
            <a:ext cx="11185855" cy="457200"/>
          </a:xfrm>
          <a:prstGeom prst="roundRect">
            <a:avLst>
              <a:gd name="adj" fmla="val 18000"/>
            </a:avLst>
          </a:prstGeom>
          <a:solidFill>
            <a:srgbClr val="16324F"/>
          </a:solidFill>
          <a:ln/>
        </p:spPr>
        <p:txBody>
          <a:bodyPr/>
          <a:lstStyle/>
          <a:p>
            <a:endParaRPr lang="en-US"/>
          </a:p>
        </p:txBody>
      </p:sp>
      <p:sp>
        <p:nvSpPr>
          <p:cNvPr id="46" name="Text 34"/>
          <p:cNvSpPr/>
          <p:nvPr/>
        </p:nvSpPr>
        <p:spPr>
          <a:xfrm>
            <a:off x="777240" y="5934456"/>
            <a:ext cx="10637215" cy="457200"/>
          </a:xfrm>
          <a:prstGeom prst="rect">
            <a:avLst/>
          </a:prstGeom>
          <a:noFill/>
          <a:ln/>
        </p:spPr>
        <p:txBody>
          <a:bodyPr wrap="square" lIns="0" tIns="0" rIns="0" bIns="0" rtlCol="0" anchor="ctr"/>
          <a:lstStyle/>
          <a:p>
            <a:pPr marL="0" indent="0" algn="ctr">
              <a:buNone/>
            </a:pPr>
            <a:r>
              <a:rPr lang="en-US" sz="1200" b="1" i="1" dirty="0">
                <a:solidFill>
                  <a:srgbClr val="FFFFFF"/>
                </a:solidFill>
                <a:latin typeface="Calibri" pitchFamily="34" charset="0"/>
                <a:ea typeface="Calibri" pitchFamily="34" charset="-122"/>
                <a:cs typeface="Calibri" pitchFamily="34" charset="-120"/>
              </a:rPr>
              <a:t>The doctor is involved at every stage. AI assists — it does not operate independently.</a:t>
            </a:r>
            <a:endParaRPr lang="en-US" sz="1200" dirty="0"/>
          </a:p>
        </p:txBody>
      </p:sp>
      <p:sp>
        <p:nvSpPr>
          <p:cNvPr id="47" name="Text 35"/>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48" name="Text 36"/>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09</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MODEL PERFORMANCE</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500" b="1" dirty="0">
                <a:solidFill>
                  <a:srgbClr val="16324F"/>
                </a:solidFill>
                <a:latin typeface="Cambria" pitchFamily="34" charset="0"/>
                <a:ea typeface="Cambria" pitchFamily="34" charset="-122"/>
                <a:cs typeface="Cambria" pitchFamily="34" charset="-120"/>
              </a:rPr>
              <a:t>Internal evaluation results — strong technical foundation.</a:t>
            </a:r>
            <a:endParaRPr lang="en-US" sz="2500" dirty="0"/>
          </a:p>
        </p:txBody>
      </p:sp>
      <p:sp>
        <p:nvSpPr>
          <p:cNvPr id="5" name="Shape 3"/>
          <p:cNvSpPr/>
          <p:nvPr/>
        </p:nvSpPr>
        <p:spPr>
          <a:xfrm>
            <a:off x="502920" y="1691640"/>
            <a:ext cx="2631872" cy="1965960"/>
          </a:xfrm>
          <a:prstGeom prst="roundRect">
            <a:avLst>
              <a:gd name="adj" fmla="val 4651"/>
            </a:avLst>
          </a:prstGeom>
          <a:solidFill>
            <a:srgbClr val="16324F"/>
          </a:solidFill>
          <a:ln/>
        </p:spPr>
        <p:txBody>
          <a:bodyPr/>
          <a:lstStyle/>
          <a:p>
            <a:endParaRPr lang="en-US"/>
          </a:p>
        </p:txBody>
      </p:sp>
      <p:sp>
        <p:nvSpPr>
          <p:cNvPr id="6" name="Shape 4"/>
          <p:cNvSpPr/>
          <p:nvPr/>
        </p:nvSpPr>
        <p:spPr>
          <a:xfrm>
            <a:off x="502920" y="1691640"/>
            <a:ext cx="54864" cy="1965960"/>
          </a:xfrm>
          <a:prstGeom prst="rect">
            <a:avLst/>
          </a:prstGeom>
          <a:solidFill>
            <a:srgbClr val="16324F"/>
          </a:solidFill>
          <a:ln/>
        </p:spPr>
        <p:txBody>
          <a:bodyPr/>
          <a:lstStyle/>
          <a:p>
            <a:endParaRPr lang="en-US"/>
          </a:p>
        </p:txBody>
      </p:sp>
      <p:sp>
        <p:nvSpPr>
          <p:cNvPr id="7" name="Text 5"/>
          <p:cNvSpPr/>
          <p:nvPr/>
        </p:nvSpPr>
        <p:spPr>
          <a:xfrm>
            <a:off x="685800" y="1892808"/>
            <a:ext cx="2266112" cy="566928"/>
          </a:xfrm>
          <a:prstGeom prst="rect">
            <a:avLst/>
          </a:prstGeom>
          <a:noFill/>
          <a:ln/>
        </p:spPr>
        <p:txBody>
          <a:bodyPr wrap="square" lIns="0" tIns="0" rIns="0" bIns="0" rtlCol="0" anchor="ctr"/>
          <a:lstStyle/>
          <a:p>
            <a:pPr marL="0" indent="0" algn="l">
              <a:buNone/>
            </a:pPr>
            <a:r>
              <a:rPr lang="en-US" sz="3000" b="1" dirty="0">
                <a:solidFill>
                  <a:srgbClr val="18A99B"/>
                </a:solidFill>
                <a:latin typeface="Cambria" pitchFamily="34" charset="0"/>
                <a:ea typeface="Cambria" pitchFamily="34" charset="-122"/>
                <a:cs typeface="Cambria" pitchFamily="34" charset="-120"/>
              </a:rPr>
              <a:t>~97%</a:t>
            </a:r>
            <a:endParaRPr lang="en-US" sz="3000" dirty="0"/>
          </a:p>
        </p:txBody>
      </p:sp>
      <p:sp>
        <p:nvSpPr>
          <p:cNvPr id="8" name="Text 6"/>
          <p:cNvSpPr/>
          <p:nvPr/>
        </p:nvSpPr>
        <p:spPr>
          <a:xfrm>
            <a:off x="685800" y="2496312"/>
            <a:ext cx="2266112" cy="512064"/>
          </a:xfrm>
          <a:prstGeom prst="rect">
            <a:avLst/>
          </a:prstGeom>
          <a:noFill/>
          <a:ln/>
        </p:spPr>
        <p:txBody>
          <a:bodyPr wrap="square" lIns="0" tIns="0" rIns="0" bIns="0" rtlCol="0" anchor="t"/>
          <a:lstStyle/>
          <a:p>
            <a:pPr marL="0" indent="0">
              <a:lnSpc>
                <a:spcPct val="116000"/>
              </a:lnSpc>
              <a:buNone/>
            </a:pPr>
            <a:r>
              <a:rPr lang="en-US" sz="1150" b="1" dirty="0">
                <a:solidFill>
                  <a:srgbClr val="FFFFFF"/>
                </a:solidFill>
                <a:latin typeface="Calibri" pitchFamily="34" charset="0"/>
                <a:ea typeface="Calibri" pitchFamily="34" charset="-122"/>
                <a:cs typeface="Calibri" pitchFamily="34" charset="-120"/>
              </a:rPr>
              <a:t>OCT Classifier Accuracy</a:t>
            </a:r>
            <a:endParaRPr lang="en-US" sz="1150" dirty="0"/>
          </a:p>
        </p:txBody>
      </p:sp>
      <p:sp>
        <p:nvSpPr>
          <p:cNvPr id="9" name="Text 7"/>
          <p:cNvSpPr/>
          <p:nvPr/>
        </p:nvSpPr>
        <p:spPr>
          <a:xfrm>
            <a:off x="685800" y="3090672"/>
            <a:ext cx="2266112" cy="493776"/>
          </a:xfrm>
          <a:prstGeom prst="rect">
            <a:avLst/>
          </a:prstGeom>
          <a:noFill/>
          <a:ln/>
        </p:spPr>
        <p:txBody>
          <a:bodyPr wrap="square" lIns="0" tIns="0" rIns="0" bIns="0" rtlCol="0" anchor="t"/>
          <a:lstStyle/>
          <a:p>
            <a:pPr marL="0" indent="0">
              <a:lnSpc>
                <a:spcPct val="118000"/>
              </a:lnSpc>
              <a:buNone/>
            </a:pPr>
            <a:r>
              <a:rPr lang="en-US" sz="900" dirty="0">
                <a:solidFill>
                  <a:srgbClr val="9DB4CE"/>
                </a:solidFill>
                <a:latin typeface="Calibri" pitchFamily="34" charset="0"/>
                <a:ea typeface="Calibri" pitchFamily="34" charset="-122"/>
                <a:cs typeface="Calibri" pitchFamily="34" charset="-120"/>
              </a:rPr>
              <a:t>4 categories: CNV, DME, Drusen, Normal</a:t>
            </a:r>
            <a:endParaRPr lang="en-US" sz="900" dirty="0"/>
          </a:p>
        </p:txBody>
      </p:sp>
      <p:sp>
        <p:nvSpPr>
          <p:cNvPr id="10" name="Shape 8"/>
          <p:cNvSpPr/>
          <p:nvPr/>
        </p:nvSpPr>
        <p:spPr>
          <a:xfrm>
            <a:off x="3354248" y="1691640"/>
            <a:ext cx="2631872" cy="1965960"/>
          </a:xfrm>
          <a:prstGeom prst="roundRect">
            <a:avLst>
              <a:gd name="adj" fmla="val 4651"/>
            </a:avLst>
          </a:prstGeom>
          <a:solidFill>
            <a:srgbClr val="16324F"/>
          </a:solidFill>
          <a:ln/>
        </p:spPr>
        <p:txBody>
          <a:bodyPr/>
          <a:lstStyle/>
          <a:p>
            <a:endParaRPr lang="en-US"/>
          </a:p>
        </p:txBody>
      </p:sp>
      <p:sp>
        <p:nvSpPr>
          <p:cNvPr id="11" name="Shape 9"/>
          <p:cNvSpPr/>
          <p:nvPr/>
        </p:nvSpPr>
        <p:spPr>
          <a:xfrm>
            <a:off x="3354248" y="1691640"/>
            <a:ext cx="54864" cy="1965960"/>
          </a:xfrm>
          <a:prstGeom prst="rect">
            <a:avLst/>
          </a:prstGeom>
          <a:solidFill>
            <a:srgbClr val="0B7F7B"/>
          </a:solidFill>
          <a:ln/>
        </p:spPr>
        <p:txBody>
          <a:bodyPr/>
          <a:lstStyle/>
          <a:p>
            <a:endParaRPr lang="en-US"/>
          </a:p>
        </p:txBody>
      </p:sp>
      <p:sp>
        <p:nvSpPr>
          <p:cNvPr id="12" name="Text 10"/>
          <p:cNvSpPr/>
          <p:nvPr/>
        </p:nvSpPr>
        <p:spPr>
          <a:xfrm>
            <a:off x="3537128" y="1892808"/>
            <a:ext cx="2266112" cy="566928"/>
          </a:xfrm>
          <a:prstGeom prst="rect">
            <a:avLst/>
          </a:prstGeom>
          <a:noFill/>
          <a:ln/>
        </p:spPr>
        <p:txBody>
          <a:bodyPr wrap="square" lIns="0" tIns="0" rIns="0" bIns="0" rtlCol="0" anchor="ctr"/>
          <a:lstStyle/>
          <a:p>
            <a:pPr marL="0" indent="0" algn="l">
              <a:buNone/>
            </a:pPr>
            <a:r>
              <a:rPr lang="en-US" sz="3000" b="1" dirty="0">
                <a:solidFill>
                  <a:srgbClr val="0B7F7B"/>
                </a:solidFill>
                <a:latin typeface="Cambria" pitchFamily="34" charset="0"/>
                <a:ea typeface="Cambria" pitchFamily="34" charset="-122"/>
                <a:cs typeface="Cambria" pitchFamily="34" charset="-120"/>
              </a:rPr>
              <a:t>&gt;90%</a:t>
            </a:r>
            <a:endParaRPr lang="en-US" sz="3000" dirty="0"/>
          </a:p>
        </p:txBody>
      </p:sp>
      <p:sp>
        <p:nvSpPr>
          <p:cNvPr id="13" name="Text 11"/>
          <p:cNvSpPr/>
          <p:nvPr/>
        </p:nvSpPr>
        <p:spPr>
          <a:xfrm>
            <a:off x="3537128" y="2496312"/>
            <a:ext cx="2266112" cy="512064"/>
          </a:xfrm>
          <a:prstGeom prst="rect">
            <a:avLst/>
          </a:prstGeom>
          <a:noFill/>
          <a:ln/>
        </p:spPr>
        <p:txBody>
          <a:bodyPr wrap="square" lIns="0" tIns="0" rIns="0" bIns="0" rtlCol="0" anchor="t"/>
          <a:lstStyle/>
          <a:p>
            <a:pPr marL="0" indent="0">
              <a:lnSpc>
                <a:spcPct val="116000"/>
              </a:lnSpc>
              <a:buNone/>
            </a:pPr>
            <a:r>
              <a:rPr lang="en-US" sz="1150" b="1" dirty="0">
                <a:solidFill>
                  <a:srgbClr val="FFFFFF"/>
                </a:solidFill>
                <a:latin typeface="Calibri" pitchFamily="34" charset="0"/>
                <a:ea typeface="Calibri" pitchFamily="34" charset="-122"/>
                <a:cs typeface="Calibri" pitchFamily="34" charset="-120"/>
              </a:rPr>
              <a:t>Retinal Screening Accuracy</a:t>
            </a:r>
            <a:endParaRPr lang="en-US" sz="1150" dirty="0"/>
          </a:p>
        </p:txBody>
      </p:sp>
      <p:sp>
        <p:nvSpPr>
          <p:cNvPr id="14" name="Text 12"/>
          <p:cNvSpPr/>
          <p:nvPr/>
        </p:nvSpPr>
        <p:spPr>
          <a:xfrm>
            <a:off x="3537128" y="3090672"/>
            <a:ext cx="2266112" cy="493776"/>
          </a:xfrm>
          <a:prstGeom prst="rect">
            <a:avLst/>
          </a:prstGeom>
          <a:noFill/>
          <a:ln/>
        </p:spPr>
        <p:txBody>
          <a:bodyPr wrap="square" lIns="0" tIns="0" rIns="0" bIns="0" rtlCol="0" anchor="t"/>
          <a:lstStyle/>
          <a:p>
            <a:pPr marL="0" indent="0">
              <a:lnSpc>
                <a:spcPct val="118000"/>
              </a:lnSpc>
              <a:buNone/>
            </a:pPr>
            <a:r>
              <a:rPr lang="en-US" sz="900" dirty="0">
                <a:solidFill>
                  <a:srgbClr val="9DB4CE"/>
                </a:solidFill>
                <a:latin typeface="Calibri" pitchFamily="34" charset="0"/>
                <a:ea typeface="Calibri" pitchFamily="34" charset="-122"/>
                <a:cs typeface="Calibri" pitchFamily="34" charset="-120"/>
              </a:rPr>
              <a:t>DR, Glaucoma, Hypertensive — each model</a:t>
            </a:r>
            <a:endParaRPr lang="en-US" sz="900" dirty="0"/>
          </a:p>
        </p:txBody>
      </p:sp>
      <p:sp>
        <p:nvSpPr>
          <p:cNvPr id="15" name="Shape 13"/>
          <p:cNvSpPr/>
          <p:nvPr/>
        </p:nvSpPr>
        <p:spPr>
          <a:xfrm>
            <a:off x="6205576" y="1691640"/>
            <a:ext cx="2631872" cy="1965960"/>
          </a:xfrm>
          <a:prstGeom prst="roundRect">
            <a:avLst>
              <a:gd name="adj" fmla="val 4651"/>
            </a:avLst>
          </a:prstGeom>
          <a:solidFill>
            <a:srgbClr val="16324F"/>
          </a:solidFill>
          <a:ln/>
        </p:spPr>
        <p:txBody>
          <a:bodyPr/>
          <a:lstStyle/>
          <a:p>
            <a:endParaRPr lang="en-US"/>
          </a:p>
        </p:txBody>
      </p:sp>
      <p:sp>
        <p:nvSpPr>
          <p:cNvPr id="16" name="Shape 14"/>
          <p:cNvSpPr/>
          <p:nvPr/>
        </p:nvSpPr>
        <p:spPr>
          <a:xfrm>
            <a:off x="6205576" y="1691640"/>
            <a:ext cx="54864" cy="1965960"/>
          </a:xfrm>
          <a:prstGeom prst="rect">
            <a:avLst/>
          </a:prstGeom>
          <a:solidFill>
            <a:srgbClr val="DE9A2A"/>
          </a:solidFill>
          <a:ln/>
        </p:spPr>
        <p:txBody>
          <a:bodyPr/>
          <a:lstStyle/>
          <a:p>
            <a:endParaRPr lang="en-US"/>
          </a:p>
        </p:txBody>
      </p:sp>
      <p:sp>
        <p:nvSpPr>
          <p:cNvPr id="17" name="Text 15"/>
          <p:cNvSpPr/>
          <p:nvPr/>
        </p:nvSpPr>
        <p:spPr>
          <a:xfrm>
            <a:off x="6388456" y="1892808"/>
            <a:ext cx="2266112" cy="566928"/>
          </a:xfrm>
          <a:prstGeom prst="rect">
            <a:avLst/>
          </a:prstGeom>
          <a:noFill/>
          <a:ln/>
        </p:spPr>
        <p:txBody>
          <a:bodyPr wrap="square" lIns="0" tIns="0" rIns="0" bIns="0" rtlCol="0" anchor="ctr"/>
          <a:lstStyle/>
          <a:p>
            <a:pPr marL="0" indent="0" algn="l">
              <a:buNone/>
            </a:pPr>
            <a:r>
              <a:rPr lang="en-US" sz="3000" b="1" dirty="0">
                <a:solidFill>
                  <a:srgbClr val="DE9A2A"/>
                </a:solidFill>
                <a:latin typeface="Cambria" pitchFamily="34" charset="0"/>
                <a:ea typeface="Cambria" pitchFamily="34" charset="-122"/>
                <a:cs typeface="Cambria" pitchFamily="34" charset="-120"/>
              </a:rPr>
              <a:t>~92.6%</a:t>
            </a:r>
            <a:endParaRPr lang="en-US" sz="3000" dirty="0"/>
          </a:p>
        </p:txBody>
      </p:sp>
      <p:sp>
        <p:nvSpPr>
          <p:cNvPr id="18" name="Text 16"/>
          <p:cNvSpPr/>
          <p:nvPr/>
        </p:nvSpPr>
        <p:spPr>
          <a:xfrm>
            <a:off x="6388456" y="2496312"/>
            <a:ext cx="2266112" cy="512064"/>
          </a:xfrm>
          <a:prstGeom prst="rect">
            <a:avLst/>
          </a:prstGeom>
          <a:noFill/>
          <a:ln/>
        </p:spPr>
        <p:txBody>
          <a:bodyPr wrap="square" lIns="0" tIns="0" rIns="0" bIns="0" rtlCol="0" anchor="t"/>
          <a:lstStyle/>
          <a:p>
            <a:pPr marL="0" indent="0">
              <a:lnSpc>
                <a:spcPct val="116000"/>
              </a:lnSpc>
              <a:buNone/>
            </a:pPr>
            <a:r>
              <a:rPr lang="en-US" sz="1150" b="1" dirty="0">
                <a:solidFill>
                  <a:srgbClr val="FFFFFF"/>
                </a:solidFill>
                <a:latin typeface="Calibri" pitchFamily="34" charset="0"/>
                <a:ea typeface="Calibri" pitchFamily="34" charset="-122"/>
                <a:cs typeface="Calibri" pitchFamily="34" charset="-120"/>
              </a:rPr>
              <a:t>VKG / Corneal Accuracy</a:t>
            </a:r>
            <a:endParaRPr lang="en-US" sz="1150" dirty="0"/>
          </a:p>
        </p:txBody>
      </p:sp>
      <p:sp>
        <p:nvSpPr>
          <p:cNvPr id="19" name="Text 17"/>
          <p:cNvSpPr/>
          <p:nvPr/>
        </p:nvSpPr>
        <p:spPr>
          <a:xfrm>
            <a:off x="6388456" y="3090672"/>
            <a:ext cx="2266112" cy="493776"/>
          </a:xfrm>
          <a:prstGeom prst="rect">
            <a:avLst/>
          </a:prstGeom>
          <a:noFill/>
          <a:ln/>
        </p:spPr>
        <p:txBody>
          <a:bodyPr wrap="square" lIns="0" tIns="0" rIns="0" bIns="0" rtlCol="0" anchor="t"/>
          <a:lstStyle/>
          <a:p>
            <a:pPr marL="0" indent="0">
              <a:lnSpc>
                <a:spcPct val="118000"/>
              </a:lnSpc>
              <a:buNone/>
            </a:pPr>
            <a:r>
              <a:rPr lang="en-US" sz="900" dirty="0">
                <a:solidFill>
                  <a:srgbClr val="9DB4CE"/>
                </a:solidFill>
                <a:latin typeface="Calibri" pitchFamily="34" charset="0"/>
                <a:ea typeface="Calibri" pitchFamily="34" charset="-122"/>
                <a:cs typeface="Calibri" pitchFamily="34" charset="-120"/>
              </a:rPr>
              <a:t>AUC ~0.9775 — strong discriminative power</a:t>
            </a:r>
            <a:endParaRPr lang="en-US" sz="900" dirty="0"/>
          </a:p>
        </p:txBody>
      </p:sp>
      <p:sp>
        <p:nvSpPr>
          <p:cNvPr id="20" name="Shape 18"/>
          <p:cNvSpPr/>
          <p:nvPr/>
        </p:nvSpPr>
        <p:spPr>
          <a:xfrm>
            <a:off x="9056903" y="1691640"/>
            <a:ext cx="2631872" cy="1965960"/>
          </a:xfrm>
          <a:prstGeom prst="roundRect">
            <a:avLst>
              <a:gd name="adj" fmla="val 4651"/>
            </a:avLst>
          </a:prstGeom>
          <a:solidFill>
            <a:srgbClr val="16324F"/>
          </a:solidFill>
          <a:ln/>
        </p:spPr>
        <p:txBody>
          <a:bodyPr/>
          <a:lstStyle/>
          <a:p>
            <a:endParaRPr lang="en-US"/>
          </a:p>
        </p:txBody>
      </p:sp>
      <p:sp>
        <p:nvSpPr>
          <p:cNvPr id="21" name="Shape 19"/>
          <p:cNvSpPr/>
          <p:nvPr/>
        </p:nvSpPr>
        <p:spPr>
          <a:xfrm>
            <a:off x="9056903" y="1691640"/>
            <a:ext cx="54864" cy="1965960"/>
          </a:xfrm>
          <a:prstGeom prst="rect">
            <a:avLst/>
          </a:prstGeom>
          <a:solidFill>
            <a:srgbClr val="2F9E63"/>
          </a:solidFill>
          <a:ln/>
        </p:spPr>
        <p:txBody>
          <a:bodyPr/>
          <a:lstStyle/>
          <a:p>
            <a:endParaRPr lang="en-US"/>
          </a:p>
        </p:txBody>
      </p:sp>
      <p:sp>
        <p:nvSpPr>
          <p:cNvPr id="22" name="Text 20"/>
          <p:cNvSpPr/>
          <p:nvPr/>
        </p:nvSpPr>
        <p:spPr>
          <a:xfrm>
            <a:off x="9239783" y="1892808"/>
            <a:ext cx="2266112" cy="566928"/>
          </a:xfrm>
          <a:prstGeom prst="rect">
            <a:avLst/>
          </a:prstGeom>
          <a:noFill/>
          <a:ln/>
        </p:spPr>
        <p:txBody>
          <a:bodyPr wrap="square" lIns="0" tIns="0" rIns="0" bIns="0" rtlCol="0" anchor="ctr"/>
          <a:lstStyle/>
          <a:p>
            <a:pPr marL="0" indent="0" algn="l">
              <a:buNone/>
            </a:pPr>
            <a:r>
              <a:rPr lang="en-US" sz="3000" b="1" dirty="0">
                <a:solidFill>
                  <a:srgbClr val="2F9E63"/>
                </a:solidFill>
                <a:latin typeface="Cambria" pitchFamily="34" charset="0"/>
                <a:ea typeface="Cambria" pitchFamily="34" charset="-122"/>
                <a:cs typeface="Cambria" pitchFamily="34" charset="-120"/>
              </a:rPr>
              <a:t>98%</a:t>
            </a:r>
            <a:endParaRPr lang="en-US" sz="3000" dirty="0"/>
          </a:p>
        </p:txBody>
      </p:sp>
      <p:sp>
        <p:nvSpPr>
          <p:cNvPr id="23" name="Text 21"/>
          <p:cNvSpPr/>
          <p:nvPr/>
        </p:nvSpPr>
        <p:spPr>
          <a:xfrm>
            <a:off x="9239783" y="2496312"/>
            <a:ext cx="2266112" cy="512064"/>
          </a:xfrm>
          <a:prstGeom prst="rect">
            <a:avLst/>
          </a:prstGeom>
          <a:noFill/>
          <a:ln/>
        </p:spPr>
        <p:txBody>
          <a:bodyPr wrap="square" lIns="0" tIns="0" rIns="0" bIns="0" rtlCol="0" anchor="t"/>
          <a:lstStyle/>
          <a:p>
            <a:pPr marL="0" indent="0">
              <a:lnSpc>
                <a:spcPct val="116000"/>
              </a:lnSpc>
              <a:buNone/>
            </a:pPr>
            <a:r>
              <a:rPr lang="en-US" sz="1150" b="1" dirty="0">
                <a:solidFill>
                  <a:srgbClr val="FFFFFF"/>
                </a:solidFill>
                <a:latin typeface="Calibri" pitchFamily="34" charset="0"/>
                <a:ea typeface="Calibri" pitchFamily="34" charset="-122"/>
                <a:cs typeface="Calibri" pitchFamily="34" charset="-120"/>
              </a:rPr>
              <a:t>OCT Module Avg Confidence</a:t>
            </a:r>
            <a:endParaRPr lang="en-US" sz="1150" dirty="0"/>
          </a:p>
        </p:txBody>
      </p:sp>
      <p:sp>
        <p:nvSpPr>
          <p:cNvPr id="24" name="Text 22"/>
          <p:cNvSpPr/>
          <p:nvPr/>
        </p:nvSpPr>
        <p:spPr>
          <a:xfrm>
            <a:off x="9239783" y="3090672"/>
            <a:ext cx="2266112" cy="493776"/>
          </a:xfrm>
          <a:prstGeom prst="rect">
            <a:avLst/>
          </a:prstGeom>
          <a:noFill/>
          <a:ln/>
        </p:spPr>
        <p:txBody>
          <a:bodyPr wrap="square" lIns="0" tIns="0" rIns="0" bIns="0" rtlCol="0" anchor="t"/>
          <a:lstStyle/>
          <a:p>
            <a:pPr marL="0" indent="0">
              <a:lnSpc>
                <a:spcPct val="118000"/>
              </a:lnSpc>
              <a:buNone/>
            </a:pPr>
            <a:r>
              <a:rPr lang="en-US" sz="900" dirty="0">
                <a:solidFill>
                  <a:srgbClr val="9DB4CE"/>
                </a:solidFill>
                <a:latin typeface="Calibri" pitchFamily="34" charset="0"/>
                <a:ea typeface="Calibri" pitchFamily="34" charset="-122"/>
                <a:cs typeface="Calibri" pitchFamily="34" charset="-120"/>
              </a:rPr>
              <a:t>Live platform stats — 97 scans, 13 patients</a:t>
            </a:r>
            <a:endParaRPr lang="en-US" sz="900" dirty="0"/>
          </a:p>
        </p:txBody>
      </p:sp>
      <p:sp>
        <p:nvSpPr>
          <p:cNvPr id="25" name="Shape 23"/>
          <p:cNvSpPr/>
          <p:nvPr/>
        </p:nvSpPr>
        <p:spPr>
          <a:xfrm>
            <a:off x="502920" y="3931920"/>
            <a:ext cx="6487796" cy="2240280"/>
          </a:xfrm>
          <a:prstGeom prst="roundRect">
            <a:avLst>
              <a:gd name="adj" fmla="val 3673"/>
            </a:avLst>
          </a:prstGeom>
          <a:solidFill>
            <a:srgbClr val="E7F4F0"/>
          </a:solidFill>
          <a:ln w="12700">
            <a:solidFill>
              <a:srgbClr val="E7F4F0"/>
            </a:solidFill>
            <a:prstDash val="solid"/>
          </a:ln>
        </p:spPr>
        <p:txBody>
          <a:bodyPr/>
          <a:lstStyle/>
          <a:p>
            <a:endParaRPr lang="en-US"/>
          </a:p>
        </p:txBody>
      </p:sp>
      <p:sp>
        <p:nvSpPr>
          <p:cNvPr id="26" name="Text 24"/>
          <p:cNvSpPr/>
          <p:nvPr/>
        </p:nvSpPr>
        <p:spPr>
          <a:xfrm>
            <a:off x="758952" y="4114800"/>
            <a:ext cx="5975732" cy="237744"/>
          </a:xfrm>
          <a:prstGeom prst="rect">
            <a:avLst/>
          </a:prstGeom>
          <a:noFill/>
          <a:ln/>
        </p:spPr>
        <p:txBody>
          <a:bodyPr wrap="square" lIns="0" tIns="0" rIns="0" bIns="0" rtlCol="0" anchor="ctr"/>
          <a:lstStyle/>
          <a:p>
            <a:pPr marL="0" indent="0">
              <a:buNone/>
            </a:pPr>
            <a:r>
              <a:rPr lang="en-US" sz="1100" b="1" kern="0" spc="120" dirty="0">
                <a:solidFill>
                  <a:srgbClr val="0B7F7B"/>
                </a:solidFill>
                <a:latin typeface="Calibri" pitchFamily="34" charset="0"/>
                <a:ea typeface="Calibri" pitchFamily="34" charset="-122"/>
                <a:cs typeface="Calibri" pitchFamily="34" charset="-120"/>
              </a:rPr>
              <a:t>WHAT AUC MEANS</a:t>
            </a:r>
            <a:endParaRPr lang="en-US" sz="1100" dirty="0"/>
          </a:p>
        </p:txBody>
      </p:sp>
      <p:sp>
        <p:nvSpPr>
          <p:cNvPr id="27" name="Text 25"/>
          <p:cNvSpPr/>
          <p:nvPr/>
        </p:nvSpPr>
        <p:spPr>
          <a:xfrm>
            <a:off x="758952" y="4407408"/>
            <a:ext cx="5975732" cy="1600200"/>
          </a:xfrm>
          <a:prstGeom prst="rect">
            <a:avLst/>
          </a:prstGeom>
          <a:noFill/>
          <a:ln/>
        </p:spPr>
        <p:txBody>
          <a:bodyPr wrap="square" lIns="0" tIns="0" rIns="0" bIns="0" rtlCol="0" anchor="t"/>
          <a:lstStyle/>
          <a:p>
            <a:pPr marL="0" indent="0">
              <a:lnSpc>
                <a:spcPct val="132000"/>
              </a:lnSpc>
              <a:buNone/>
            </a:pPr>
            <a:r>
              <a:rPr lang="en-US" sz="1150" dirty="0">
                <a:solidFill>
                  <a:srgbClr val="2E5750"/>
                </a:solidFill>
                <a:latin typeface="Calibri" pitchFamily="34" charset="0"/>
                <a:ea typeface="Calibri" pitchFamily="34" charset="-122"/>
                <a:cs typeface="Calibri" pitchFamily="34" charset="-120"/>
              </a:rPr>
              <a:t>AUC (Area Under Curve) measures how well the model separates diseased from non-diseased cases. An AUC of 0.9775 (max 1.0) indicates the VKG model is strongly reliable at distinguishing keratoconus-risk cases from normal corneas.</a:t>
            </a:r>
            <a:endParaRPr lang="en-US" sz="1150" dirty="0"/>
          </a:p>
        </p:txBody>
      </p:sp>
      <p:sp>
        <p:nvSpPr>
          <p:cNvPr id="28" name="Shape 26"/>
          <p:cNvSpPr/>
          <p:nvPr/>
        </p:nvSpPr>
        <p:spPr>
          <a:xfrm>
            <a:off x="7265036" y="3931920"/>
            <a:ext cx="4423739" cy="2240280"/>
          </a:xfrm>
          <a:prstGeom prst="roundRect">
            <a:avLst>
              <a:gd name="adj" fmla="val 3673"/>
            </a:avLst>
          </a:prstGeom>
          <a:solidFill>
            <a:srgbClr val="FFFFFF"/>
          </a:solidFill>
          <a:ln w="12700">
            <a:solidFill>
              <a:srgbClr val="E1E7EE"/>
            </a:solidFill>
            <a:prstDash val="solid"/>
          </a:ln>
        </p:spPr>
        <p:txBody>
          <a:bodyPr/>
          <a:lstStyle/>
          <a:p>
            <a:endParaRPr lang="en-US"/>
          </a:p>
        </p:txBody>
      </p:sp>
      <p:sp>
        <p:nvSpPr>
          <p:cNvPr id="29" name="Shape 27"/>
          <p:cNvSpPr/>
          <p:nvPr/>
        </p:nvSpPr>
        <p:spPr>
          <a:xfrm>
            <a:off x="7484492" y="4114800"/>
            <a:ext cx="365760" cy="365760"/>
          </a:xfrm>
          <a:prstGeom prst="ellipse">
            <a:avLst/>
          </a:prstGeom>
          <a:solidFill>
            <a:srgbClr val="DE9A2A"/>
          </a:solidFill>
          <a:ln/>
        </p:spPr>
        <p:txBody>
          <a:bodyPr/>
          <a:lstStyle/>
          <a:p>
            <a:endParaRPr lang="en-US"/>
          </a:p>
        </p:txBody>
      </p:sp>
      <p:pic>
        <p:nvPicPr>
          <p:cNvPr id="30" name="Image 0" descr="/home/claude/work/assets/icons/triangle-alert-white.png"/>
          <p:cNvPicPr>
            <a:picLocks noChangeAspect="1"/>
          </p:cNvPicPr>
          <p:nvPr/>
        </p:nvPicPr>
        <p:blipFill>
          <a:blip r:embed="rId3"/>
          <a:stretch>
            <a:fillRect/>
          </a:stretch>
        </p:blipFill>
        <p:spPr>
          <a:xfrm>
            <a:off x="7572274" y="4202582"/>
            <a:ext cx="190195" cy="190195"/>
          </a:xfrm>
          <a:prstGeom prst="rect">
            <a:avLst/>
          </a:prstGeom>
        </p:spPr>
      </p:pic>
      <p:sp>
        <p:nvSpPr>
          <p:cNvPr id="31" name="Text 28"/>
          <p:cNvSpPr/>
          <p:nvPr/>
        </p:nvSpPr>
        <p:spPr>
          <a:xfrm>
            <a:off x="7959980" y="4114800"/>
            <a:ext cx="3509339" cy="365760"/>
          </a:xfrm>
          <a:prstGeom prst="rect">
            <a:avLst/>
          </a:prstGeom>
          <a:noFill/>
          <a:ln/>
        </p:spPr>
        <p:txBody>
          <a:bodyPr wrap="square" lIns="0" tIns="0" rIns="0" bIns="0" rtlCol="0" anchor="ctr"/>
          <a:lstStyle/>
          <a:p>
            <a:pPr marL="0" indent="0">
              <a:buNone/>
            </a:pPr>
            <a:r>
              <a:rPr lang="en-US" sz="1350" b="1" dirty="0">
                <a:solidFill>
                  <a:srgbClr val="16324F"/>
                </a:solidFill>
                <a:latin typeface="Cambria" pitchFamily="34" charset="0"/>
                <a:ea typeface="Cambria" pitchFamily="34" charset="-122"/>
                <a:cs typeface="Cambria" pitchFamily="34" charset="-120"/>
              </a:rPr>
              <a:t>Next Clinical Step</a:t>
            </a:r>
            <a:endParaRPr lang="en-US" sz="1350" dirty="0"/>
          </a:p>
        </p:txBody>
      </p:sp>
      <p:sp>
        <p:nvSpPr>
          <p:cNvPr id="32" name="Text 29"/>
          <p:cNvSpPr/>
          <p:nvPr/>
        </p:nvSpPr>
        <p:spPr>
          <a:xfrm>
            <a:off x="7484492" y="4590288"/>
            <a:ext cx="3984827" cy="1417320"/>
          </a:xfrm>
          <a:prstGeom prst="rect">
            <a:avLst/>
          </a:prstGeom>
          <a:noFill/>
          <a:ln/>
        </p:spPr>
        <p:txBody>
          <a:bodyPr wrap="square" lIns="0" tIns="0" rIns="0" bIns="0" rtlCol="0" anchor="t"/>
          <a:lstStyle/>
          <a:p>
            <a:pPr marL="0" indent="0">
              <a:lnSpc>
                <a:spcPct val="128000"/>
              </a:lnSpc>
              <a:buNone/>
            </a:pPr>
            <a:r>
              <a:rPr lang="en-US" sz="1060" dirty="0">
                <a:solidFill>
                  <a:srgbClr val="5B6B7C"/>
                </a:solidFill>
                <a:latin typeface="Calibri" pitchFamily="34" charset="0"/>
                <a:ea typeface="Calibri" pitchFamily="34" charset="-122"/>
                <a:cs typeface="Calibri" pitchFamily="34" charset="-120"/>
              </a:rPr>
              <a:t>These are internal model evaluation results and show strong technical feasibility. Larger hospital-based validation is the next step before full deployment.</a:t>
            </a:r>
            <a:endParaRPr lang="en-US" sz="1060" dirty="0"/>
          </a:p>
        </p:txBody>
      </p:sp>
      <p:sp>
        <p:nvSpPr>
          <p:cNvPr id="33" name="Text 30"/>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34" name="Text 31"/>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8A99B"/>
          </a:solidFill>
          <a:ln/>
        </p:spPr>
        <p:txBody>
          <a:bodyPr/>
          <a:lstStyle/>
          <a:p>
            <a:endParaRPr lang="en-US"/>
          </a:p>
        </p:txBody>
      </p:sp>
      <p:sp>
        <p:nvSpPr>
          <p:cNvPr id="3" name="Text 1"/>
          <p:cNvSpPr/>
          <p:nvPr/>
        </p:nvSpPr>
        <p:spPr>
          <a:xfrm>
            <a:off x="502920" y="457200"/>
            <a:ext cx="11185855" cy="256032"/>
          </a:xfrm>
          <a:prstGeom prst="rect">
            <a:avLst/>
          </a:prstGeom>
          <a:noFill/>
          <a:ln/>
        </p:spPr>
        <p:txBody>
          <a:bodyPr wrap="square" lIns="0" tIns="0" rIns="0" bIns="0" rtlCol="0" anchor="ctr"/>
          <a:lstStyle/>
          <a:p>
            <a:pPr marL="0" indent="0" algn="l">
              <a:buNone/>
            </a:pPr>
            <a:r>
              <a:rPr lang="en-US" sz="1150" b="1" kern="0" spc="220" dirty="0">
                <a:solidFill>
                  <a:srgbClr val="0B7F7B"/>
                </a:solidFill>
                <a:latin typeface="Calibri" pitchFamily="34" charset="0"/>
                <a:ea typeface="Calibri" pitchFamily="34" charset="-122"/>
                <a:cs typeface="Calibri" pitchFamily="34" charset="-120"/>
              </a:rPr>
              <a:t>DEPARTMENT IMPACT</a:t>
            </a:r>
            <a:endParaRPr lang="en-US" sz="1150" dirty="0"/>
          </a:p>
        </p:txBody>
      </p:sp>
      <p:sp>
        <p:nvSpPr>
          <p:cNvPr id="4" name="Text 2"/>
          <p:cNvSpPr/>
          <p:nvPr/>
        </p:nvSpPr>
        <p:spPr>
          <a:xfrm>
            <a:off x="502920" y="731520"/>
            <a:ext cx="11185855" cy="777240"/>
          </a:xfrm>
          <a:prstGeom prst="rect">
            <a:avLst/>
          </a:prstGeom>
          <a:noFill/>
          <a:ln/>
        </p:spPr>
        <p:txBody>
          <a:bodyPr wrap="square" lIns="0" tIns="0" rIns="0" bIns="0" rtlCol="0" anchor="t"/>
          <a:lstStyle/>
          <a:p>
            <a:pPr marL="0" indent="0">
              <a:lnSpc>
                <a:spcPct val="112000"/>
              </a:lnSpc>
              <a:buNone/>
            </a:pPr>
            <a:r>
              <a:rPr lang="en-US" sz="2600" b="1" dirty="0">
                <a:solidFill>
                  <a:srgbClr val="16324F"/>
                </a:solidFill>
                <a:latin typeface="Cambria" pitchFamily="34" charset="0"/>
                <a:ea typeface="Cambria" pitchFamily="34" charset="-122"/>
                <a:cs typeface="Cambria" pitchFamily="34" charset="-120"/>
              </a:rPr>
              <a:t>What this means for your department.</a:t>
            </a:r>
            <a:endParaRPr lang="en-US" sz="2600" dirty="0"/>
          </a:p>
        </p:txBody>
      </p:sp>
      <p:sp>
        <p:nvSpPr>
          <p:cNvPr id="5" name="Shape 3"/>
          <p:cNvSpPr/>
          <p:nvPr/>
        </p:nvSpPr>
        <p:spPr>
          <a:xfrm>
            <a:off x="502920" y="1481328"/>
            <a:ext cx="5474056" cy="2340864"/>
          </a:xfrm>
          <a:prstGeom prst="roundRect">
            <a:avLst>
              <a:gd name="adj" fmla="val 351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6" name="Shape 4"/>
          <p:cNvSpPr/>
          <p:nvPr/>
        </p:nvSpPr>
        <p:spPr>
          <a:xfrm>
            <a:off x="740664" y="1700784"/>
            <a:ext cx="457200" cy="457200"/>
          </a:xfrm>
          <a:prstGeom prst="ellipse">
            <a:avLst/>
          </a:prstGeom>
          <a:solidFill>
            <a:srgbClr val="16324F"/>
          </a:solidFill>
          <a:ln/>
        </p:spPr>
        <p:txBody>
          <a:bodyPr/>
          <a:lstStyle/>
          <a:p>
            <a:endParaRPr lang="en-US"/>
          </a:p>
        </p:txBody>
      </p:sp>
      <p:pic>
        <p:nvPicPr>
          <p:cNvPr id="7" name="Image 0" descr="/home/claude/work/assets/icons/stethoscope-white.png"/>
          <p:cNvPicPr>
            <a:picLocks noChangeAspect="1"/>
          </p:cNvPicPr>
          <p:nvPr/>
        </p:nvPicPr>
        <p:blipFill>
          <a:blip r:embed="rId3"/>
          <a:stretch>
            <a:fillRect/>
          </a:stretch>
        </p:blipFill>
        <p:spPr>
          <a:xfrm>
            <a:off x="854964" y="1815084"/>
            <a:ext cx="228600" cy="228600"/>
          </a:xfrm>
          <a:prstGeom prst="rect">
            <a:avLst/>
          </a:prstGeom>
        </p:spPr>
      </p:pic>
      <p:sp>
        <p:nvSpPr>
          <p:cNvPr id="8" name="Text 5"/>
          <p:cNvSpPr/>
          <p:nvPr/>
        </p:nvSpPr>
        <p:spPr>
          <a:xfrm>
            <a:off x="1344168" y="1700784"/>
            <a:ext cx="4422496" cy="457200"/>
          </a:xfrm>
          <a:prstGeom prst="rect">
            <a:avLst/>
          </a:prstGeom>
          <a:noFill/>
          <a:ln/>
        </p:spPr>
        <p:txBody>
          <a:bodyPr wrap="square" lIns="0" tIns="0" rIns="0" bIns="0" rtlCol="0" anchor="ctr"/>
          <a:lstStyle/>
          <a:p>
            <a:pPr marL="0" indent="0">
              <a:buNone/>
            </a:pPr>
            <a:r>
              <a:rPr lang="en-US" sz="1650" b="1" dirty="0">
                <a:solidFill>
                  <a:srgbClr val="16324F"/>
                </a:solidFill>
                <a:latin typeface="Cambria" pitchFamily="34" charset="0"/>
                <a:ea typeface="Cambria" pitchFamily="34" charset="-122"/>
                <a:cs typeface="Cambria" pitchFamily="34" charset="-120"/>
              </a:rPr>
              <a:t>Ophthalmologist</a:t>
            </a:r>
            <a:endParaRPr lang="en-US" sz="1650" dirty="0"/>
          </a:p>
        </p:txBody>
      </p:sp>
      <p:sp>
        <p:nvSpPr>
          <p:cNvPr id="9" name="Text 6"/>
          <p:cNvSpPr/>
          <p:nvPr/>
        </p:nvSpPr>
        <p:spPr>
          <a:xfrm>
            <a:off x="777240" y="2322576"/>
            <a:ext cx="4925416" cy="1335024"/>
          </a:xfrm>
          <a:prstGeom prst="rect">
            <a:avLst/>
          </a:prstGeom>
          <a:noFill/>
          <a:ln/>
        </p:spPr>
        <p:txBody>
          <a:bodyPr wrap="square" lIns="0" tIns="0" rIns="0" bIns="0" rtlCol="0" anchor="t"/>
          <a:lstStyle/>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Spend more time on clinical judgment, less on documentation</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First-pass AI screening identifies priority cases in seconds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Grad-CAM draws attention to suspicious regions immediately</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Final approval authority — nothing publishes without sign-off</a:t>
            </a:r>
            <a:endParaRPr lang="en-US" sz="1100" dirty="0"/>
          </a:p>
        </p:txBody>
      </p:sp>
      <p:sp>
        <p:nvSpPr>
          <p:cNvPr id="10" name="Shape 7"/>
          <p:cNvSpPr/>
          <p:nvPr/>
        </p:nvSpPr>
        <p:spPr>
          <a:xfrm>
            <a:off x="6214720" y="1481328"/>
            <a:ext cx="5474056" cy="2340864"/>
          </a:xfrm>
          <a:prstGeom prst="roundRect">
            <a:avLst>
              <a:gd name="adj" fmla="val 351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1" name="Shape 8"/>
          <p:cNvSpPr/>
          <p:nvPr/>
        </p:nvSpPr>
        <p:spPr>
          <a:xfrm>
            <a:off x="6452464" y="1700784"/>
            <a:ext cx="457200" cy="457200"/>
          </a:xfrm>
          <a:prstGeom prst="ellipse">
            <a:avLst/>
          </a:prstGeom>
          <a:solidFill>
            <a:srgbClr val="0B7F7B"/>
          </a:solidFill>
          <a:ln/>
        </p:spPr>
        <p:txBody>
          <a:bodyPr/>
          <a:lstStyle/>
          <a:p>
            <a:endParaRPr lang="en-US"/>
          </a:p>
        </p:txBody>
      </p:sp>
      <p:pic>
        <p:nvPicPr>
          <p:cNvPr id="12" name="Image 1" descr="/home/claude/work/assets/icons/hospital-white.png"/>
          <p:cNvPicPr>
            <a:picLocks noChangeAspect="1"/>
          </p:cNvPicPr>
          <p:nvPr/>
        </p:nvPicPr>
        <p:blipFill>
          <a:blip r:embed="rId4"/>
          <a:stretch>
            <a:fillRect/>
          </a:stretch>
        </p:blipFill>
        <p:spPr>
          <a:xfrm>
            <a:off x="6566764" y="1815084"/>
            <a:ext cx="228600" cy="228600"/>
          </a:xfrm>
          <a:prstGeom prst="rect">
            <a:avLst/>
          </a:prstGeom>
        </p:spPr>
      </p:pic>
      <p:sp>
        <p:nvSpPr>
          <p:cNvPr id="13" name="Text 9"/>
          <p:cNvSpPr/>
          <p:nvPr/>
        </p:nvSpPr>
        <p:spPr>
          <a:xfrm>
            <a:off x="7055968" y="1700784"/>
            <a:ext cx="4422496" cy="457200"/>
          </a:xfrm>
          <a:prstGeom prst="rect">
            <a:avLst/>
          </a:prstGeom>
          <a:noFill/>
          <a:ln/>
        </p:spPr>
        <p:txBody>
          <a:bodyPr wrap="square" lIns="0" tIns="0" rIns="0" bIns="0" rtlCol="0" anchor="ctr"/>
          <a:lstStyle/>
          <a:p>
            <a:pPr marL="0" indent="0">
              <a:buNone/>
            </a:pPr>
            <a:r>
              <a:rPr lang="en-US" sz="1650" b="1" dirty="0">
                <a:solidFill>
                  <a:srgbClr val="16324F"/>
                </a:solidFill>
                <a:latin typeface="Cambria" pitchFamily="34" charset="0"/>
                <a:ea typeface="Cambria" pitchFamily="34" charset="-122"/>
                <a:cs typeface="Cambria" pitchFamily="34" charset="-120"/>
              </a:rPr>
              <a:t>OPD / Screening Camp</a:t>
            </a:r>
            <a:endParaRPr lang="en-US" sz="1650" dirty="0"/>
          </a:p>
        </p:txBody>
      </p:sp>
      <p:sp>
        <p:nvSpPr>
          <p:cNvPr id="14" name="Text 10"/>
          <p:cNvSpPr/>
          <p:nvPr/>
        </p:nvSpPr>
        <p:spPr>
          <a:xfrm>
            <a:off x="6489040" y="2322576"/>
            <a:ext cx="4925416" cy="1335024"/>
          </a:xfrm>
          <a:prstGeom prst="rect">
            <a:avLst/>
          </a:prstGeom>
          <a:noFill/>
          <a:ln/>
        </p:spPr>
        <p:txBody>
          <a:bodyPr wrap="square" lIns="0" tIns="0" rIns="0" bIns="0" rtlCol="0" anchor="t"/>
          <a:lstStyle/>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Batch patient workflow — registration, upload, reports queued</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Full editorial control — every report editable and approachable</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Reduce bottleneck at peak patient volumes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Digital record keeping — searchable by patient ID, CNIC, diagnosis</a:t>
            </a:r>
            <a:endParaRPr lang="en-US" sz="1100" dirty="0"/>
          </a:p>
        </p:txBody>
      </p:sp>
      <p:sp>
        <p:nvSpPr>
          <p:cNvPr id="15" name="Shape 11"/>
          <p:cNvSpPr/>
          <p:nvPr/>
        </p:nvSpPr>
        <p:spPr>
          <a:xfrm>
            <a:off x="502920" y="4059936"/>
            <a:ext cx="5474056" cy="2340864"/>
          </a:xfrm>
          <a:prstGeom prst="roundRect">
            <a:avLst>
              <a:gd name="adj" fmla="val 351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16" name="Shape 12"/>
          <p:cNvSpPr/>
          <p:nvPr/>
        </p:nvSpPr>
        <p:spPr>
          <a:xfrm>
            <a:off x="740664" y="4279392"/>
            <a:ext cx="457200" cy="457200"/>
          </a:xfrm>
          <a:prstGeom prst="ellipse">
            <a:avLst/>
          </a:prstGeom>
          <a:solidFill>
            <a:srgbClr val="DE9A2A"/>
          </a:solidFill>
          <a:ln/>
        </p:spPr>
        <p:txBody>
          <a:bodyPr/>
          <a:lstStyle/>
          <a:p>
            <a:endParaRPr lang="en-US"/>
          </a:p>
        </p:txBody>
      </p:sp>
      <p:pic>
        <p:nvPicPr>
          <p:cNvPr id="17" name="Image 2" descr="/home/claude/work/assets/icons/graduation-cap-white.png"/>
          <p:cNvPicPr>
            <a:picLocks noChangeAspect="1"/>
          </p:cNvPicPr>
          <p:nvPr/>
        </p:nvPicPr>
        <p:blipFill>
          <a:blip r:embed="rId5"/>
          <a:stretch>
            <a:fillRect/>
          </a:stretch>
        </p:blipFill>
        <p:spPr>
          <a:xfrm>
            <a:off x="854964" y="4393692"/>
            <a:ext cx="228600" cy="228600"/>
          </a:xfrm>
          <a:prstGeom prst="rect">
            <a:avLst/>
          </a:prstGeom>
        </p:spPr>
      </p:pic>
      <p:sp>
        <p:nvSpPr>
          <p:cNvPr id="18" name="Text 13"/>
          <p:cNvSpPr/>
          <p:nvPr/>
        </p:nvSpPr>
        <p:spPr>
          <a:xfrm>
            <a:off x="1344168" y="4279392"/>
            <a:ext cx="4422496" cy="457200"/>
          </a:xfrm>
          <a:prstGeom prst="rect">
            <a:avLst/>
          </a:prstGeom>
          <a:noFill/>
          <a:ln/>
        </p:spPr>
        <p:txBody>
          <a:bodyPr wrap="square" lIns="0" tIns="0" rIns="0" bIns="0" rtlCol="0" anchor="ctr"/>
          <a:lstStyle/>
          <a:p>
            <a:pPr marL="0" indent="0">
              <a:buNone/>
            </a:pPr>
            <a:r>
              <a:rPr lang="en-US" sz="1650" b="1" dirty="0">
                <a:solidFill>
                  <a:srgbClr val="16324F"/>
                </a:solidFill>
                <a:latin typeface="Cambria" pitchFamily="34" charset="0"/>
                <a:ea typeface="Cambria" pitchFamily="34" charset="-122"/>
                <a:cs typeface="Cambria" pitchFamily="34" charset="-120"/>
              </a:rPr>
              <a:t>Junior Staff / Residents</a:t>
            </a:r>
            <a:endParaRPr lang="en-US" sz="1650" dirty="0"/>
          </a:p>
        </p:txBody>
      </p:sp>
      <p:sp>
        <p:nvSpPr>
          <p:cNvPr id="19" name="Text 14"/>
          <p:cNvSpPr/>
          <p:nvPr/>
        </p:nvSpPr>
        <p:spPr>
          <a:xfrm>
            <a:off x="777240" y="4901184"/>
            <a:ext cx="4925416" cy="1335024"/>
          </a:xfrm>
          <a:prstGeom prst="rect">
            <a:avLst/>
          </a:prstGeom>
          <a:noFill/>
          <a:ln/>
        </p:spPr>
        <p:txBody>
          <a:bodyPr wrap="square" lIns="0" tIns="0" rIns="0" bIns="0" rtlCol="0" anchor="t"/>
          <a:lstStyle/>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Structured report templates teach standard clinical language</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Grad-CAM attention maps show what experienced models look for</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Draft reports editable before senior review — not blank pages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All reports go through doctor approval — training safety net</a:t>
            </a:r>
            <a:endParaRPr lang="en-US" sz="1100" dirty="0"/>
          </a:p>
        </p:txBody>
      </p:sp>
      <p:sp>
        <p:nvSpPr>
          <p:cNvPr id="20" name="Shape 15"/>
          <p:cNvSpPr/>
          <p:nvPr/>
        </p:nvSpPr>
        <p:spPr>
          <a:xfrm>
            <a:off x="6214720" y="4059936"/>
            <a:ext cx="5474056" cy="2340864"/>
          </a:xfrm>
          <a:prstGeom prst="roundRect">
            <a:avLst>
              <a:gd name="adj" fmla="val 3516"/>
            </a:avLst>
          </a:prstGeom>
          <a:solidFill>
            <a:srgbClr val="FFFFFF"/>
          </a:solidFill>
          <a:ln w="12700">
            <a:solidFill>
              <a:srgbClr val="E1E7EE"/>
            </a:solidFill>
            <a:prstDash val="solid"/>
          </a:ln>
          <a:effectLst>
            <a:outerShdw blurRad="88900" dist="25400" dir="5400000" algn="bl" rotWithShape="0">
              <a:srgbClr val="1B2A3A">
                <a:alpha val="16000"/>
              </a:srgbClr>
            </a:outerShdw>
          </a:effectLst>
        </p:spPr>
        <p:txBody>
          <a:bodyPr/>
          <a:lstStyle/>
          <a:p>
            <a:endParaRPr lang="en-US"/>
          </a:p>
        </p:txBody>
      </p:sp>
      <p:sp>
        <p:nvSpPr>
          <p:cNvPr id="21" name="Shape 16"/>
          <p:cNvSpPr/>
          <p:nvPr/>
        </p:nvSpPr>
        <p:spPr>
          <a:xfrm>
            <a:off x="6452464" y="4279392"/>
            <a:ext cx="457200" cy="457200"/>
          </a:xfrm>
          <a:prstGeom prst="ellipse">
            <a:avLst/>
          </a:prstGeom>
          <a:solidFill>
            <a:srgbClr val="2F9E63"/>
          </a:solidFill>
          <a:ln/>
        </p:spPr>
        <p:txBody>
          <a:bodyPr/>
          <a:lstStyle/>
          <a:p>
            <a:endParaRPr lang="en-US"/>
          </a:p>
        </p:txBody>
      </p:sp>
      <p:pic>
        <p:nvPicPr>
          <p:cNvPr id="22" name="Image 3" descr="/home/claude/work/assets/icons/chart-bar-white.png"/>
          <p:cNvPicPr>
            <a:picLocks noChangeAspect="1"/>
          </p:cNvPicPr>
          <p:nvPr/>
        </p:nvPicPr>
        <p:blipFill>
          <a:blip r:embed="rId6"/>
          <a:stretch>
            <a:fillRect/>
          </a:stretch>
        </p:blipFill>
        <p:spPr>
          <a:xfrm>
            <a:off x="6566764" y="4393692"/>
            <a:ext cx="228600" cy="228600"/>
          </a:xfrm>
          <a:prstGeom prst="rect">
            <a:avLst/>
          </a:prstGeom>
        </p:spPr>
      </p:pic>
      <p:sp>
        <p:nvSpPr>
          <p:cNvPr id="23" name="Text 17"/>
          <p:cNvSpPr/>
          <p:nvPr/>
        </p:nvSpPr>
        <p:spPr>
          <a:xfrm>
            <a:off x="7055968" y="4279392"/>
            <a:ext cx="4422496" cy="457200"/>
          </a:xfrm>
          <a:prstGeom prst="rect">
            <a:avLst/>
          </a:prstGeom>
          <a:noFill/>
          <a:ln/>
        </p:spPr>
        <p:txBody>
          <a:bodyPr wrap="square" lIns="0" tIns="0" rIns="0" bIns="0" rtlCol="0" anchor="ctr"/>
          <a:lstStyle/>
          <a:p>
            <a:pPr marL="0" indent="0">
              <a:buNone/>
            </a:pPr>
            <a:r>
              <a:rPr lang="en-US" sz="1650" b="1" dirty="0">
                <a:solidFill>
                  <a:srgbClr val="16324F"/>
                </a:solidFill>
                <a:latin typeface="Cambria" pitchFamily="34" charset="0"/>
                <a:ea typeface="Cambria" pitchFamily="34" charset="-122"/>
                <a:cs typeface="Cambria" pitchFamily="34" charset="-120"/>
              </a:rPr>
              <a:t>Hospital Administration</a:t>
            </a:r>
            <a:endParaRPr lang="en-US" sz="1650" dirty="0"/>
          </a:p>
        </p:txBody>
      </p:sp>
      <p:sp>
        <p:nvSpPr>
          <p:cNvPr id="24" name="Text 18"/>
          <p:cNvSpPr/>
          <p:nvPr/>
        </p:nvSpPr>
        <p:spPr>
          <a:xfrm>
            <a:off x="6489040" y="4901184"/>
            <a:ext cx="4925416" cy="1335024"/>
          </a:xfrm>
          <a:prstGeom prst="rect">
            <a:avLst/>
          </a:prstGeom>
          <a:noFill/>
          <a:ln/>
        </p:spPr>
        <p:txBody>
          <a:bodyPr wrap="square" lIns="0" tIns="0" rIns="0" bIns="0" rtlCol="0" anchor="t"/>
          <a:lstStyle/>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Consistent report format across all doctors and shifts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Dashboard analytics — patient volume, scan counts, approvals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Downloadable PDFs for patient records and referral letters</a:t>
            </a:r>
            <a:endParaRPr lang="en-US" sz="1100" dirty="0"/>
          </a:p>
          <a:p>
            <a:pPr marL="177800" indent="-177800">
              <a:lnSpc>
                <a:spcPct val="130000"/>
              </a:lnSpc>
              <a:spcAft>
                <a:spcPts val="800"/>
              </a:spcAft>
              <a:buSzPct val="100000"/>
              <a:buChar char="→"/>
            </a:pPr>
            <a:r>
              <a:rPr lang="en-US" sz="1100" dirty="0">
                <a:solidFill>
                  <a:srgbClr val="5B6B7C"/>
                </a:solidFill>
                <a:latin typeface="Calibri" pitchFamily="34" charset="0"/>
                <a:ea typeface="Calibri" pitchFamily="34" charset="-122"/>
                <a:cs typeface="Calibri" pitchFamily="34" charset="-120"/>
              </a:rPr>
              <a:t>Audit trail — every draft and approval timestamped</a:t>
            </a:r>
            <a:endParaRPr lang="en-US" sz="1100" dirty="0"/>
          </a:p>
        </p:txBody>
      </p:sp>
      <p:sp>
        <p:nvSpPr>
          <p:cNvPr id="25" name="Text 19"/>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8B98A6"/>
                </a:solidFill>
                <a:latin typeface="Calibri" pitchFamily="34" charset="0"/>
                <a:ea typeface="Calibri" pitchFamily="34" charset="-122"/>
                <a:cs typeface="Calibri" pitchFamily="34" charset="-120"/>
              </a:rPr>
              <a:t>AFIO</a:t>
            </a:r>
            <a:endParaRPr lang="en-US" sz="1000" dirty="0"/>
          </a:p>
        </p:txBody>
      </p:sp>
      <p:sp>
        <p:nvSpPr>
          <p:cNvPr id="26" name="Text 20"/>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8B98A6"/>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592928" y="914400"/>
            <a:ext cx="1005840" cy="1005840"/>
          </a:xfrm>
          <a:prstGeom prst="ellipse">
            <a:avLst/>
          </a:prstGeom>
          <a:ln w="13970">
            <a:solidFill>
              <a:srgbClr val="18A99B">
                <a:alpha val="10000"/>
              </a:srgbClr>
            </a:solidFill>
            <a:prstDash val="solid"/>
          </a:ln>
        </p:spPr>
        <p:txBody>
          <a:bodyPr/>
          <a:lstStyle/>
          <a:p>
            <a:endParaRPr lang="en-US"/>
          </a:p>
        </p:txBody>
      </p:sp>
      <p:sp>
        <p:nvSpPr>
          <p:cNvPr id="3" name="Shape 1"/>
          <p:cNvSpPr/>
          <p:nvPr/>
        </p:nvSpPr>
        <p:spPr>
          <a:xfrm>
            <a:off x="5090008" y="411480"/>
            <a:ext cx="2011680" cy="2011680"/>
          </a:xfrm>
          <a:prstGeom prst="ellipse">
            <a:avLst/>
          </a:prstGeom>
          <a:ln w="13970">
            <a:solidFill>
              <a:srgbClr val="18A99B">
                <a:alpha val="10000"/>
              </a:srgbClr>
            </a:solidFill>
            <a:prstDash val="solid"/>
          </a:ln>
        </p:spPr>
        <p:txBody>
          <a:bodyPr/>
          <a:lstStyle/>
          <a:p>
            <a:endParaRPr lang="en-US"/>
          </a:p>
        </p:txBody>
      </p:sp>
      <p:sp>
        <p:nvSpPr>
          <p:cNvPr id="4" name="Shape 2"/>
          <p:cNvSpPr/>
          <p:nvPr/>
        </p:nvSpPr>
        <p:spPr>
          <a:xfrm>
            <a:off x="4587088" y="-91440"/>
            <a:ext cx="3017520" cy="3017520"/>
          </a:xfrm>
          <a:prstGeom prst="ellipse">
            <a:avLst/>
          </a:prstGeom>
          <a:ln w="13970">
            <a:solidFill>
              <a:srgbClr val="18A99B">
                <a:alpha val="10000"/>
              </a:srgbClr>
            </a:solidFill>
            <a:prstDash val="solid"/>
          </a:ln>
        </p:spPr>
        <p:txBody>
          <a:bodyPr/>
          <a:lstStyle/>
          <a:p>
            <a:endParaRPr lang="en-US"/>
          </a:p>
        </p:txBody>
      </p:sp>
      <p:sp>
        <p:nvSpPr>
          <p:cNvPr id="5" name="Shape 3"/>
          <p:cNvSpPr/>
          <p:nvPr/>
        </p:nvSpPr>
        <p:spPr>
          <a:xfrm>
            <a:off x="4084168" y="-594360"/>
            <a:ext cx="4023360" cy="4023360"/>
          </a:xfrm>
          <a:prstGeom prst="ellipse">
            <a:avLst/>
          </a:prstGeom>
          <a:ln w="13970">
            <a:solidFill>
              <a:srgbClr val="18A99B">
                <a:alpha val="10000"/>
              </a:srgbClr>
            </a:solidFill>
            <a:prstDash val="solid"/>
          </a:ln>
        </p:spPr>
        <p:txBody>
          <a:bodyPr/>
          <a:lstStyle/>
          <a:p>
            <a:endParaRPr lang="en-US"/>
          </a:p>
        </p:txBody>
      </p:sp>
      <p:sp>
        <p:nvSpPr>
          <p:cNvPr id="6" name="Text 4"/>
          <p:cNvSpPr/>
          <p:nvPr/>
        </p:nvSpPr>
        <p:spPr>
          <a:xfrm>
            <a:off x="914400" y="594360"/>
            <a:ext cx="10362895" cy="1005840"/>
          </a:xfrm>
          <a:prstGeom prst="rect">
            <a:avLst/>
          </a:prstGeom>
          <a:noFill/>
          <a:ln/>
        </p:spPr>
        <p:txBody>
          <a:bodyPr wrap="square" lIns="0" tIns="0" rIns="0" bIns="0" rtlCol="0" anchor="t"/>
          <a:lstStyle/>
          <a:p>
            <a:pPr marL="0" indent="0" algn="ctr">
              <a:lnSpc>
                <a:spcPct val="115000"/>
              </a:lnSpc>
              <a:buNone/>
            </a:pPr>
            <a:r>
              <a:rPr lang="en-US" sz="2700" b="1" i="1" dirty="0">
                <a:solidFill>
                  <a:srgbClr val="FFFFFF"/>
                </a:solidFill>
                <a:latin typeface="Cambria" pitchFamily="34" charset="0"/>
                <a:ea typeface="Cambria" pitchFamily="34" charset="-122"/>
                <a:cs typeface="Cambria" pitchFamily="34" charset="-120"/>
              </a:rPr>
              <a:t>“AI should support the ophthalmologist, not replace them.”</a:t>
            </a:r>
            <a:endParaRPr lang="en-US" sz="2700" dirty="0"/>
          </a:p>
        </p:txBody>
      </p:sp>
      <p:sp>
        <p:nvSpPr>
          <p:cNvPr id="7" name="Text 5"/>
          <p:cNvSpPr/>
          <p:nvPr/>
        </p:nvSpPr>
        <p:spPr>
          <a:xfrm>
            <a:off x="1280160" y="1572768"/>
            <a:ext cx="9631375" cy="457200"/>
          </a:xfrm>
          <a:prstGeom prst="rect">
            <a:avLst/>
          </a:prstGeom>
          <a:noFill/>
          <a:ln/>
        </p:spPr>
        <p:txBody>
          <a:bodyPr wrap="square" lIns="0" tIns="0" rIns="0" bIns="0" rtlCol="0" anchor="ctr"/>
          <a:lstStyle/>
          <a:p>
            <a:pPr marL="0" indent="0" algn="ctr">
              <a:buNone/>
            </a:pPr>
            <a:r>
              <a:rPr lang="en-US" sz="1300" i="1" dirty="0">
                <a:solidFill>
                  <a:srgbClr val="9DB4CE"/>
                </a:solidFill>
                <a:latin typeface="Calibri" pitchFamily="34" charset="0"/>
                <a:ea typeface="Calibri" pitchFamily="34" charset="-122"/>
                <a:cs typeface="Calibri" pitchFamily="34" charset="-120"/>
              </a:rPr>
              <a:t>Reduce load. Improve consistency. Provide clearer reports. Give doctors more time for clinical judgment.</a:t>
            </a:r>
            <a:endParaRPr lang="en-US" sz="1300" dirty="0"/>
          </a:p>
        </p:txBody>
      </p:sp>
      <p:sp>
        <p:nvSpPr>
          <p:cNvPr id="8" name="Text 6"/>
          <p:cNvSpPr/>
          <p:nvPr/>
        </p:nvSpPr>
        <p:spPr>
          <a:xfrm>
            <a:off x="502920" y="2395728"/>
            <a:ext cx="11185855" cy="256032"/>
          </a:xfrm>
          <a:prstGeom prst="rect">
            <a:avLst/>
          </a:prstGeom>
          <a:noFill/>
          <a:ln/>
        </p:spPr>
        <p:txBody>
          <a:bodyPr wrap="square" lIns="0" tIns="0" rIns="0" bIns="0" rtlCol="0" anchor="ctr"/>
          <a:lstStyle/>
          <a:p>
            <a:pPr marL="0" indent="0" algn="ctr">
              <a:buNone/>
            </a:pPr>
            <a:r>
              <a:rPr lang="en-US" sz="1150" b="1" kern="0" spc="220" dirty="0">
                <a:solidFill>
                  <a:srgbClr val="18A99B"/>
                </a:solidFill>
                <a:latin typeface="Calibri" pitchFamily="34" charset="0"/>
                <a:ea typeface="Calibri" pitchFamily="34" charset="-122"/>
                <a:cs typeface="Calibri" pitchFamily="34" charset="-120"/>
              </a:rPr>
              <a:t>FUTURE ROADMAP</a:t>
            </a:r>
            <a:endParaRPr lang="en-US" sz="1150" dirty="0"/>
          </a:p>
        </p:txBody>
      </p:sp>
      <p:sp>
        <p:nvSpPr>
          <p:cNvPr id="9" name="Shape 7"/>
          <p:cNvSpPr/>
          <p:nvPr/>
        </p:nvSpPr>
        <p:spPr>
          <a:xfrm>
            <a:off x="502920" y="2788920"/>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10" name="Shape 8"/>
          <p:cNvSpPr/>
          <p:nvPr/>
        </p:nvSpPr>
        <p:spPr>
          <a:xfrm>
            <a:off x="704088" y="3104388"/>
            <a:ext cx="420624" cy="420624"/>
          </a:xfrm>
          <a:prstGeom prst="ellipse">
            <a:avLst/>
          </a:prstGeom>
          <a:solidFill>
            <a:srgbClr val="18A99B"/>
          </a:solidFill>
          <a:ln/>
        </p:spPr>
        <p:txBody>
          <a:bodyPr/>
          <a:lstStyle/>
          <a:p>
            <a:endParaRPr lang="en-US"/>
          </a:p>
        </p:txBody>
      </p:sp>
      <p:pic>
        <p:nvPicPr>
          <p:cNvPr id="11" name="Image 0" descr="/home/claude/work/assets/icons/chart-bar-white.png"/>
          <p:cNvPicPr>
            <a:picLocks noChangeAspect="1"/>
          </p:cNvPicPr>
          <p:nvPr/>
        </p:nvPicPr>
        <p:blipFill>
          <a:blip r:embed="rId3"/>
          <a:stretch>
            <a:fillRect/>
          </a:stretch>
        </p:blipFill>
        <p:spPr>
          <a:xfrm>
            <a:off x="809244" y="3209544"/>
            <a:ext cx="210312" cy="210312"/>
          </a:xfrm>
          <a:prstGeom prst="rect">
            <a:avLst/>
          </a:prstGeom>
        </p:spPr>
      </p:pic>
      <p:sp>
        <p:nvSpPr>
          <p:cNvPr id="12" name="Text 9"/>
          <p:cNvSpPr/>
          <p:nvPr/>
        </p:nvSpPr>
        <p:spPr>
          <a:xfrm>
            <a:off x="1234440" y="2788920"/>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Severity grading for DR</a:t>
            </a:r>
            <a:endParaRPr lang="en-US" sz="1200" dirty="0"/>
          </a:p>
        </p:txBody>
      </p:sp>
      <p:sp>
        <p:nvSpPr>
          <p:cNvPr id="13" name="Shape 10"/>
          <p:cNvSpPr/>
          <p:nvPr/>
        </p:nvSpPr>
        <p:spPr>
          <a:xfrm>
            <a:off x="4310786" y="2788920"/>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14" name="Shape 11"/>
          <p:cNvSpPr/>
          <p:nvPr/>
        </p:nvSpPr>
        <p:spPr>
          <a:xfrm>
            <a:off x="4511954" y="3104388"/>
            <a:ext cx="420624" cy="420624"/>
          </a:xfrm>
          <a:prstGeom prst="ellipse">
            <a:avLst/>
          </a:prstGeom>
          <a:solidFill>
            <a:srgbClr val="18A99B"/>
          </a:solidFill>
          <a:ln/>
        </p:spPr>
        <p:txBody>
          <a:bodyPr/>
          <a:lstStyle/>
          <a:p>
            <a:endParaRPr lang="en-US"/>
          </a:p>
        </p:txBody>
      </p:sp>
      <p:pic>
        <p:nvPicPr>
          <p:cNvPr id="15" name="Image 1" descr="/home/claude/work/assets/icons/git-branch-white.png"/>
          <p:cNvPicPr>
            <a:picLocks noChangeAspect="1"/>
          </p:cNvPicPr>
          <p:nvPr/>
        </p:nvPicPr>
        <p:blipFill>
          <a:blip r:embed="rId4"/>
          <a:stretch>
            <a:fillRect/>
          </a:stretch>
        </p:blipFill>
        <p:spPr>
          <a:xfrm>
            <a:off x="4617110" y="3209544"/>
            <a:ext cx="210312" cy="210312"/>
          </a:xfrm>
          <a:prstGeom prst="rect">
            <a:avLst/>
          </a:prstGeom>
        </p:spPr>
      </p:pic>
      <p:sp>
        <p:nvSpPr>
          <p:cNvPr id="16" name="Text 12"/>
          <p:cNvSpPr/>
          <p:nvPr/>
        </p:nvSpPr>
        <p:spPr>
          <a:xfrm>
            <a:off x="5042306" y="2788920"/>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Progression tracking over time</a:t>
            </a:r>
            <a:endParaRPr lang="en-US" sz="1200" dirty="0"/>
          </a:p>
        </p:txBody>
      </p:sp>
      <p:sp>
        <p:nvSpPr>
          <p:cNvPr id="17" name="Shape 13"/>
          <p:cNvSpPr/>
          <p:nvPr/>
        </p:nvSpPr>
        <p:spPr>
          <a:xfrm>
            <a:off x="8118653" y="2788920"/>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18" name="Shape 14"/>
          <p:cNvSpPr/>
          <p:nvPr/>
        </p:nvSpPr>
        <p:spPr>
          <a:xfrm>
            <a:off x="8319821" y="3104388"/>
            <a:ext cx="420624" cy="420624"/>
          </a:xfrm>
          <a:prstGeom prst="ellipse">
            <a:avLst/>
          </a:prstGeom>
          <a:solidFill>
            <a:srgbClr val="18A99B"/>
          </a:solidFill>
          <a:ln/>
        </p:spPr>
        <p:txBody>
          <a:bodyPr/>
          <a:lstStyle/>
          <a:p>
            <a:endParaRPr lang="en-US"/>
          </a:p>
        </p:txBody>
      </p:sp>
      <p:pic>
        <p:nvPicPr>
          <p:cNvPr id="19" name="Image 2" descr="/home/claude/work/assets/icons/file-text-white.png"/>
          <p:cNvPicPr>
            <a:picLocks noChangeAspect="1"/>
          </p:cNvPicPr>
          <p:nvPr/>
        </p:nvPicPr>
        <p:blipFill>
          <a:blip r:embed="rId5"/>
          <a:stretch>
            <a:fillRect/>
          </a:stretch>
        </p:blipFill>
        <p:spPr>
          <a:xfrm>
            <a:off x="8424977" y="3209544"/>
            <a:ext cx="210312" cy="210312"/>
          </a:xfrm>
          <a:prstGeom prst="rect">
            <a:avLst/>
          </a:prstGeom>
        </p:spPr>
      </p:pic>
      <p:sp>
        <p:nvSpPr>
          <p:cNvPr id="20" name="Text 15"/>
          <p:cNvSpPr/>
          <p:nvPr/>
        </p:nvSpPr>
        <p:spPr>
          <a:xfrm>
            <a:off x="8850173" y="2788920"/>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Bilingual report output</a:t>
            </a:r>
            <a:endParaRPr lang="en-US" sz="1200" dirty="0"/>
          </a:p>
        </p:txBody>
      </p:sp>
      <p:sp>
        <p:nvSpPr>
          <p:cNvPr id="21" name="Shape 16"/>
          <p:cNvSpPr/>
          <p:nvPr/>
        </p:nvSpPr>
        <p:spPr>
          <a:xfrm>
            <a:off x="502920" y="4078224"/>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22" name="Shape 17"/>
          <p:cNvSpPr/>
          <p:nvPr/>
        </p:nvSpPr>
        <p:spPr>
          <a:xfrm>
            <a:off x="704088" y="4393692"/>
            <a:ext cx="420624" cy="420624"/>
          </a:xfrm>
          <a:prstGeom prst="ellipse">
            <a:avLst/>
          </a:prstGeom>
          <a:solidFill>
            <a:srgbClr val="18A99B"/>
          </a:solidFill>
          <a:ln/>
        </p:spPr>
        <p:txBody>
          <a:bodyPr/>
          <a:lstStyle/>
          <a:p>
            <a:endParaRPr lang="en-US"/>
          </a:p>
        </p:txBody>
      </p:sp>
      <p:pic>
        <p:nvPicPr>
          <p:cNvPr id="23" name="Image 3" descr="/home/claude/work/assets/icons/zap-white.png"/>
          <p:cNvPicPr>
            <a:picLocks noChangeAspect="1"/>
          </p:cNvPicPr>
          <p:nvPr/>
        </p:nvPicPr>
        <p:blipFill>
          <a:blip r:embed="rId6"/>
          <a:stretch>
            <a:fillRect/>
          </a:stretch>
        </p:blipFill>
        <p:spPr>
          <a:xfrm>
            <a:off x="809244" y="4498848"/>
            <a:ext cx="210312" cy="210312"/>
          </a:xfrm>
          <a:prstGeom prst="rect">
            <a:avLst/>
          </a:prstGeom>
        </p:spPr>
      </p:pic>
      <p:sp>
        <p:nvSpPr>
          <p:cNvPr id="24" name="Text 18"/>
          <p:cNvSpPr/>
          <p:nvPr/>
        </p:nvSpPr>
        <p:spPr>
          <a:xfrm>
            <a:off x="1234440" y="4078224"/>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Voice-based report editing</a:t>
            </a:r>
            <a:endParaRPr lang="en-US" sz="1200" dirty="0"/>
          </a:p>
        </p:txBody>
      </p:sp>
      <p:sp>
        <p:nvSpPr>
          <p:cNvPr id="25" name="Shape 19"/>
          <p:cNvSpPr/>
          <p:nvPr/>
        </p:nvSpPr>
        <p:spPr>
          <a:xfrm>
            <a:off x="4310786" y="4078224"/>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26" name="Shape 20"/>
          <p:cNvSpPr/>
          <p:nvPr/>
        </p:nvSpPr>
        <p:spPr>
          <a:xfrm>
            <a:off x="4511954" y="4393692"/>
            <a:ext cx="420624" cy="420624"/>
          </a:xfrm>
          <a:prstGeom prst="ellipse">
            <a:avLst/>
          </a:prstGeom>
          <a:solidFill>
            <a:srgbClr val="18A99B"/>
          </a:solidFill>
          <a:ln/>
        </p:spPr>
        <p:txBody>
          <a:bodyPr/>
          <a:lstStyle/>
          <a:p>
            <a:endParaRPr lang="en-US"/>
          </a:p>
        </p:txBody>
      </p:sp>
      <p:pic>
        <p:nvPicPr>
          <p:cNvPr id="27" name="Image 4" descr="/home/claude/work/assets/icons/cloud-upload-white.png"/>
          <p:cNvPicPr>
            <a:picLocks noChangeAspect="1"/>
          </p:cNvPicPr>
          <p:nvPr/>
        </p:nvPicPr>
        <p:blipFill>
          <a:blip r:embed="rId7"/>
          <a:stretch>
            <a:fillRect/>
          </a:stretch>
        </p:blipFill>
        <p:spPr>
          <a:xfrm>
            <a:off x="4617110" y="4498848"/>
            <a:ext cx="210312" cy="210312"/>
          </a:xfrm>
          <a:prstGeom prst="rect">
            <a:avLst/>
          </a:prstGeom>
        </p:spPr>
      </p:pic>
      <p:sp>
        <p:nvSpPr>
          <p:cNvPr id="28" name="Text 21"/>
          <p:cNvSpPr/>
          <p:nvPr/>
        </p:nvSpPr>
        <p:spPr>
          <a:xfrm>
            <a:off x="5042306" y="4078224"/>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Batch upload for camps</a:t>
            </a:r>
            <a:endParaRPr lang="en-US" sz="1200" dirty="0"/>
          </a:p>
        </p:txBody>
      </p:sp>
      <p:sp>
        <p:nvSpPr>
          <p:cNvPr id="29" name="Shape 22"/>
          <p:cNvSpPr/>
          <p:nvPr/>
        </p:nvSpPr>
        <p:spPr>
          <a:xfrm>
            <a:off x="8118653" y="4078224"/>
            <a:ext cx="3570122" cy="1051560"/>
          </a:xfrm>
          <a:prstGeom prst="roundRect">
            <a:avLst>
              <a:gd name="adj" fmla="val 8696"/>
            </a:avLst>
          </a:prstGeom>
          <a:solidFill>
            <a:srgbClr val="17324C"/>
          </a:solidFill>
          <a:ln w="12700">
            <a:solidFill>
              <a:srgbClr val="2E4C6E"/>
            </a:solidFill>
            <a:prstDash val="solid"/>
          </a:ln>
        </p:spPr>
        <p:txBody>
          <a:bodyPr/>
          <a:lstStyle/>
          <a:p>
            <a:endParaRPr lang="en-US"/>
          </a:p>
        </p:txBody>
      </p:sp>
      <p:sp>
        <p:nvSpPr>
          <p:cNvPr id="30" name="Shape 23"/>
          <p:cNvSpPr/>
          <p:nvPr/>
        </p:nvSpPr>
        <p:spPr>
          <a:xfrm>
            <a:off x="8319821" y="4393692"/>
            <a:ext cx="420624" cy="420624"/>
          </a:xfrm>
          <a:prstGeom prst="ellipse">
            <a:avLst/>
          </a:prstGeom>
          <a:solidFill>
            <a:srgbClr val="18A99B"/>
          </a:solidFill>
          <a:ln/>
        </p:spPr>
        <p:txBody>
          <a:bodyPr/>
          <a:lstStyle/>
          <a:p>
            <a:endParaRPr lang="en-US"/>
          </a:p>
        </p:txBody>
      </p:sp>
      <p:pic>
        <p:nvPicPr>
          <p:cNvPr id="31" name="Image 5" descr="/home/claude/work/assets/icons/layers-white.png"/>
          <p:cNvPicPr>
            <a:picLocks noChangeAspect="1"/>
          </p:cNvPicPr>
          <p:nvPr/>
        </p:nvPicPr>
        <p:blipFill>
          <a:blip r:embed="rId8"/>
          <a:stretch>
            <a:fillRect/>
          </a:stretch>
        </p:blipFill>
        <p:spPr>
          <a:xfrm>
            <a:off x="8424977" y="4498848"/>
            <a:ext cx="210312" cy="210312"/>
          </a:xfrm>
          <a:prstGeom prst="rect">
            <a:avLst/>
          </a:prstGeom>
        </p:spPr>
      </p:pic>
      <p:sp>
        <p:nvSpPr>
          <p:cNvPr id="32" name="Text 24"/>
          <p:cNvSpPr/>
          <p:nvPr/>
        </p:nvSpPr>
        <p:spPr>
          <a:xfrm>
            <a:off x="8850173" y="4078224"/>
            <a:ext cx="2655722" cy="105156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HIS / EMR integration</a:t>
            </a:r>
            <a:endParaRPr lang="en-US" sz="1200" dirty="0"/>
          </a:p>
        </p:txBody>
      </p:sp>
      <p:sp>
        <p:nvSpPr>
          <p:cNvPr id="33" name="Text 25"/>
          <p:cNvSpPr/>
          <p:nvPr/>
        </p:nvSpPr>
        <p:spPr>
          <a:xfrm>
            <a:off x="502920" y="5449824"/>
            <a:ext cx="11185855" cy="274320"/>
          </a:xfrm>
          <a:prstGeom prst="rect">
            <a:avLst/>
          </a:prstGeom>
          <a:noFill/>
          <a:ln/>
        </p:spPr>
        <p:txBody>
          <a:bodyPr wrap="square" lIns="0" tIns="0" rIns="0" bIns="0" rtlCol="0" anchor="ctr"/>
          <a:lstStyle/>
          <a:p>
            <a:pPr marL="0" indent="0" algn="ctr">
              <a:buNone/>
            </a:pPr>
            <a:r>
              <a:rPr lang="en-US" sz="1050" b="1" kern="0" spc="80" dirty="0">
                <a:solidFill>
                  <a:srgbClr val="6E88A6"/>
                </a:solidFill>
                <a:latin typeface="Calibri" pitchFamily="34" charset="0"/>
                <a:ea typeface="Calibri" pitchFamily="34" charset="-122"/>
                <a:cs typeface="Calibri" pitchFamily="34" charset="-120"/>
              </a:rPr>
              <a:t>MILITARY COLLEGE OF SIGNALS  ·  NUST   |   Final Year Project — AI-Assisted Ophthalmic Clinical Workflow</a:t>
            </a:r>
            <a:endParaRPr lang="en-US" sz="1050" dirty="0"/>
          </a:p>
        </p:txBody>
      </p:sp>
      <p:sp>
        <p:nvSpPr>
          <p:cNvPr id="34" name="Text 26"/>
          <p:cNvSpPr/>
          <p:nvPr/>
        </p:nvSpPr>
        <p:spPr>
          <a:xfrm>
            <a:off x="10820095" y="6473952"/>
            <a:ext cx="640080" cy="237744"/>
          </a:xfrm>
          <a:prstGeom prst="rect">
            <a:avLst/>
          </a:prstGeom>
          <a:noFill/>
          <a:ln/>
        </p:spPr>
        <p:txBody>
          <a:bodyPr wrap="square" lIns="0" tIns="0" rIns="0" bIns="0" rtlCol="0" anchor="ctr"/>
          <a:lstStyle/>
          <a:p>
            <a:pPr marL="0" indent="0" algn="r">
              <a:buNone/>
            </a:pPr>
            <a:r>
              <a:rPr lang="en-US" sz="1000" b="1" kern="0" spc="150" dirty="0">
                <a:solidFill>
                  <a:srgbClr val="6E88A6"/>
                </a:solidFill>
                <a:latin typeface="Calibri" pitchFamily="34" charset="0"/>
                <a:ea typeface="Calibri" pitchFamily="34" charset="-122"/>
                <a:cs typeface="Calibri" pitchFamily="34" charset="-120"/>
              </a:rPr>
              <a:t>AFIO</a:t>
            </a:r>
            <a:endParaRPr lang="en-US" sz="1000" dirty="0"/>
          </a:p>
        </p:txBody>
      </p:sp>
      <p:sp>
        <p:nvSpPr>
          <p:cNvPr id="35" name="Text 27"/>
          <p:cNvSpPr/>
          <p:nvPr/>
        </p:nvSpPr>
        <p:spPr>
          <a:xfrm>
            <a:off x="11505895" y="6473952"/>
            <a:ext cx="411480" cy="237744"/>
          </a:xfrm>
          <a:prstGeom prst="rect">
            <a:avLst/>
          </a:prstGeom>
          <a:noFill/>
          <a:ln/>
        </p:spPr>
        <p:txBody>
          <a:bodyPr wrap="square" lIns="0" tIns="0" rIns="0" bIns="0" rtlCol="0" anchor="ctr"/>
          <a:lstStyle/>
          <a:p>
            <a:pPr marL="0" indent="0" algn="r">
              <a:buNone/>
            </a:pPr>
            <a:r>
              <a:rPr lang="en-US" sz="1000" dirty="0">
                <a:solidFill>
                  <a:srgbClr val="4A6785"/>
                </a:solidFill>
                <a:latin typeface="Calibri" pitchFamily="34" charset="0"/>
                <a:ea typeface="Calibri" pitchFamily="34" charset="-122"/>
                <a:cs typeface="Calibri" pitchFamily="34" charset="-120"/>
              </a:rPr>
              <a:t>12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2783</Words>
  <Application>Microsoft Office PowerPoint</Application>
  <PresentationFormat>Widescreen</PresentationFormat>
  <Paragraphs>452</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Arsal Saeed</cp:lastModifiedBy>
  <cp:revision>104</cp:revision>
  <dcterms:created xsi:type="dcterms:W3CDTF">2026-07-22T22:33:20Z</dcterms:created>
  <dcterms:modified xsi:type="dcterms:W3CDTF">2026-07-23T18:36:52Z</dcterms:modified>
</cp:coreProperties>
</file>