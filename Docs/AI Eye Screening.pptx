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0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830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Eye Screening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diabetic retinopathy, hypertensive retinopathy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glaucoma from a single eye photo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Mashal Areej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Arsal Saeed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8778240" y="1874520"/>
            <a:ext cx="2468880" cy="2468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4688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retinopathy, hypertensive retinopathy and glaucoma all damage the eye silently, with no early symptoms.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specialists are limited, especially in smaller clinics and remote areas.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are only diagnosed once their vision is already damaged, and that damage usually cannot be reversed.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406640" y="173736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0664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million+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0" y="33375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Pakistan live with diabetes, the third highest total in the world, putting all of them at risk of retinopathy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conditions, one photo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53796" y="16916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888236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089404"/>
            <a:ext cx="667512" cy="6675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676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73836" y="3886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vessel damage in the retina, caused by long term high blood sugar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402836" y="16916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637276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089404"/>
            <a:ext cx="667512" cy="667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85716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22876" y="3886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blood vessel damage, caused by high blood pressure instead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151876" y="169164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386316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89404"/>
            <a:ext cx="667512" cy="6675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4756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471916" y="3886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to the optic nerve, usually caused by high pressure inside the eye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checked from one simple fundus photo, a picture of the inside back wall of the eye.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64008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969" y="788213"/>
            <a:ext cx="801014" cy="801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pain. No warning. Until it is too late.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011680" y="31089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means catching the damage before the patient ever notices anything wrong, while treatment can still work and vision can still be saved.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651760" y="4526280"/>
            <a:ext cx="6858000" cy="1280160"/>
          </a:xfrm>
          <a:prstGeom prst="roundRect">
            <a:avLst>
              <a:gd name="adj" fmla="val 8571"/>
            </a:avLst>
          </a:prstGeom>
          <a:solidFill>
            <a:srgbClr val="D6F0E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017520" y="46634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eye check ups need to happen on a regular schedule, the same way blood pressure and weight already are, even when the patient feels completely fine.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system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76656" y="18288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99616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16" y="2259940"/>
            <a:ext cx="600761" cy="6007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photo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05256" y="3749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takes the usual fundus photo and uploads it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163824" y="3337560"/>
            <a:ext cx="283464" cy="365760"/>
          </a:xfrm>
          <a:prstGeom prst="rightArrow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65576" y="18288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D6F0E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88536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636" y="2259940"/>
            <a:ext cx="600761" cy="6007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273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analyzes it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94176" y="3749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is cleaned up, then studied by the trained AI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52744" y="3337560"/>
            <a:ext cx="283464" cy="365760"/>
          </a:xfrm>
          <a:prstGeom prst="rightArrow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254496" y="18288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77456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556" y="2259940"/>
            <a:ext cx="600761" cy="6007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9165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Report is built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83096" y="3749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 and a heatmap are generated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741664" y="3337560"/>
            <a:ext cx="283464" cy="365760"/>
          </a:xfrm>
          <a:prstGeom prst="rightArrow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9043416" y="182880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D6F0E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9866376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7476" y="2259940"/>
            <a:ext cx="600761" cy="600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8057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Doctor confirms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272016" y="3749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 the AI result and decides next steps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cost close to zero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802740"/>
            <a:ext cx="600761" cy="600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datasets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920240" y="21031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eye photo collections that researchers have already gathered and shared, so we do not pay to collect new data.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60" y="3220060"/>
            <a:ext cx="600761" cy="6007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2024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AI models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920240" y="352044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teach an already trained AI the eye specific part instead of starting from nothing, cutting training time and cost dramatically.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45262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0" y="4637380"/>
            <a:ext cx="600761" cy="6007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92024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hosting, no special hardware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920240" y="493776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AI is shrunk to run on an ordinary computer and hosted for free, so a clinic only needs a browser.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 well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85216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9536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7" y="2098091"/>
            <a:ext cx="467258" cy="4672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82496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equipment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9536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fundus photo clinics already take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34256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608576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987" y="2098091"/>
            <a:ext cx="467258" cy="4672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31536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608576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not days, waiting on a specialist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1737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357616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027" y="2098091"/>
            <a:ext cx="467258" cy="4672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80576" y="19933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reasoning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57616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 plus a heatmap of the affected area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85216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59536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947" y="4338371"/>
            <a:ext cx="467258" cy="4672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82496" y="4233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guidance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59536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how urgently a specialist should be seen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334256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608576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4987" y="4338371"/>
            <a:ext cx="467258" cy="46725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31536" y="4233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anywhere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608576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clinics that never had an eye specialist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083296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8357616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027" y="4338371"/>
            <a:ext cx="467258" cy="46725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80576" y="4233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stays in charge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357616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the final medical call stays human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strategy: build it in stages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51560" y="20574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15" y="2156155"/>
            <a:ext cx="534010" cy="5340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1, now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51560" y="288036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and glaucoma, since strong public datasets already exist for both.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897880" y="3017520"/>
            <a:ext cx="640080" cy="502920"/>
          </a:xfrm>
          <a:prstGeom prst="rightArrow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675120" y="178308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D6F0E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99516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915" y="2156155"/>
            <a:ext cx="534010" cy="5340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95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2, later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995160" y="288036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retinopathy added once stage 1 is solid, using the smaller dataset now available for it.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we </a:t>
            </a:r>
            <a:r>
              <a:rPr lang="en-US" sz="3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considering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70916" y="169164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10" y="1759534"/>
            <a:ext cx="367132" cy="3671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6716" y="16184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 2019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56716" y="203911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photos, graded stage 0 to 4. Our main training set for that condition.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23076" y="169164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970" y="1759534"/>
            <a:ext cx="367132" cy="3671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8876" y="16184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EyePACS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008876" y="203911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 larger diabetic retinopathy collection, used to balance out the rare, severe cases.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0916" y="310896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10" y="3176854"/>
            <a:ext cx="367132" cy="3671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56716" y="3035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IDRiD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156716" y="345643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with the exact damaged spots marked by hand, used to check the AI is looking in the right place.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23076" y="310896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970" y="3176854"/>
            <a:ext cx="367132" cy="3671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08876" y="30358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Glaucoma fundus set (ORIGA, REFUGE, G1020)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008876" y="345643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with the optic nerve outline marked, used to train the glaucoma branch.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70916" y="452628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10" y="4594174"/>
            <a:ext cx="367132" cy="3671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56716" y="4453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REFUGE2020 classification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156716" y="48737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glaucoma labelled photos, used to make that branch more reliable.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323076" y="4526280"/>
            <a:ext cx="502920" cy="502920"/>
          </a:xfrm>
          <a:prstGeom prst="ellipse">
            <a:avLst/>
          </a:prstGeom>
          <a:solidFill>
            <a:srgbClr val="E7F6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970" y="4594174"/>
            <a:ext cx="367132" cy="3671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08876" y="4453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retinopathy fundus set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7008876" y="48737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collection kept ready for stage 2 of the project.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 we picked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90956" y="1691640"/>
            <a:ext cx="10607040" cy="1078992"/>
          </a:xfrm>
          <a:prstGeom prst="roundRect">
            <a:avLst>
              <a:gd name="adj" fmla="val 8475"/>
            </a:avLst>
          </a:prstGeom>
          <a:solidFill>
            <a:srgbClr val="E7F6F4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55548" y="1856232"/>
            <a:ext cx="749808" cy="7498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72" y="1957456"/>
            <a:ext cx="547360" cy="54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33956" y="176479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photo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97196" y="1764792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crops blank borders and balances lighting before the AI sees the photo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0956" y="2898648"/>
            <a:ext cx="10607040" cy="1078992"/>
          </a:xfrm>
          <a:prstGeom prst="roundRect">
            <a:avLst>
              <a:gd name="adj" fmla="val 8475"/>
            </a:avLst>
          </a:prstGeom>
          <a:solidFill>
            <a:srgbClr val="D6F0ED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55548" y="3063240"/>
            <a:ext cx="749808" cy="7498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72" y="3164464"/>
            <a:ext cx="547360" cy="547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33956" y="297180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AI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97196" y="2971800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with a pretrained EfficientNet model, plus the segmentation models toolkit for tracing the optic nerve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0956" y="4105656"/>
            <a:ext cx="10607040" cy="1078992"/>
          </a:xfrm>
          <a:prstGeom prst="roundRect">
            <a:avLst>
              <a:gd name="adj" fmla="val 8475"/>
            </a:avLst>
          </a:prstGeom>
          <a:solidFill>
            <a:srgbClr val="E7F6F4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55548" y="4270248"/>
            <a:ext cx="749808" cy="7498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772" y="4371472"/>
            <a:ext cx="547360" cy="547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33956" y="4178808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results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97196" y="4178808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turns the trained AI into a website a clinic can open in any browser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90956" y="5312664"/>
            <a:ext cx="10607040" cy="1078992"/>
          </a:xfrm>
          <a:prstGeom prst="roundRect">
            <a:avLst>
              <a:gd name="adj" fmla="val 8475"/>
            </a:avLst>
          </a:prstGeom>
          <a:solidFill>
            <a:srgbClr val="D6F0ED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55548" y="5477256"/>
            <a:ext cx="749808" cy="7498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72" y="5578480"/>
            <a:ext cx="547360" cy="5473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33956" y="538581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fast and cheap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997196" y="5385816"/>
            <a:ext cx="6217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shrinks the AI so it runs on an ordinary computer, no graphics card needed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589331"/>
            <a:ext cx="467258" cy="467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carefully and planning ahead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7F6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1" y="2006651"/>
            <a:ext cx="467258" cy="4672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skewed results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6012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photo collections have far more healthy eyes than damaged ones, so we make the AI pay extra attention to the rare, serious cases.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slightly changed copies of those rare photos so there are more to learn from.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judge success by how many truly sick cases are caught, not only by overall correctness.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D6F0ED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51" y="2006651"/>
            <a:ext cx="467258" cy="4672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we handle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537960" y="26974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or badly taken photo: ask for a retake instead of guessing.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severity: show both possible stages, not one forced answer.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condition present: report all of them, not just the strongest.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eye conditions or cameras: mark the result as uncertain rather than risk a wrong label.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young patients: flag for a specialist rather than rely on a model trained mostly on adults.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0058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82880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fast to use, and built to genuinely help any clinic catch these conditions early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Microsoft Office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Eye Screening System</dc:title>
  <dc:subject>PptxGenJS Presentation</dc:subject>
  <dc:creator>Arsal and Mashal</dc:creator>
  <cp:lastModifiedBy>Arsal Saeed</cp:lastModifiedBy>
  <cp:revision>3</cp:revision>
  <dcterms:created xsi:type="dcterms:W3CDTF">2026-06-29T19:35:14Z</dcterms:created>
  <dcterms:modified xsi:type="dcterms:W3CDTF">2026-06-29T19:52:01Z</dcterms:modified>
</cp:coreProperties>
</file>